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08" r:id="rId3"/>
    <p:sldId id="283" r:id="rId4"/>
    <p:sldId id="285" r:id="rId5"/>
    <p:sldId id="287" r:id="rId6"/>
    <p:sldId id="260" r:id="rId7"/>
    <p:sldId id="286" r:id="rId8"/>
    <p:sldId id="288" r:id="rId9"/>
    <p:sldId id="289" r:id="rId10"/>
    <p:sldId id="290" r:id="rId11"/>
    <p:sldId id="291" r:id="rId12"/>
    <p:sldId id="292" r:id="rId13"/>
    <p:sldId id="294" r:id="rId14"/>
    <p:sldId id="295" r:id="rId15"/>
    <p:sldId id="268" r:id="rId16"/>
    <p:sldId id="296" r:id="rId17"/>
    <p:sldId id="297" r:id="rId18"/>
    <p:sldId id="298" r:id="rId19"/>
    <p:sldId id="299" r:id="rId20"/>
    <p:sldId id="300" r:id="rId21"/>
    <p:sldId id="301" r:id="rId22"/>
    <p:sldId id="275" r:id="rId23"/>
    <p:sldId id="276" r:id="rId24"/>
    <p:sldId id="304" r:id="rId25"/>
    <p:sldId id="305" r:id="rId26"/>
    <p:sldId id="306" r:id="rId27"/>
    <p:sldId id="307" r:id="rId28"/>
    <p:sldId id="303" r:id="rId29"/>
  </p:sldIdLst>
  <p:sldSz cx="9144000" cy="6858000" type="screen4x3"/>
  <p:notesSz cx="6858000" cy="9144000"/>
  <p:custDataLst>
    <p:tags r:id="rId3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6C00"/>
    <a:srgbClr val="173851"/>
    <a:srgbClr val="8BBC00"/>
    <a:srgbClr val="FFECAF"/>
    <a:srgbClr val="301F67"/>
    <a:srgbClr val="4A6400"/>
    <a:srgbClr val="16524F"/>
    <a:srgbClr val="1E4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 autoAdjust="0"/>
  </p:normalViewPr>
  <p:slideViewPr>
    <p:cSldViewPr>
      <p:cViewPr varScale="1">
        <p:scale>
          <a:sx n="75" d="100"/>
          <a:sy n="75" d="100"/>
        </p:scale>
        <p:origin x="1404" y="2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96832-282D-4A52-9021-3D432DA032E9}" type="datetimeFigureOut">
              <a:rPr lang="en-US" smtClean="0"/>
              <a:t>19/02/25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F9079-A2B0-4632-AD4E-3055FCA5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9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75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</p:spTree>
    <p:extLst>
      <p:ext uri="{BB962C8B-B14F-4D97-AF65-F5344CB8AC3E}">
        <p14:creationId xmlns:p14="http://schemas.microsoft.com/office/powerpoint/2010/main" val="3428964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35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18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6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Rectangle 24"/>
          <p:cNvSpPr>
            <a:spLocks noChangeArrowheads="1"/>
          </p:cNvSpPr>
          <p:nvPr/>
        </p:nvSpPr>
        <p:spPr bwMode="auto">
          <a:xfrm>
            <a:off x="0" y="3527425"/>
            <a:ext cx="9144000" cy="33575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86525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86525"/>
            <a:ext cx="2895600" cy="168275"/>
          </a:xfrm>
        </p:spPr>
        <p:txBody>
          <a:bodyPr/>
          <a:lstStyle>
            <a:lvl1pPr algn="ctr">
              <a:defRPr sz="1200" b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86525"/>
            <a:ext cx="2133600" cy="168275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C23A9963-A348-489E-A078-8F89107914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3086100"/>
            <a:ext cx="9144000" cy="592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457200"/>
            <a:ext cx="7772400" cy="1905000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4343400" y="3178175"/>
            <a:ext cx="4572000" cy="3810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Nha Trang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latin typeface="+mj-lt"/>
              </a:defRPr>
            </a:lvl1pPr>
          </a:lstStyle>
          <a:p>
            <a:fld id="{ADD77C13-390F-400C-BEC5-92A0E1FA74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7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A99138-99A1-4A5E-B84D-DF9D4476A9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5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414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414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288167-4551-49DA-989E-F9BDA476C3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4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24308F-8145-4505-9178-3BF1FF6120F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7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23BD9F-54EB-44E0-A0D7-23A22476067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3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A01550-BF9C-41F9-8340-2C48129102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6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66DF10-34F5-49D8-9D01-2741B9C7A73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3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CAC9A1-F280-4A33-9AE2-BBB6E299925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1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758ADD-F6D5-4447-B201-793B45BC6D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51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6337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6337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60DC57-09D7-4BBF-8C97-5DEFB1E528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21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41425"/>
            <a:ext cx="8229600" cy="5248275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24600" y="6564313"/>
            <a:ext cx="2362200" cy="244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24200" y="6553200"/>
            <a:ext cx="2133600" cy="234950"/>
          </a:xfrm>
        </p:spPr>
        <p:txBody>
          <a:bodyPr/>
          <a:lstStyle>
            <a:lvl1pPr>
              <a:defRPr/>
            </a:lvl1pPr>
          </a:lstStyle>
          <a:p>
            <a:fld id="{DB9E937A-3ADE-49E0-A08F-FE8406E577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91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241425"/>
            <a:ext cx="8229600" cy="5248275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24600" y="6564313"/>
            <a:ext cx="2362200" cy="244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24200" y="6553200"/>
            <a:ext cx="2133600" cy="234950"/>
          </a:xfrm>
        </p:spPr>
        <p:txBody>
          <a:bodyPr/>
          <a:lstStyle>
            <a:lvl1pPr>
              <a:defRPr/>
            </a:lvl1pPr>
          </a:lstStyle>
          <a:p>
            <a:fld id="{3C5F29E0-B3B3-4234-B135-EABB7CC303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gray">
          <a:xfrm>
            <a:off x="0" y="872332"/>
            <a:ext cx="9144000" cy="15636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14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324600" y="6564313"/>
            <a:ext cx="2362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+mn-lt"/>
              </a:defRPr>
            </a:lvl1pPr>
          </a:lstStyle>
          <a:p>
            <a:r>
              <a:rPr lang="en-US"/>
              <a:t>Nha Trang University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fld id="{1A744CEE-9186-4AB4-8C33-90025AE8CD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381000" y="1524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i="0" u="none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 b="0" i="0" u="none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4"/>
          <p:cNvSpPr>
            <a:spLocks noGrp="1" noChangeArrowheads="1"/>
          </p:cNvSpPr>
          <p:nvPr>
            <p:ph type="ctrTitle"/>
          </p:nvPr>
        </p:nvSpPr>
        <p:spPr>
          <a:xfrm>
            <a:off x="0" y="762000"/>
            <a:ext cx="9144000" cy="21336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pPr>
              <a:lnSpc>
                <a:spcPct val="120000"/>
              </a:lnSpc>
              <a:spcBef>
                <a:spcPts val="2400"/>
              </a:spcBef>
            </a:pPr>
            <a:r>
              <a:rPr lang="en-US" sz="6000">
                <a:latin typeface="Chelthm" pitchFamily="18" charset="0"/>
                <a:cs typeface="Chelthm" pitchFamily="18" charset="0"/>
              </a:rPr>
              <a:t>MÃ HÓA ĐỐI XỨNG</a:t>
            </a:r>
            <a:br>
              <a:rPr lang="en-US" sz="6000">
                <a:latin typeface="Chelthm" pitchFamily="18" charset="0"/>
                <a:cs typeface="Chelthm" pitchFamily="18" charset="0"/>
              </a:rPr>
            </a:br>
            <a:r>
              <a:rPr lang="en-US" sz="6000">
                <a:latin typeface="Chelthm" pitchFamily="18" charset="0"/>
                <a:cs typeface="Chelthm" pitchFamily="18" charset="0"/>
              </a:rPr>
              <a:t>CỔ ĐIỂN</a:t>
            </a:r>
            <a:endParaRPr lang="en-US" sz="6000" b="1">
              <a:latin typeface="Chelthm" pitchFamily="18" charset="0"/>
              <a:cs typeface="Chelthm" pitchFamily="18" charset="0"/>
            </a:endParaRPr>
          </a:p>
        </p:txBody>
      </p:sp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762000" y="3088943"/>
            <a:ext cx="7696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200" b="1">
                <a:solidFill>
                  <a:schemeClr val="bg1"/>
                </a:solidFill>
                <a:latin typeface="Arial-Rounded" pitchFamily="34" charset="0"/>
                <a:cs typeface="Arial-Rounded" pitchFamily="34" charset="0"/>
              </a:rPr>
              <a:t>Chủ  Đề  2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023" y="4419600"/>
            <a:ext cx="5042153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2876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924800" cy="762000"/>
          </a:xfrm>
        </p:spPr>
        <p:txBody>
          <a:bodyPr/>
          <a:lstStyle/>
          <a:p>
            <a:pPr eaLnBrk="1" hangingPunct="1"/>
            <a:r>
              <a:rPr lang="vi-VN" sz="4000" b="1">
                <a:latin typeface="Fujiyama" pitchFamily="18" charset="0"/>
                <a:cs typeface="Fujiyama" pitchFamily="18" charset="0"/>
              </a:rPr>
              <a:t>N</a:t>
            </a:r>
            <a:r>
              <a:rPr lang="en-US" sz="4000" b="1">
                <a:latin typeface="Fujiyama" pitchFamily="18" charset="0"/>
                <a:cs typeface="Fujiyama" pitchFamily="18" charset="0"/>
              </a:rPr>
              <a:t>ội Dung Chương 2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9C5108-19EC-48D7-A72E-379FC8DA35E5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3076" name="Rectangle 3"/>
          <p:cNvSpPr txBox="1">
            <a:spLocks noChangeArrowheads="1"/>
          </p:cNvSpPr>
          <p:nvPr/>
        </p:nvSpPr>
        <p:spPr bwMode="auto">
          <a:xfrm>
            <a:off x="685800" y="1752600"/>
            <a:ext cx="78486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742950" indent="-7429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Calibri" pitchFamily="34" charset="0"/>
              <a:buAutoNum type="romanUcPeriod"/>
            </a:pPr>
            <a:r>
              <a:rPr lang="en-US" sz="3200">
                <a:latin typeface="Tahoma" pitchFamily="34" charset="0"/>
                <a:cs typeface="Tahoma" pitchFamily="34" charset="0"/>
              </a:rPr>
              <a:t>Mã hóa Ceasar</a:t>
            </a:r>
            <a:endParaRPr lang="en-US" sz="3200"/>
          </a:p>
          <a:p>
            <a:pPr eaLnBrk="1" hangingPunct="1">
              <a:lnSpc>
                <a:spcPct val="130000"/>
              </a:lnSpc>
              <a:buFont typeface="Calibri" pitchFamily="34" charset="0"/>
              <a:buAutoNum type="romanUcPeriod"/>
            </a:pPr>
            <a:r>
              <a:rPr lang="en-US" sz="3200">
                <a:latin typeface="Tahoma" pitchFamily="34" charset="0"/>
                <a:cs typeface="Tahoma" pitchFamily="34" charset="0"/>
              </a:rPr>
              <a:t>Mô hình mã hóa đối xứng</a:t>
            </a:r>
            <a:endParaRPr lang="en-US" sz="3200"/>
          </a:p>
          <a:p>
            <a:pPr eaLnBrk="1" hangingPunct="1">
              <a:lnSpc>
                <a:spcPct val="130000"/>
              </a:lnSpc>
              <a:buFont typeface="Calibri" pitchFamily="34" charset="0"/>
              <a:buAutoNum type="romanUcPeriod"/>
            </a:pPr>
            <a:r>
              <a:rPr lang="en-US" sz="3200">
                <a:latin typeface="Tahoma" pitchFamily="34" charset="0"/>
                <a:cs typeface="Tahoma" pitchFamily="34" charset="0"/>
              </a:rPr>
              <a:t>Mã hóa thay thế đơn bảng và phá mã </a:t>
            </a:r>
            <a:endParaRPr lang="en-US" sz="32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  <a:buFont typeface="Calibri" pitchFamily="34" charset="0"/>
              <a:buAutoNum type="romanUcPeriod"/>
            </a:pPr>
            <a:r>
              <a:rPr lang="en-US" sz="3200">
                <a:latin typeface="Tahoma" pitchFamily="34" charset="0"/>
                <a:cs typeface="Tahoma" pitchFamily="34" charset="0"/>
              </a:rPr>
              <a:t>Mã hóa thay thế đa bảng</a:t>
            </a:r>
            <a:endParaRPr lang="en-US" sz="3200">
              <a:latin typeface="Tahoma" pitchFamily="34" charset="0"/>
              <a:cs typeface="Arial-Rounded" pitchFamily="34" charset="0"/>
            </a:endParaRPr>
          </a:p>
          <a:p>
            <a:pPr eaLnBrk="1" hangingPunct="1">
              <a:lnSpc>
                <a:spcPct val="130000"/>
              </a:lnSpc>
              <a:buFont typeface="Calibri" pitchFamily="34" charset="0"/>
              <a:buAutoNum type="romanUcPeriod"/>
            </a:pPr>
            <a:r>
              <a:rPr lang="en-US" sz="3200">
                <a:latin typeface="Tahoma" pitchFamily="34" charset="0"/>
                <a:cs typeface="Arial-Rounded" pitchFamily="34" charset="0"/>
              </a:rPr>
              <a:t>Mã hoán vị</a:t>
            </a:r>
          </a:p>
          <a:p>
            <a:pPr eaLnBrk="1" hangingPunct="1">
              <a:lnSpc>
                <a:spcPct val="130000"/>
              </a:lnSpc>
              <a:buFont typeface="Calibri" pitchFamily="34" charset="0"/>
              <a:buAutoNum type="romanUcPeriod"/>
            </a:pPr>
            <a:r>
              <a:rPr lang="en-US" sz="3200">
                <a:latin typeface="Tahoma" pitchFamily="34" charset="0"/>
                <a:cs typeface="Arial-Rounded" pitchFamily="34" charset="0"/>
              </a:rPr>
              <a:t>Các trường hợp phá mã</a:t>
            </a:r>
          </a:p>
        </p:txBody>
      </p:sp>
    </p:spTree>
    <p:extLst>
      <p:ext uri="{BB962C8B-B14F-4D97-AF65-F5344CB8AC3E}">
        <p14:creationId xmlns:p14="http://schemas.microsoft.com/office/powerpoint/2010/main" val="4107483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I. Mã hóa Ceasar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229600" cy="5248275"/>
          </a:xfrm>
        </p:spPr>
        <p:txBody>
          <a:bodyPr/>
          <a:lstStyle/>
          <a:p>
            <a:pPr lvl="1"/>
            <a:r>
              <a:rPr lang="en-US"/>
              <a:t>Julius Ceasar: năm 100 trước Công nguyên</a:t>
            </a:r>
          </a:p>
          <a:p>
            <a:pPr lvl="1"/>
            <a:r>
              <a:rPr lang="en-US"/>
              <a:t>Lãnh tụ của đế chế La Mã.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48130" name="Picture 2" descr="Tượng của J&amp;umacr;lius Caesar ở Bảo tàng Louvre (Paris, Pháp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813"/>
          <a:stretch/>
        </p:blipFill>
        <p:spPr bwMode="auto">
          <a:xfrm>
            <a:off x="2209800" y="2590800"/>
            <a:ext cx="4191000" cy="3719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521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I. Mã hóa Ceasar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800" y="1447800"/>
            <a:ext cx="8001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 i="1" u="sng">
                <a:latin typeface="Tahoma" pitchFamily="34" charset="0"/>
                <a:ea typeface="Arial-Rounded" pitchFamily="34" charset="0"/>
                <a:cs typeface="Tahoma" pitchFamily="34" charset="0"/>
              </a:rPr>
              <a:t>Nguyên tắc</a:t>
            </a: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: thay thế mỗi chữ trong bản tin bằng chữ đứng sau nó </a:t>
            </a:r>
            <a:r>
              <a:rPr lang="en-US" sz="2800" i="1">
                <a:latin typeface="Cambria" pitchFamily="18" charset="0"/>
                <a:ea typeface="Arial-Rounded" pitchFamily="34" charset="0"/>
                <a:cs typeface="Tahoma" pitchFamily="34" charset="0"/>
              </a:rPr>
              <a:t>k</a:t>
            </a: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 vị trí trong bảng chữ cái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 i="1" u="sng">
                <a:latin typeface="Tahoma" pitchFamily="34" charset="0"/>
                <a:ea typeface="Arial-Rounded" pitchFamily="34" charset="0"/>
                <a:cs typeface="Tahoma" pitchFamily="34" charset="0"/>
              </a:rPr>
              <a:t>Ví dụ </a:t>
            </a:r>
            <a:r>
              <a:rPr lang="en-US" sz="2800" i="1" u="sng">
                <a:latin typeface="Cambria" pitchFamily="18" charset="0"/>
                <a:ea typeface="Arial-Rounded" pitchFamily="34" charset="0"/>
                <a:cs typeface="Tahoma" pitchFamily="34" charset="0"/>
              </a:rPr>
              <a:t>k</a:t>
            </a:r>
            <a:r>
              <a:rPr lang="en-US" sz="2800" i="1" u="sng">
                <a:latin typeface="Tahoma" pitchFamily="34" charset="0"/>
                <a:ea typeface="Arial-Rounded" pitchFamily="34" charset="0"/>
                <a:cs typeface="Tahoma" pitchFamily="34" charset="0"/>
              </a:rPr>
              <a:t>=3:</a:t>
            </a: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3657600"/>
            <a:ext cx="91440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2400" spc="-100">
                <a:latin typeface="Consolas" pitchFamily="49" charset="0"/>
              </a:rPr>
              <a:t>a b c d e f g h i j k l m n o p q r s t u v w x y z a b c</a:t>
            </a:r>
          </a:p>
          <a:p>
            <a:pPr marL="457200" indent="-457200">
              <a:lnSpc>
                <a:spcPct val="11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85800" y="4552665"/>
            <a:ext cx="8229600" cy="2011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latin typeface="Tahoma" pitchFamily="34" charset="0"/>
                <a:ea typeface="Arial-Rounded" pitchFamily="34" charset="0"/>
                <a:cs typeface="Tahoma" pitchFamily="34" charset="0"/>
              </a:rPr>
              <a:t>Bản rõ: 	</a:t>
            </a:r>
            <a:r>
              <a:rPr lang="en-US" sz="2600">
                <a:latin typeface="Consolas" pitchFamily="49" charset="0"/>
                <a:ea typeface="Arial-Rounded" pitchFamily="34" charset="0"/>
                <a:cs typeface="Tahoma" pitchFamily="34" charset="0"/>
              </a:rPr>
              <a:t>attack at night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solidFill>
                  <a:srgbClr val="FF0000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Mã hóa: 	</a:t>
            </a:r>
            <a:r>
              <a:rPr lang="en-US" sz="2600">
                <a:solidFill>
                  <a:srgbClr val="FF0000"/>
                </a:solidFill>
                <a:latin typeface="Consolas" pitchFamily="49" charset="0"/>
                <a:ea typeface="Arial-Rounded" pitchFamily="34" charset="0"/>
                <a:cs typeface="Tahoma" pitchFamily="34" charset="0"/>
              </a:rPr>
              <a:t>dwwdfn dw qljkw</a:t>
            </a:r>
            <a:endParaRPr lang="en-US" sz="2600" i="1">
              <a:solidFill>
                <a:srgbClr val="FF0000"/>
              </a:solidFill>
              <a:latin typeface="Consolas" pitchFamily="49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Giải mã?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Phá mã?</a:t>
            </a:r>
          </a:p>
          <a:p>
            <a:pPr eaLnBrk="1" hangingPunct="1">
              <a:lnSpc>
                <a:spcPct val="11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61CAA6AC-AC9D-4586-41F9-072FBC28B6A9}"/>
              </a:ext>
            </a:extLst>
          </p:cNvPr>
          <p:cNvSpPr/>
          <p:nvPr/>
        </p:nvSpPr>
        <p:spPr>
          <a:xfrm>
            <a:off x="152400" y="3352800"/>
            <a:ext cx="990600" cy="582897"/>
          </a:xfrm>
          <a:prstGeom prst="arc">
            <a:avLst>
              <a:gd name="adj1" fmla="val 10822862"/>
              <a:gd name="adj2" fmla="val 0"/>
            </a:avLst>
          </a:prstGeom>
          <a:ln>
            <a:solidFill>
              <a:srgbClr val="17385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8292DA97-CEFD-DDF1-16FF-AF2DDFD1F5C5}"/>
              </a:ext>
            </a:extLst>
          </p:cNvPr>
          <p:cNvSpPr/>
          <p:nvPr/>
        </p:nvSpPr>
        <p:spPr>
          <a:xfrm>
            <a:off x="6019800" y="3352800"/>
            <a:ext cx="990600" cy="582897"/>
          </a:xfrm>
          <a:prstGeom prst="arc">
            <a:avLst>
              <a:gd name="adj1" fmla="val 10822862"/>
              <a:gd name="adj2" fmla="val 0"/>
            </a:avLst>
          </a:prstGeom>
          <a:ln>
            <a:solidFill>
              <a:srgbClr val="17385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8942CF29-5D9A-1863-BE78-D6930525BBAB}"/>
              </a:ext>
            </a:extLst>
          </p:cNvPr>
          <p:cNvSpPr/>
          <p:nvPr/>
        </p:nvSpPr>
        <p:spPr>
          <a:xfrm>
            <a:off x="3200401" y="3352800"/>
            <a:ext cx="990600" cy="582897"/>
          </a:xfrm>
          <a:prstGeom prst="arc">
            <a:avLst>
              <a:gd name="adj1" fmla="val 10822862"/>
              <a:gd name="adj2" fmla="val 0"/>
            </a:avLst>
          </a:prstGeom>
          <a:ln>
            <a:solidFill>
              <a:srgbClr val="17385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DF730CCB-C346-43E6-353D-87F9A1AC905B}"/>
              </a:ext>
            </a:extLst>
          </p:cNvPr>
          <p:cNvSpPr/>
          <p:nvPr/>
        </p:nvSpPr>
        <p:spPr>
          <a:xfrm>
            <a:off x="7924800" y="3366151"/>
            <a:ext cx="990600" cy="582897"/>
          </a:xfrm>
          <a:prstGeom prst="arc">
            <a:avLst>
              <a:gd name="adj1" fmla="val 10822862"/>
              <a:gd name="adj2" fmla="val 0"/>
            </a:avLst>
          </a:prstGeom>
          <a:ln>
            <a:solidFill>
              <a:srgbClr val="17385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8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>
                <a:latin typeface="Tahoma" pitchFamily="34" charset="0"/>
                <a:ea typeface="Arial-Rounded" pitchFamily="34" charset="0"/>
                <a:cs typeface="Tahoma" pitchFamily="34" charset="0"/>
              </a:rPr>
              <a:t>Phá mã Ceasar</a:t>
            </a:r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: thử 25 khóa k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962400" cy="54102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n-US" sz="2400">
                <a:latin typeface="Consolas" pitchFamily="49" charset="0"/>
              </a:rPr>
              <a:t>KEY  </a:t>
            </a:r>
            <a:r>
              <a:rPr lang="en-US" sz="2400" b="1">
                <a:solidFill>
                  <a:srgbClr val="8E6C00"/>
                </a:solidFill>
                <a:latin typeface="Consolas" pitchFamily="49" charset="0"/>
              </a:rPr>
              <a:t>dwwdfn dw qljkw</a:t>
            </a:r>
          </a:p>
          <a:p>
            <a:pPr algn="ctr">
              <a:spcBef>
                <a:spcPts val="1200"/>
              </a:spcBef>
              <a:defRPr/>
            </a:pPr>
            <a:r>
              <a:rPr lang="en-US" sz="2400">
                <a:latin typeface="Consolas" pitchFamily="49" charset="0"/>
              </a:rPr>
              <a:t>  1  cvvcem cv pkijv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 2  buubdl bu ojhiu</a:t>
            </a:r>
          </a:p>
          <a:p>
            <a:pPr algn="ctr">
              <a:defRPr/>
            </a:pPr>
            <a:r>
              <a:rPr lang="en-US" sz="2400">
                <a:solidFill>
                  <a:srgbClr val="FF0000"/>
                </a:solidFill>
                <a:latin typeface="Consolas" pitchFamily="49" charset="0"/>
              </a:rPr>
              <a:t>  </a:t>
            </a:r>
            <a:r>
              <a:rPr lang="en-US" sz="2400">
                <a:latin typeface="Consolas" pitchFamily="49" charset="0"/>
              </a:rPr>
              <a:t>3  attack at night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 4  zsszbj zs mhfgs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 5  yrryai yr lgefr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 6  xqqxzh xq kfdeq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 7  wppwyg wp jecdp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 8  voovxf vo idbco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 9  unnuwe un hcabn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10  tmmtvd tm gbzam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11  sllsuc sl fayzl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12  rkkrtb rk ezxyk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13  qjjqsa qj dywxj</a:t>
            </a:r>
          </a:p>
          <a:p>
            <a:pPr algn="ctr">
              <a:defRPr/>
            </a:pPr>
            <a:endParaRPr lang="en-US" sz="2400">
              <a:latin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48200" y="1143000"/>
            <a:ext cx="3962400" cy="51816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n-US" sz="2400">
                <a:latin typeface="Consolas" pitchFamily="49" charset="0"/>
              </a:rPr>
              <a:t>KEY  </a:t>
            </a:r>
            <a:r>
              <a:rPr lang="en-US" sz="2400" b="1">
                <a:solidFill>
                  <a:srgbClr val="8E6C00"/>
                </a:solidFill>
                <a:latin typeface="Consolas" pitchFamily="49" charset="0"/>
              </a:rPr>
              <a:t>dwwdfn dw qljkw</a:t>
            </a:r>
          </a:p>
          <a:p>
            <a:pPr algn="ctr">
              <a:spcBef>
                <a:spcPts val="1200"/>
              </a:spcBef>
              <a:defRPr/>
            </a:pPr>
            <a:r>
              <a:rPr lang="en-US" sz="2400">
                <a:latin typeface="Consolas" pitchFamily="49" charset="0"/>
              </a:rPr>
              <a:t> 14  piiprz pi cxvwi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15  ohhoqy oh bwuvh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16  nggnpx ng avtug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17  mffmow mf zustf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18  leelnv le ytrse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19  kddkmu kd xsqrd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20  jccjlt jc wrpqc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21  ibbiks ib vqopb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22  haahjr ha upnoa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23  gzzgiq gz tomnz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24  fyyfhp fy snlmy</a:t>
            </a:r>
          </a:p>
          <a:p>
            <a:pPr algn="ctr">
              <a:defRPr/>
            </a:pPr>
            <a:r>
              <a:rPr lang="en-US" sz="2400">
                <a:latin typeface="Consolas" pitchFamily="49" charset="0"/>
              </a:rPr>
              <a:t> 25  exxego ex rmklx</a:t>
            </a:r>
          </a:p>
        </p:txBody>
      </p:sp>
      <p:sp>
        <p:nvSpPr>
          <p:cNvPr id="7" name="Rectangle 6"/>
          <p:cNvSpPr/>
          <p:nvPr/>
        </p:nvSpPr>
        <p:spPr>
          <a:xfrm>
            <a:off x="865496" y="2397456"/>
            <a:ext cx="3497240" cy="381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n-US" sz="2400">
                <a:solidFill>
                  <a:srgbClr val="FF0000"/>
                </a:solidFill>
                <a:latin typeface="Consolas" pitchFamily="49" charset="0"/>
              </a:rPr>
              <a:t>3  attack at night</a:t>
            </a:r>
          </a:p>
          <a:p>
            <a:pPr algn="ctr">
              <a:defRPr/>
            </a:pPr>
            <a:endParaRPr lang="en-US" sz="2400">
              <a:solidFill>
                <a:srgbClr val="FF0000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014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1A9AFF-07D1-4123-A398-E1B1F88566A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281" y="1655927"/>
            <a:ext cx="4572000" cy="450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Oval 1"/>
          <p:cNvSpPr/>
          <p:nvPr/>
        </p:nvSpPr>
        <p:spPr>
          <a:xfrm>
            <a:off x="4662985" y="3796352"/>
            <a:ext cx="186519" cy="182880"/>
          </a:xfrm>
          <a:prstGeom prst="ellipse">
            <a:avLst/>
          </a:prstGeom>
          <a:solidFill>
            <a:srgbClr val="173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en-US"/>
              <a:t>I. Mã hóa Ceasar</a:t>
            </a:r>
          </a:p>
        </p:txBody>
      </p:sp>
    </p:spTree>
    <p:extLst>
      <p:ext uri="{BB962C8B-B14F-4D97-AF65-F5344CB8AC3E}">
        <p14:creationId xmlns:p14="http://schemas.microsoft.com/office/powerpoint/2010/main" val="1543433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Mô hình mã hóa Ceasar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29904" y="2743200"/>
            <a:ext cx="8305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 i="1" u="sng">
                <a:latin typeface="Tahoma" pitchFamily="34" charset="0"/>
                <a:ea typeface="Arial-Rounded" pitchFamily="34" charset="0"/>
                <a:cs typeface="Tahoma" pitchFamily="34" charset="0"/>
              </a:rPr>
              <a:t>Ký hiệu</a:t>
            </a: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: 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    </a:t>
            </a:r>
            <a:r>
              <a:rPr lang="en-US" sz="2800" i="1">
                <a:latin typeface="Cambria" pitchFamily="18" charset="0"/>
                <a:ea typeface="Arial-Rounded" pitchFamily="34" charset="0"/>
                <a:cs typeface="Tahoma" pitchFamily="34" charset="0"/>
              </a:rPr>
              <a:t>p</a:t>
            </a: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: chữ cái trong bản rõ, </a:t>
            </a:r>
            <a:r>
              <a:rPr lang="en-US" sz="2800" i="1">
                <a:latin typeface="Cambria" pitchFamily="18" charset="0"/>
                <a:ea typeface="Arial-Rounded" pitchFamily="34" charset="0"/>
                <a:cs typeface="Tahoma" pitchFamily="34" charset="0"/>
              </a:rPr>
              <a:t>C</a:t>
            </a: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: chữ cái trong bản mã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    </a:t>
            </a:r>
            <a:r>
              <a:rPr lang="en-US" sz="2800" i="1">
                <a:latin typeface="Cambria" pitchFamily="18" charset="0"/>
                <a:ea typeface="Arial-Rounded" pitchFamily="34" charset="0"/>
                <a:cs typeface="Tahoma" pitchFamily="34" charset="0"/>
              </a:rPr>
              <a:t>k</a:t>
            </a: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: khóa.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 i="1" u="sng">
                <a:latin typeface="Tahoma" pitchFamily="34" charset="0"/>
                <a:ea typeface="Arial-Rounded" pitchFamily="34" charset="0"/>
                <a:cs typeface="Tahoma" pitchFamily="34" charset="0"/>
              </a:rPr>
              <a:t>Công thức: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    Mã hóa: </a:t>
            </a:r>
            <a:r>
              <a:rPr lang="en-US" sz="2800" i="1">
                <a:latin typeface="Cambria" pitchFamily="18" charset="0"/>
                <a:ea typeface="Arial-Rounded" pitchFamily="34" charset="0"/>
                <a:cs typeface="Tahoma" pitchFamily="34" charset="0"/>
              </a:rPr>
              <a:t>C</a:t>
            </a:r>
            <a:r>
              <a:rPr lang="en-US" sz="2800">
                <a:latin typeface="Cambria" pitchFamily="18" charset="0"/>
                <a:ea typeface="Arial-Rounded" pitchFamily="34" charset="0"/>
                <a:cs typeface="Tahoma" pitchFamily="34" charset="0"/>
              </a:rPr>
              <a:t> = </a:t>
            </a:r>
            <a:r>
              <a:rPr lang="en-US" sz="2800">
                <a:latin typeface="Cambria Math" pitchFamily="18" charset="0"/>
                <a:ea typeface="Cambria Math" pitchFamily="18" charset="0"/>
                <a:cs typeface="Tahoma" pitchFamily="34" charset="0"/>
              </a:rPr>
              <a:t>(</a:t>
            </a:r>
            <a:r>
              <a:rPr lang="en-US" sz="2800" i="1">
                <a:latin typeface="Cambria" pitchFamily="18" charset="0"/>
                <a:ea typeface="Arial-Rounded" pitchFamily="34" charset="0"/>
                <a:cs typeface="Tahoma" pitchFamily="34" charset="0"/>
              </a:rPr>
              <a:t>p</a:t>
            </a:r>
            <a:r>
              <a:rPr lang="en-US" sz="2800">
                <a:latin typeface="Cambria" pitchFamily="18" charset="0"/>
                <a:ea typeface="Arial-Rounded" pitchFamily="34" charset="0"/>
                <a:cs typeface="Tahoma" pitchFamily="34" charset="0"/>
              </a:rPr>
              <a:t> + </a:t>
            </a:r>
            <a:r>
              <a:rPr lang="en-US" sz="2800" i="1">
                <a:latin typeface="Cambria" pitchFamily="18" charset="0"/>
                <a:ea typeface="Arial-Rounded" pitchFamily="34" charset="0"/>
                <a:cs typeface="Tahoma" pitchFamily="34" charset="0"/>
              </a:rPr>
              <a:t>k</a:t>
            </a:r>
            <a:r>
              <a:rPr lang="en-US" sz="2800">
                <a:latin typeface="Cambria Math" pitchFamily="18" charset="0"/>
                <a:ea typeface="Cambria Math" pitchFamily="18" charset="0"/>
                <a:cs typeface="Tahoma" pitchFamily="34" charset="0"/>
              </a:rPr>
              <a:t>)</a:t>
            </a:r>
            <a:r>
              <a:rPr lang="en-US" sz="2800">
                <a:latin typeface="Cambria" pitchFamily="18" charset="0"/>
                <a:ea typeface="Arial-Rounded" pitchFamily="34" charset="0"/>
                <a:cs typeface="Tahoma" pitchFamily="34" charset="0"/>
              </a:rPr>
              <a:t> </a:t>
            </a:r>
            <a:r>
              <a:rPr lang="en-US" sz="2800" i="1">
                <a:latin typeface="Cambria" pitchFamily="18" charset="0"/>
                <a:ea typeface="Arial-Rounded" pitchFamily="34" charset="0"/>
                <a:cs typeface="Tahoma" pitchFamily="34" charset="0"/>
              </a:rPr>
              <a:t>mod </a:t>
            </a:r>
            <a:r>
              <a:rPr lang="en-US" sz="2800">
                <a:latin typeface="Cambria" pitchFamily="18" charset="0"/>
                <a:ea typeface="Arial-Rounded" pitchFamily="34" charset="0"/>
                <a:cs typeface="Tahoma" pitchFamily="34" charset="0"/>
              </a:rPr>
              <a:t>26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    Giải mã: </a:t>
            </a:r>
            <a:r>
              <a:rPr lang="en-US" sz="2800" i="1">
                <a:latin typeface="Cambria" pitchFamily="18" charset="0"/>
                <a:ea typeface="Cambria Math" pitchFamily="18" charset="0"/>
                <a:cs typeface="Tahoma" pitchFamily="34" charset="0"/>
              </a:rPr>
              <a:t>p</a:t>
            </a:r>
            <a:r>
              <a:rPr lang="en-US" sz="2800">
                <a:latin typeface="Cambria" pitchFamily="18" charset="0"/>
                <a:ea typeface="Cambria Math" pitchFamily="18" charset="0"/>
                <a:cs typeface="Tahoma" pitchFamily="34" charset="0"/>
              </a:rPr>
              <a:t> = </a:t>
            </a:r>
            <a:r>
              <a:rPr lang="en-US" sz="2800">
                <a:latin typeface="Cambria Math" pitchFamily="18" charset="0"/>
                <a:ea typeface="Cambria Math" pitchFamily="18" charset="0"/>
                <a:cs typeface="Tahoma" pitchFamily="34" charset="0"/>
              </a:rPr>
              <a:t>(</a:t>
            </a:r>
            <a:r>
              <a:rPr lang="en-US" sz="2800" i="1">
                <a:latin typeface="Cambria" pitchFamily="18" charset="0"/>
                <a:ea typeface="Arial-Rounded" pitchFamily="34" charset="0"/>
                <a:cs typeface="Tahoma" pitchFamily="34" charset="0"/>
              </a:rPr>
              <a:t>C</a:t>
            </a: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 - </a:t>
            </a:r>
            <a:r>
              <a:rPr lang="en-US" sz="2800" i="1">
                <a:latin typeface="Cambria" pitchFamily="18" charset="0"/>
                <a:ea typeface="Arial-Rounded" pitchFamily="34" charset="0"/>
                <a:cs typeface="Tahoma" pitchFamily="34" charset="0"/>
              </a:rPr>
              <a:t>k</a:t>
            </a:r>
            <a:r>
              <a:rPr lang="en-US" sz="2800">
                <a:latin typeface="Cambria Math" pitchFamily="18" charset="0"/>
                <a:ea typeface="Cambria Math" pitchFamily="18" charset="0"/>
                <a:cs typeface="Tahoma" pitchFamily="34" charset="0"/>
              </a:rPr>
              <a:t>)</a:t>
            </a: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 </a:t>
            </a:r>
            <a:r>
              <a:rPr lang="en-US" sz="2800" i="1">
                <a:latin typeface="Cambria" pitchFamily="18" charset="0"/>
                <a:ea typeface="Arial-Rounded" pitchFamily="34" charset="0"/>
                <a:cs typeface="Tahoma" pitchFamily="34" charset="0"/>
              </a:rPr>
              <a:t>mod</a:t>
            </a:r>
            <a:r>
              <a:rPr lang="en-US" sz="2800">
                <a:latin typeface="Cambria" pitchFamily="18" charset="0"/>
                <a:ea typeface="Arial-Rounded" pitchFamily="34" charset="0"/>
                <a:cs typeface="Tahoma" pitchFamily="34" charset="0"/>
              </a:rPr>
              <a:t> 26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endParaRPr lang="en-US" sz="2800" i="1" u="sng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736399"/>
              </p:ext>
            </p:extLst>
          </p:nvPr>
        </p:nvGraphicFramePr>
        <p:xfrm>
          <a:off x="457200" y="1447800"/>
          <a:ext cx="8077200" cy="731838"/>
        </p:xfrm>
        <a:graphic>
          <a:graphicData uri="http://schemas.openxmlformats.org/drawingml/2006/table">
            <a:tbl>
              <a:tblPr/>
              <a:tblGrid>
                <a:gridCol w="449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9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92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92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926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4926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F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G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I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J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K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U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V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W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773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II. Mô hình mã hóa đối xứng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33400" y="4648200"/>
            <a:ext cx="7620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sz="2800" i="1">
                <a:solidFill>
                  <a:srgbClr val="FF0000"/>
                </a:solidFill>
                <a:latin typeface="Cambria" pitchFamily="18" charset="0"/>
                <a:cs typeface="Tahoma" pitchFamily="34" charset="0"/>
              </a:rPr>
              <a:t>Mã hóa: C</a:t>
            </a:r>
            <a:r>
              <a:rPr lang="en-US" sz="2800">
                <a:solidFill>
                  <a:srgbClr val="FF0000"/>
                </a:solidFill>
                <a:latin typeface="Cambria" pitchFamily="18" charset="0"/>
                <a:cs typeface="Tahoma" pitchFamily="34" charset="0"/>
              </a:rPr>
              <a:t> = </a:t>
            </a:r>
            <a:r>
              <a:rPr lang="en-US" sz="2800" i="1">
                <a:solidFill>
                  <a:srgbClr val="FF0000"/>
                </a:solidFill>
                <a:latin typeface="Cambria" pitchFamily="18" charset="0"/>
                <a:cs typeface="Tahoma" pitchFamily="34" charset="0"/>
              </a:rPr>
              <a:t>E</a:t>
            </a:r>
            <a:r>
              <a:rPr lang="en-US" sz="280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cs typeface="Tahoma" pitchFamily="34" charset="0"/>
              </a:rPr>
              <a:t>(</a:t>
            </a:r>
            <a:r>
              <a:rPr lang="en-US" sz="2800" i="1">
                <a:solidFill>
                  <a:srgbClr val="FF0000"/>
                </a:solidFill>
                <a:latin typeface="Cambria" pitchFamily="18" charset="0"/>
                <a:cs typeface="Tahoma" pitchFamily="34" charset="0"/>
              </a:rPr>
              <a:t>P</a:t>
            </a:r>
            <a:r>
              <a:rPr lang="en-US" sz="2800">
                <a:solidFill>
                  <a:srgbClr val="FF0000"/>
                </a:solidFill>
                <a:latin typeface="Cambria" pitchFamily="18" charset="0"/>
                <a:cs typeface="Tahoma" pitchFamily="34" charset="0"/>
              </a:rPr>
              <a:t>, </a:t>
            </a:r>
            <a:r>
              <a:rPr lang="en-US" sz="2800" i="1">
                <a:solidFill>
                  <a:srgbClr val="FF0000"/>
                </a:solidFill>
                <a:latin typeface="Cambria" pitchFamily="18" charset="0"/>
                <a:cs typeface="Tahoma" pitchFamily="34" charset="0"/>
              </a:rPr>
              <a:t>K</a:t>
            </a:r>
            <a:r>
              <a:rPr lang="en-US" sz="280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cs typeface="Tahoma" pitchFamily="34" charset="0"/>
              </a:rPr>
              <a:t>)</a:t>
            </a:r>
          </a:p>
          <a:p>
            <a:pPr>
              <a:lnSpc>
                <a:spcPct val="120000"/>
              </a:lnSpc>
              <a:defRPr/>
            </a:pPr>
            <a:r>
              <a:rPr lang="en-US" sz="2800" i="1">
                <a:solidFill>
                  <a:srgbClr val="FF0000"/>
                </a:solidFill>
                <a:latin typeface="Cambria" pitchFamily="18" charset="0"/>
                <a:cs typeface="Tahoma" pitchFamily="34" charset="0"/>
              </a:rPr>
              <a:t>Giải mã: P</a:t>
            </a:r>
            <a:r>
              <a:rPr lang="en-US" sz="2800">
                <a:solidFill>
                  <a:srgbClr val="FF0000"/>
                </a:solidFill>
                <a:latin typeface="Cambria" pitchFamily="18" charset="0"/>
                <a:cs typeface="Tahoma" pitchFamily="34" charset="0"/>
              </a:rPr>
              <a:t> = </a:t>
            </a:r>
            <a:r>
              <a:rPr lang="en-US" sz="2800" i="1">
                <a:solidFill>
                  <a:srgbClr val="FF0000"/>
                </a:solidFill>
                <a:latin typeface="Cambria" pitchFamily="18" charset="0"/>
                <a:cs typeface="Tahoma" pitchFamily="34" charset="0"/>
              </a:rPr>
              <a:t>D</a:t>
            </a:r>
            <a:r>
              <a:rPr lang="en-US" sz="280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cs typeface="Tahoma" pitchFamily="34" charset="0"/>
              </a:rPr>
              <a:t>(</a:t>
            </a:r>
            <a:r>
              <a:rPr lang="en-US" sz="2800" i="1">
                <a:solidFill>
                  <a:srgbClr val="FF0000"/>
                </a:solidFill>
                <a:latin typeface="Cambria" pitchFamily="18" charset="0"/>
                <a:cs typeface="Tahoma" pitchFamily="34" charset="0"/>
              </a:rPr>
              <a:t>C</a:t>
            </a:r>
            <a:r>
              <a:rPr lang="en-US" sz="2800">
                <a:solidFill>
                  <a:srgbClr val="FF0000"/>
                </a:solidFill>
                <a:latin typeface="Cambria" pitchFamily="18" charset="0"/>
                <a:cs typeface="Tahoma" pitchFamily="34" charset="0"/>
              </a:rPr>
              <a:t>, </a:t>
            </a:r>
            <a:r>
              <a:rPr lang="en-US" sz="2800" i="1">
                <a:solidFill>
                  <a:srgbClr val="FF0000"/>
                </a:solidFill>
                <a:latin typeface="Cambria" pitchFamily="18" charset="0"/>
                <a:cs typeface="Tahoma" pitchFamily="34" charset="0"/>
              </a:rPr>
              <a:t>K</a:t>
            </a:r>
            <a:r>
              <a:rPr lang="en-US" sz="280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cs typeface="Tahoma" pitchFamily="34" charset="0"/>
              </a:rPr>
              <a:t>)    </a:t>
            </a:r>
          </a:p>
          <a:p>
            <a:pPr>
              <a:lnSpc>
                <a:spcPct val="120000"/>
              </a:lnSpc>
              <a:defRPr/>
            </a:pPr>
            <a:r>
              <a:rPr lang="en-US" sz="24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Hàm D là ngược với E =&gt; mã hóa đối xứng</a:t>
            </a:r>
          </a:p>
          <a:p>
            <a:pPr lvl="1" indent="457200">
              <a:lnSpc>
                <a:spcPct val="120000"/>
              </a:lnSpc>
              <a:buFont typeface="Arial" pitchFamily="34" charset="0"/>
              <a:buChar char="•"/>
              <a:defRPr/>
            </a:pPr>
            <a:endParaRPr lang="en-US" sz="240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10000"/>
              </a:lnSpc>
              <a:defRPr/>
            </a:pPr>
            <a:endParaRPr lang="en-US" sz="2800">
              <a:solidFill>
                <a:srgbClr val="FF0000"/>
              </a:solidFill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0464" y="6248400"/>
            <a:ext cx="4495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1">
              <a:lnSpc>
                <a:spcPct val="120000"/>
              </a:lnSpc>
              <a:defRPr/>
            </a:pPr>
            <a:r>
              <a:rPr lang="en-US" sz="2400">
                <a:solidFill>
                  <a:srgbClr val="00B050"/>
                </a:solidFill>
                <a:latin typeface="Tahoma" pitchFamily="34" charset="0"/>
                <a:cs typeface="Tahoma" pitchFamily="34" charset="0"/>
              </a:rPr>
              <a:t>K: khóa bí mật (secret key)</a:t>
            </a:r>
          </a:p>
          <a:p>
            <a:pPr marL="457200" indent="-457200">
              <a:lnSpc>
                <a:spcPct val="110000"/>
              </a:lnSpc>
              <a:defRPr/>
            </a:pPr>
            <a:endParaRPr lang="en-US" sz="2400">
              <a:solidFill>
                <a:srgbClr val="00B050"/>
              </a:solidFill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71" y="1600200"/>
            <a:ext cx="9155471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525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II. Mô hình mã hóa đối xứng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87755"/>
            <a:ext cx="8962887" cy="3865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09600" y="5268604"/>
            <a:ext cx="8305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1">
              <a:lnSpc>
                <a:spcPct val="120000"/>
              </a:lnSpc>
              <a:defRPr/>
            </a:pPr>
            <a:r>
              <a:rPr lang="en-US" sz="2400">
                <a:latin typeface="Tahoma" pitchFamily="34" charset="0"/>
                <a:cs typeface="Tahoma" pitchFamily="34" charset="0"/>
              </a:rPr>
              <a:t>Phá mã (Crytanalysis): Không cần khóa vẫn tìm được P</a:t>
            </a:r>
            <a:endParaRPr lang="en-US" sz="24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11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91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III. Mã hóa thay thế đơn bảng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85800" y="1447800"/>
            <a:ext cx="8001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 i="1" u="sng">
                <a:latin typeface="Tahoma" pitchFamily="34" charset="0"/>
                <a:ea typeface="Arial-Rounded" pitchFamily="34" charset="0"/>
                <a:cs typeface="Tahoma" pitchFamily="34" charset="0"/>
              </a:rPr>
              <a:t>Nguyên tắc</a:t>
            </a: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: khóa là một hoán vị 26 chữ cái</a:t>
            </a:r>
            <a:endParaRPr lang="en-US" sz="2800" i="1" u="sng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" y="2362200"/>
            <a:ext cx="89154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2600" spc="-100">
                <a:latin typeface="Consolas" pitchFamily="49" charset="0"/>
                <a:ea typeface="Cambria Math" pitchFamily="18" charset="0"/>
              </a:rPr>
              <a:t>a b c d e f g h i j k l m n o p q r s t u v w x y z</a:t>
            </a:r>
          </a:p>
          <a:p>
            <a:pPr>
              <a:defRPr/>
            </a:pPr>
            <a:r>
              <a:rPr lang="en-US" sz="2600" spc="-100">
                <a:solidFill>
                  <a:srgbClr val="FF0000"/>
                </a:solidFill>
                <a:latin typeface="Consolas" pitchFamily="49" charset="0"/>
                <a:ea typeface="Cambria Math" pitchFamily="18" charset="0"/>
              </a:rPr>
              <a:t>z p b y j r s k f l x q n w v d h m g u t o i a e c</a:t>
            </a:r>
            <a:endParaRPr lang="en-US" sz="2600" spc="-100">
              <a:solidFill>
                <a:srgbClr val="FF0000"/>
              </a:solidFill>
              <a:latin typeface="Consolas" pitchFamily="49" charset="0"/>
              <a:ea typeface="Cambria Math" pitchFamily="18" charset="0"/>
              <a:cs typeface="Tahoma" pitchFamily="34" charset="0"/>
            </a:endParaRPr>
          </a:p>
          <a:p>
            <a:pPr marL="457200" indent="-457200">
              <a:lnSpc>
                <a:spcPct val="110000"/>
              </a:lnSpc>
              <a:defRPr/>
            </a:pPr>
            <a:endParaRPr lang="en-US" sz="2600">
              <a:latin typeface="Consolas" pitchFamily="49" charset="0"/>
              <a:ea typeface="Cambria Math" pitchFamily="18" charset="0"/>
              <a:cs typeface="Tahoma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800" y="3810000"/>
            <a:ext cx="60198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latin typeface="Tahoma" pitchFamily="34" charset="0"/>
                <a:ea typeface="Arial-Rounded" pitchFamily="34" charset="0"/>
                <a:cs typeface="Tahoma" pitchFamily="34" charset="0"/>
              </a:rPr>
              <a:t>Bản rõ: 	</a:t>
            </a:r>
            <a:r>
              <a:rPr lang="en-US" sz="2600">
                <a:latin typeface="Consolas" pitchFamily="49" charset="0"/>
                <a:ea typeface="Arial-Rounded" pitchFamily="34" charset="0"/>
                <a:cs typeface="Tahoma" pitchFamily="34" charset="0"/>
              </a:rPr>
              <a:t>attack at night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solidFill>
                  <a:srgbClr val="FF0000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Bản mã: 	</a:t>
            </a:r>
            <a:r>
              <a:rPr lang="en-US" sz="2600">
                <a:solidFill>
                  <a:srgbClr val="FF0000"/>
                </a:solidFill>
                <a:latin typeface="Consolas" pitchFamily="49" charset="0"/>
                <a:ea typeface="Arial-Rounded" pitchFamily="34" charset="0"/>
                <a:cs typeface="Tahoma" pitchFamily="34" charset="0"/>
              </a:rPr>
              <a:t>zuuzbx zu wfsku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endParaRPr lang="en-US" sz="2600">
              <a:solidFill>
                <a:srgbClr val="FF0000"/>
              </a:solidFill>
              <a:latin typeface="Consolas" pitchFamily="49" charset="0"/>
              <a:ea typeface="Arial-Rounded" pitchFamily="34" charset="0"/>
              <a:cs typeface="Tahoma" pitchFamily="34" charset="0"/>
            </a:endParaRP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600">
                <a:latin typeface="Consolas" pitchFamily="49" charset="0"/>
                <a:ea typeface="Arial-Rounded" pitchFamily="34" charset="0"/>
                <a:cs typeface="Tahoma" pitchFamily="34" charset="0"/>
              </a:rPr>
              <a:t>Giải mã?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endParaRPr lang="en-US" sz="2600" i="1">
              <a:solidFill>
                <a:srgbClr val="FF0000"/>
              </a:solidFill>
              <a:latin typeface="Consolas" pitchFamily="49" charset="0"/>
              <a:ea typeface="Arial-Rounded" pitchFamily="34" charset="0"/>
              <a:cs typeface="Tahoma" pitchFamily="34" charset="0"/>
            </a:endParaRP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endParaRPr lang="en-US" sz="2600" i="1">
              <a:solidFill>
                <a:srgbClr val="FF0000"/>
              </a:solidFill>
              <a:latin typeface="Consolas" pitchFamily="49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8001000" y="3657600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K</a:t>
            </a: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934200" y="3200400"/>
            <a:ext cx="990600" cy="6096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29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Phá m</a:t>
            </a:r>
            <a:r>
              <a:rPr lang="vi-VN"/>
              <a:t>ã thay thế đơn bảng</a:t>
            </a:r>
            <a:r>
              <a:rPr lang="en-US"/>
              <a:t>?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12845" y="2819400"/>
            <a:ext cx="8001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Số lượng khóa có thể có ?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			</a:t>
            </a:r>
            <a:r>
              <a:rPr lang="en-US" sz="2800">
                <a:solidFill>
                  <a:srgbClr val="FF0000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 </a:t>
            </a:r>
            <a:r>
              <a:rPr lang="fr-FR" sz="2800">
                <a:solidFill>
                  <a:srgbClr val="FF0000"/>
                </a:solidFill>
                <a:latin typeface="Cambria Math" pitchFamily="18" charset="0"/>
                <a:ea typeface="Arial-Rounded" pitchFamily="34" charset="0"/>
                <a:cs typeface="Times New Roman" pitchFamily="18" charset="0"/>
              </a:rPr>
              <a:t>26! ≈ 4 x 10</a:t>
            </a:r>
            <a:r>
              <a:rPr lang="fr-FR" sz="2800" baseline="30000">
                <a:solidFill>
                  <a:srgbClr val="FF0000"/>
                </a:solidFill>
                <a:latin typeface="Cambria Math" pitchFamily="18" charset="0"/>
                <a:ea typeface="Arial-Rounded" pitchFamily="34" charset="0"/>
                <a:cs typeface="Times New Roman" pitchFamily="18" charset="0"/>
              </a:rPr>
              <a:t>26</a:t>
            </a:r>
            <a:endParaRPr lang="en-US" sz="2800">
              <a:solidFill>
                <a:srgbClr val="FF0000"/>
              </a:solidFill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84496" y="5638800"/>
            <a:ext cx="8001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fr-FR" sz="2800">
                <a:solidFill>
                  <a:srgbClr val="000000"/>
                </a:solidFill>
                <a:latin typeface="Cambria Math" pitchFamily="18" charset="0"/>
                <a:ea typeface="Arial-Rounded" pitchFamily="34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fr-FR" sz="2800">
                <a:solidFill>
                  <a:srgbClr val="000000"/>
                </a:solidFill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chống phá mã vét cạn khóa.</a:t>
            </a: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02792"/>
              </p:ext>
            </p:extLst>
          </p:nvPr>
        </p:nvGraphicFramePr>
        <p:xfrm>
          <a:off x="184245" y="4191000"/>
          <a:ext cx="8458200" cy="1177819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1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5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70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Kích thước khóa (bít)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Số lượng khóa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Thời gian thực hiện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(tốc độ thử: 10</a:t>
                      </a:r>
                      <a:r>
                        <a:rPr kumimoji="0" lang="en-US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khóa/giây)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cs typeface="Times New Roman" pitchFamily="18" charset="0"/>
                        </a:rPr>
                        <a:t>hoán vị 26 ký tự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 pitchFamily="18" charset="0"/>
                          <a:cs typeface="Times New Roman" pitchFamily="18" charset="0"/>
                        </a:rPr>
                        <a:t>26! ≈ 4 x 10</a:t>
                      </a:r>
                      <a:r>
                        <a:rPr kumimoji="0" lang="fr-FR" sz="24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 pitchFamily="18" charset="0"/>
                          <a:cs typeface="Times New Roman" pitchFamily="18" charset="0"/>
                        </a:rPr>
                        <a:t>26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>
                          <a:tab pos="1011238" algn="r"/>
                          <a:tab pos="1158875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cs typeface="Times New Roman" pitchFamily="18" charset="0"/>
                        </a:rPr>
                        <a:t>6.4 x 10</a:t>
                      </a:r>
                      <a:r>
                        <a:rPr kumimoji="0" lang="fr-FR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cs typeface="Times New Roman" pitchFamily="18" charset="0"/>
                        </a:rPr>
                        <a:t>  năm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52400" y="1296537"/>
            <a:ext cx="89154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2600" spc="-100">
                <a:latin typeface="Consolas" pitchFamily="49" charset="0"/>
                <a:ea typeface="Cambria Math" pitchFamily="18" charset="0"/>
              </a:rPr>
              <a:t>a b c d e f g h i j k l m n o p q r s t u v w x y z</a:t>
            </a:r>
          </a:p>
          <a:p>
            <a:pPr>
              <a:defRPr/>
            </a:pPr>
            <a:r>
              <a:rPr lang="en-US" sz="2600" spc="-100">
                <a:solidFill>
                  <a:srgbClr val="FF0000"/>
                </a:solidFill>
                <a:latin typeface="Consolas" pitchFamily="49" charset="0"/>
                <a:ea typeface="Cambria Math" pitchFamily="18" charset="0"/>
              </a:rPr>
              <a:t>z p b y j r s k f l x q n w v d h m g u t o i a e c</a:t>
            </a:r>
            <a:endParaRPr lang="en-US" sz="2600" spc="-100">
              <a:solidFill>
                <a:srgbClr val="FF0000"/>
              </a:solidFill>
              <a:latin typeface="Consolas" pitchFamily="49" charset="0"/>
              <a:ea typeface="Cambria Math" pitchFamily="18" charset="0"/>
              <a:cs typeface="Tahoma" pitchFamily="34" charset="0"/>
            </a:endParaRPr>
          </a:p>
          <a:p>
            <a:pPr marL="457200" indent="-457200">
              <a:lnSpc>
                <a:spcPct val="110000"/>
              </a:lnSpc>
              <a:defRPr/>
            </a:pPr>
            <a:endParaRPr lang="en-US" sz="2600">
              <a:latin typeface="Consolas" pitchFamily="49" charset="0"/>
              <a:ea typeface="Cambria Math" pitchFamily="18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80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Phá m</a:t>
            </a:r>
            <a:r>
              <a:rPr lang="vi-VN"/>
              <a:t>ã thay thế đơn bảng</a:t>
            </a:r>
            <a:r>
              <a:rPr lang="en-US"/>
              <a:t>?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33400" y="1066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Nhận xét: trong tiếng Anh, tần suất sử dụng của các chữ cái không đồng đều</a:t>
            </a:r>
            <a:r>
              <a:rPr lang="fr-FR" sz="2400">
                <a:solidFill>
                  <a:srgbClr val="000000"/>
                </a:solidFill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.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" y="1981200"/>
            <a:ext cx="861568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0874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Phá m</a:t>
            </a:r>
            <a:r>
              <a:rPr lang="vi-VN"/>
              <a:t>ã thay thế đơn bảng</a:t>
            </a:r>
            <a:r>
              <a:rPr lang="en-US"/>
              <a:t>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09600" y="1981200"/>
            <a:ext cx="8001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Các chữ được sử dụng nhiều: E, T, A, O, I 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Các bộ đôi phổ biến: TH, IN, ER</a:t>
            </a:r>
            <a:r>
              <a:rPr lang="fr-FR" sz="2400">
                <a:solidFill>
                  <a:srgbClr val="000000"/>
                </a:solidFill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.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fr-FR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Các bộ ba phổ biến: THE, ING, AND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38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Phá mã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95869" y="1143000"/>
            <a:ext cx="83820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fr-FR" sz="2400">
                <a:latin typeface="Consolas" pitchFamily="49" charset="0"/>
                <a:ea typeface="Arial-Rounded" pitchFamily="34" charset="0"/>
                <a:cs typeface="Tahoma" pitchFamily="34" charset="0"/>
              </a:rPr>
              <a:t>   UZQSOVUOHXMOPVGPOZPEVSGZWSZOPFPESXUDBMETSXAIZ </a:t>
            </a:r>
            <a:endParaRPr lang="en-US" sz="2400">
              <a:latin typeface="Consolas" pitchFamily="49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fr-FR" sz="2400">
                <a:latin typeface="Consolas" pitchFamily="49" charset="0"/>
                <a:ea typeface="Arial-Rounded" pitchFamily="34" charset="0"/>
                <a:cs typeface="Tahoma" pitchFamily="34" charset="0"/>
              </a:rPr>
              <a:t>   VUEPHZHMDZSHZOWSFPAPPDTSVPQUZWYMXUZUHSX </a:t>
            </a:r>
          </a:p>
          <a:p>
            <a:pPr eaLnBrk="1" hangingPunct="1">
              <a:lnSpc>
                <a:spcPct val="120000"/>
              </a:lnSpc>
            </a:pPr>
            <a:r>
              <a:rPr lang="fr-FR" sz="2400">
                <a:latin typeface="Consolas" pitchFamily="49" charset="0"/>
                <a:ea typeface="Arial-Rounded" pitchFamily="34" charset="0"/>
                <a:cs typeface="Tahoma" pitchFamily="34" charset="0"/>
              </a:rPr>
              <a:t>   EPYEPOPDZSZUFPOMBZWPPDPTGUDTMOHMQ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fr-FR" sz="2400">
                <a:latin typeface="Tahoma" pitchFamily="34" charset="0"/>
                <a:ea typeface="Arial-Rounded" pitchFamily="34" charset="0"/>
                <a:cs typeface="Tahoma" pitchFamily="34" charset="0"/>
              </a:rPr>
              <a:t>Bảng tần suất: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629635"/>
              </p:ext>
            </p:extLst>
          </p:nvPr>
        </p:nvGraphicFramePr>
        <p:xfrm>
          <a:off x="3429000" y="3505200"/>
          <a:ext cx="4648201" cy="2019300"/>
        </p:xfrm>
        <a:graphic>
          <a:graphicData uri="http://schemas.openxmlformats.org/drawingml/2006/table">
            <a:tbl>
              <a:tblPr/>
              <a:tblGrid>
                <a:gridCol w="859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1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2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8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A 2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B 2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C 0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D 6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E 6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F 3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G 3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H 6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I 1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J 0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K 0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L 0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M 7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N 0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O 9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FF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P 17</a:t>
                      </a:r>
                      <a:endParaRPr lang="en-US" sz="2000">
                        <a:solidFill>
                          <a:srgbClr val="FF0000"/>
                        </a:solidFill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Q  3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R  0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S 10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T  4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U  9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V  5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W  4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X  5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Y  2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FF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Z 13</a:t>
                      </a:r>
                      <a:endParaRPr lang="en-US" sz="2000">
                        <a:solidFill>
                          <a:srgbClr val="FF0000"/>
                        </a:solidFill>
                        <a:latin typeface="Tahom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09600" y="5791200"/>
            <a:ext cx="8001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P tương ứng với e trong bản rõ, Z tương ứng với t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76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58C03A-53C1-4B1D-8789-4A93ED39C8FC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04800" y="1219200"/>
            <a:ext cx="86868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fr-FR" sz="2800">
                <a:latin typeface="Tahoma" pitchFamily="34" charset="0"/>
                <a:cs typeface="Tahoma" pitchFamily="34" charset="0"/>
              </a:rPr>
              <a:t>Kết quả phá mã bước đầu:</a:t>
            </a:r>
            <a:endParaRPr lang="fr-FR" sz="2400">
              <a:latin typeface="Tahoma" pitchFamily="34" charset="0"/>
              <a:cs typeface="Tahoma" pitchFamily="34" charset="0"/>
            </a:endParaRPr>
          </a:p>
          <a:p>
            <a:pPr>
              <a:spcBef>
                <a:spcPts val="1800"/>
              </a:spcBef>
              <a:defRPr/>
            </a:pPr>
            <a:r>
              <a:rPr lang="fr-FR" sz="2400">
                <a:latin typeface="Consolas" pitchFamily="49" charset="0"/>
              </a:rPr>
              <a:t>   UZQSOVUOHXMOPVGPOZPEVSGZWSZOPFPESXUDBMETSXAIZ </a:t>
            </a:r>
            <a:endParaRPr lang="en-US" sz="2400">
              <a:latin typeface="Consolas" pitchFamily="49" charset="0"/>
            </a:endParaRPr>
          </a:p>
          <a:p>
            <a:pPr>
              <a:defRPr/>
            </a:pPr>
            <a:r>
              <a:rPr lang="en-US" sz="2400">
                <a:latin typeface="Consolas" pitchFamily="49" charset="0"/>
              </a:rPr>
              <a:t>    t          e  e te    </a:t>
            </a:r>
            <a:r>
              <a:rPr lang="en-US" sz="2400">
                <a:solidFill>
                  <a:srgbClr val="FF0000"/>
                </a:solidFill>
                <a:latin typeface="Consolas" pitchFamily="49" charset="0"/>
              </a:rPr>
              <a:t>th t</a:t>
            </a:r>
            <a:r>
              <a:rPr lang="en-US" sz="2400">
                <a:latin typeface="Consolas" pitchFamily="49" charset="0"/>
              </a:rPr>
              <a:t> e e         </a:t>
            </a:r>
          </a:p>
          <a:p>
            <a:pPr>
              <a:defRPr/>
            </a:pPr>
            <a:r>
              <a:rPr lang="fr-FR" sz="2400">
                <a:latin typeface="Consolas" pitchFamily="49" charset="0"/>
              </a:rPr>
              <a:t>   VUEPHZHMDZSHZOWSFPAPPDTSVPQUZWYMXUZUHSX </a:t>
            </a:r>
            <a:endParaRPr lang="en-US" sz="2400">
              <a:latin typeface="Consolas" pitchFamily="49" charset="0"/>
            </a:endParaRPr>
          </a:p>
          <a:p>
            <a:pPr>
              <a:defRPr/>
            </a:pPr>
            <a:r>
              <a:rPr lang="en-US" sz="2400">
                <a:latin typeface="Consolas" pitchFamily="49" charset="0"/>
              </a:rPr>
              <a:t>      e t   t  t    e ee     e  t    t  </a:t>
            </a:r>
          </a:p>
          <a:p>
            <a:pPr>
              <a:defRPr/>
            </a:pPr>
            <a:r>
              <a:rPr lang="fr-FR" sz="2400">
                <a:latin typeface="Consolas" pitchFamily="49" charset="0"/>
              </a:rPr>
              <a:t>   EPYEPOPDZSZUFPOMBZWPPDPTGUDTMOHMQ</a:t>
            </a:r>
            <a:endParaRPr lang="en-US" sz="2400">
              <a:latin typeface="Consolas" pitchFamily="49" charset="0"/>
            </a:endParaRPr>
          </a:p>
          <a:p>
            <a:pPr>
              <a:defRPr/>
            </a:pPr>
            <a:r>
              <a:rPr lang="en-US" sz="2400">
                <a:latin typeface="Consolas" pitchFamily="49" charset="0"/>
              </a:rPr>
              <a:t>    e  e e tat  e   </a:t>
            </a:r>
            <a:r>
              <a:rPr lang="en-US" sz="2400">
                <a:solidFill>
                  <a:srgbClr val="FF0000"/>
                </a:solidFill>
                <a:latin typeface="Consolas" pitchFamily="49" charset="0"/>
              </a:rPr>
              <a:t>the</a:t>
            </a:r>
            <a:r>
              <a:rPr lang="en-US" sz="2400">
                <a:latin typeface="Consolas" pitchFamily="49" charset="0"/>
              </a:rPr>
              <a:t>e e   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defRPr/>
            </a:pPr>
            <a:endParaRPr lang="fr-FR" sz="2400">
              <a:latin typeface="Tahoma" pitchFamily="34" charset="0"/>
              <a:cs typeface="Tahoma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800">
                <a:latin typeface="Tahoma" pitchFamily="34" charset="0"/>
                <a:cs typeface="Tahoma" pitchFamily="34" charset="0"/>
              </a:rPr>
              <a:t>Kết quả phá mã cuối cùng:</a:t>
            </a:r>
          </a:p>
          <a:p>
            <a:pPr>
              <a:spcBef>
                <a:spcPts val="1200"/>
              </a:spcBef>
              <a:defRPr/>
            </a:pPr>
            <a:r>
              <a:rPr lang="en-US" sz="2200">
                <a:latin typeface="Consolas" pitchFamily="49" charset="0"/>
              </a:rPr>
              <a:t>   it was disclosed yesterday </a:t>
            </a:r>
            <a:r>
              <a:rPr lang="en-US" sz="2200">
                <a:solidFill>
                  <a:srgbClr val="FF0000"/>
                </a:solidFill>
                <a:latin typeface="Consolas" pitchFamily="49" charset="0"/>
              </a:rPr>
              <a:t>that</a:t>
            </a:r>
            <a:r>
              <a:rPr lang="en-US" sz="2200">
                <a:latin typeface="Consolas" pitchFamily="49" charset="0"/>
              </a:rPr>
              <a:t> several informal but</a:t>
            </a:r>
          </a:p>
          <a:p>
            <a:pPr>
              <a:defRPr/>
            </a:pPr>
            <a:r>
              <a:rPr lang="en-US" sz="2200">
                <a:latin typeface="Consolas" pitchFamily="49" charset="0"/>
              </a:rPr>
              <a:t>   direct contacts have been made with political</a:t>
            </a:r>
          </a:p>
          <a:p>
            <a:pPr>
              <a:defRPr/>
            </a:pPr>
            <a:r>
              <a:rPr lang="en-US" sz="2200">
                <a:latin typeface="Consolas" pitchFamily="49" charset="0"/>
              </a:rPr>
              <a:t>   representatives of </a:t>
            </a:r>
            <a:r>
              <a:rPr lang="en-US" sz="2200">
                <a:solidFill>
                  <a:srgbClr val="FF0000"/>
                </a:solidFill>
                <a:latin typeface="Consolas" pitchFamily="49" charset="0"/>
              </a:rPr>
              <a:t>the</a:t>
            </a:r>
            <a:r>
              <a:rPr lang="en-US" sz="2200">
                <a:latin typeface="Consolas" pitchFamily="49" charset="0"/>
              </a:rPr>
              <a:t> enemy in moscow</a:t>
            </a:r>
            <a:endParaRPr lang="en-US" sz="2200">
              <a:latin typeface="Consolas" pitchFamily="49" charset="0"/>
              <a:ea typeface="Arial-Rounded" pitchFamily="34" charset="0"/>
              <a:cs typeface="Tahoma" pitchFamily="34" charset="0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  <a:defRPr/>
            </a:pPr>
            <a:endParaRPr lang="en-US" sz="2400">
              <a:latin typeface="Consolas" pitchFamily="49" charset="0"/>
              <a:ea typeface="Arial-Rounded" pitchFamily="34" charset="0"/>
              <a:cs typeface="Tahoma" pitchFamily="34" charset="0"/>
            </a:endParaRPr>
          </a:p>
          <a:p>
            <a:pPr marL="457200" indent="-457200">
              <a:lnSpc>
                <a:spcPct val="110000"/>
              </a:lnSpc>
              <a:defRPr/>
            </a:pPr>
            <a:endParaRPr lang="en-US" sz="2400">
              <a:latin typeface="Consolas" pitchFamily="49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57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IV. Mã hóa thay thế đa bảng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447800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 u="sng">
                <a:solidFill>
                  <a:srgbClr val="8BBC00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Nguyên tắc</a:t>
            </a:r>
            <a:r>
              <a:rPr lang="en-US" sz="2800">
                <a:solidFill>
                  <a:srgbClr val="8BBC00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: </a:t>
            </a: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thay một chữ cái trong bản rõ thành nhiều chữ khác nhau trong bản mã </a:t>
            </a: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chống phân tích tần suất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 u="sng">
                <a:solidFill>
                  <a:srgbClr val="8BBC00"/>
                </a:solidFill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Thực hiện:</a:t>
            </a:r>
            <a:r>
              <a:rPr lang="en-US" sz="2800">
                <a:solidFill>
                  <a:srgbClr val="8BBC00"/>
                </a:solidFill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  </a:t>
            </a: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Dùng bảng Vigenere</a:t>
            </a: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872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Bảng Vigenere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213098"/>
              </p:ext>
            </p:extLst>
          </p:nvPr>
        </p:nvGraphicFramePr>
        <p:xfrm>
          <a:off x="228600" y="1219200"/>
          <a:ext cx="8686800" cy="5194300"/>
        </p:xfrm>
        <a:graphic>
          <a:graphicData uri="http://schemas.openxmlformats.org/drawingml/2006/table">
            <a:tbl>
              <a:tblPr/>
              <a:tblGrid>
                <a:gridCol w="780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6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0652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key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</a:txBody>
                  <a:tcPr marL="57540" marR="575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a b c d e f g h i j k l m n o p q r s t u v w x y z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</a:txBody>
                  <a:tcPr marL="57540" marR="575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3348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A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B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C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D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E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F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G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H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I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J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…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W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X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Y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Consolas"/>
                          <a:ea typeface="Times New Roman"/>
                          <a:cs typeface="Times New Roman"/>
                        </a:rPr>
                        <a:t>Z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</a:txBody>
                  <a:tcPr marL="57540" marR="575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A B C D E F G H I J K L M N O P Q R S T U V W X Y Z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B C D E F G H I J K L M N O P Q R S T U V W X Y Z A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C D E F G H I J K L M N O P Q R S T U V W X Y Z A B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D E F G H I J K L M N O P Q R S T U V W X Y Z A B C 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E F G H I J K L M N O P Q R S T U V W X Y Z A B C D 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F G H I J K L M N O P Q R S T U V W X Y Z A B C D E 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G H I J K L M N O P Q R S T U V W X Y Z A B C D E F 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H I J K L M N O P Q R S T U V W X Y Z A B C D E F G 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I J K L M N O P Q R S T U V W X Y Z A B C D E F G H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J K L M N O P Q R S T U V W X Y Z A B C D E F G H I 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…… 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W X Y Z A B C D E F G H I J K L M N O P Q R S T U V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X Y Z A B C D E F G H I J K L M N O P Q R S T U V W 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Y Z A B C D E F G H I J K L M N O P Q R S T U V W X 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2000" spc="100">
                          <a:latin typeface="Consolas"/>
                          <a:ea typeface="Times New Roman"/>
                          <a:cs typeface="Courier New"/>
                        </a:rPr>
                        <a:t>Z A B C D E F G H I J K L M N O P Q R S T U V W X Y</a:t>
                      </a:r>
                      <a:r>
                        <a:rPr lang="en-US" sz="2000">
                          <a:latin typeface="Consolas"/>
                          <a:ea typeface="Times New Roman"/>
                          <a:cs typeface="Courier New"/>
                        </a:rPr>
                        <a:t> </a:t>
                      </a:r>
                      <a:endParaRPr lang="en-US" sz="2000">
                        <a:latin typeface="Tahoma"/>
                        <a:ea typeface="Times New Roman"/>
                        <a:cs typeface="Times New Roman"/>
                      </a:endParaRPr>
                    </a:p>
                  </a:txBody>
                  <a:tcPr marL="57540" marR="575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933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33400" y="1371600"/>
            <a:ext cx="8153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solidFill>
                  <a:schemeClr val="bg1"/>
                </a:solidFill>
                <a:ea typeface="Arial-Rounded" pitchFamily="34" charset="0"/>
                <a:cs typeface="Times New Roman" pitchFamily="18" charset="0"/>
              </a:rPr>
              <a:t>Khóa DECEPTIVE</a:t>
            </a:r>
            <a:endParaRPr lang="en-US" sz="2400" i="1">
              <a:solidFill>
                <a:schemeClr val="bg1"/>
              </a:solidFill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latin typeface="Tahoma" pitchFamily="34" charset="0"/>
                <a:ea typeface="Arial-Rounded" pitchFamily="34" charset="0"/>
                <a:cs typeface="Tahoma" pitchFamily="34" charset="0"/>
              </a:rPr>
              <a:t>Bản rõ: 	</a:t>
            </a:r>
            <a:r>
              <a:rPr lang="en-US" sz="2600">
                <a:latin typeface="Consolas" pitchFamily="49" charset="0"/>
              </a:rPr>
              <a:t>wearediscoveredsaveyourself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latin typeface="Tahoma" pitchFamily="34" charset="0"/>
                <a:cs typeface="Tahoma" pitchFamily="34" charset="0"/>
              </a:rPr>
              <a:t>Khóa:</a:t>
            </a:r>
            <a:r>
              <a:rPr lang="en-US" sz="2800" i="1">
                <a:latin typeface="Consolas" pitchFamily="49" charset="0"/>
              </a:rPr>
              <a:t>		</a:t>
            </a:r>
            <a:r>
              <a:rPr lang="en-US" sz="2600">
                <a:latin typeface="Consolas" pitchFamily="49" charset="0"/>
              </a:rPr>
              <a:t>DECEPTIVEDECEPTIVEDECEPTIVE</a:t>
            </a:r>
            <a:endParaRPr lang="en-US" sz="2600" i="1">
              <a:latin typeface="Consolas" pitchFamily="49" charset="0"/>
            </a:endParaRP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latin typeface="Tahoma" pitchFamily="34" charset="0"/>
                <a:cs typeface="Arial-Rounded" pitchFamily="34" charset="0"/>
              </a:rPr>
              <a:t>Bản mã: 	</a:t>
            </a:r>
            <a:r>
              <a:rPr lang="en-US" sz="2600">
                <a:solidFill>
                  <a:srgbClr val="FF0000"/>
                </a:solidFill>
                <a:latin typeface="Consolas" pitchFamily="49" charset="0"/>
              </a:rPr>
              <a:t>ZIC</a:t>
            </a:r>
            <a:r>
              <a:rPr lang="en-US" sz="2600" u="sng">
                <a:solidFill>
                  <a:srgbClr val="FF0000"/>
                </a:solidFill>
                <a:latin typeface="Consolas" pitchFamily="49" charset="0"/>
              </a:rPr>
              <a:t>VTW</a:t>
            </a:r>
            <a:r>
              <a:rPr lang="en-US" sz="2600">
                <a:solidFill>
                  <a:srgbClr val="FF0000"/>
                </a:solidFill>
                <a:latin typeface="Consolas" pitchFamily="49" charset="0"/>
              </a:rPr>
              <a:t>QNGRZG</a:t>
            </a:r>
            <a:r>
              <a:rPr lang="en-US" sz="2600" u="sng">
                <a:solidFill>
                  <a:srgbClr val="FF0000"/>
                </a:solidFill>
                <a:latin typeface="Consolas" pitchFamily="49" charset="0"/>
              </a:rPr>
              <a:t>VTW</a:t>
            </a:r>
            <a:r>
              <a:rPr lang="en-US" sz="2600">
                <a:solidFill>
                  <a:srgbClr val="FF0000"/>
                </a:solidFill>
                <a:latin typeface="Consolas" pitchFamily="49" charset="0"/>
              </a:rPr>
              <a:t>AVZHCQYGLMGJ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endParaRPr lang="en-US" sz="2600" i="1">
              <a:latin typeface="Consolas" pitchFamily="49" charset="0"/>
              <a:cs typeface="Arial-Rounded" pitchFamily="34" charset="0"/>
            </a:endParaRP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600">
                <a:latin typeface="Consolas" pitchFamily="49" charset="0"/>
                <a:cs typeface="Arial-Rounded" pitchFamily="34" charset="0"/>
              </a:rPr>
              <a:t>Nhận xét: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600">
                <a:latin typeface="Tahoma" pitchFamily="34" charset="0"/>
                <a:cs typeface="Arial-Rounded" pitchFamily="34" charset="0"/>
              </a:rPr>
              <a:t>Chữ e được mã hóa thành các chữ: I, T, G, T, H, M</a:t>
            </a: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600">
                <a:latin typeface="Tahoma" pitchFamily="34" charset="0"/>
                <a:cs typeface="Arial-Rounded" pitchFamily="34" charset="0"/>
                <a:sym typeface="Wingdings" pitchFamily="2" charset="2"/>
              </a:rPr>
              <a:t> chống phân tích tần suất</a:t>
            </a:r>
            <a:endParaRPr lang="en-US" sz="2600">
              <a:latin typeface="Tahoma" pitchFamily="34" charset="0"/>
              <a:cs typeface="Arial-Rounded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400">
              <a:latin typeface="Tahoma" pitchFamily="34" charset="0"/>
              <a:cs typeface="Arial-Rounded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400">
              <a:latin typeface="Tahoma" pitchFamily="34" charset="0"/>
              <a:cs typeface="Arial-Rounde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96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Phá mã Vigenere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07242" y="1600200"/>
            <a:ext cx="81534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sz="2400" i="1">
                <a:latin typeface="Tahoma" pitchFamily="34" charset="0"/>
                <a:ea typeface="Arial-Rounded" pitchFamily="34" charset="0"/>
                <a:cs typeface="Tahoma" pitchFamily="34" charset="0"/>
              </a:rPr>
              <a:t>Bản mã: 	</a:t>
            </a:r>
            <a:r>
              <a:rPr lang="en-US" sz="2600">
                <a:latin typeface="Consolas" pitchFamily="49" charset="0"/>
                <a:ea typeface="Arial-Rounded" pitchFamily="34" charset="0"/>
                <a:cs typeface="Tahoma" pitchFamily="34" charset="0"/>
              </a:rPr>
              <a:t>ZIC</a:t>
            </a:r>
            <a:r>
              <a:rPr lang="en-US" sz="2600" u="sng">
                <a:latin typeface="Consolas" pitchFamily="49" charset="0"/>
                <a:ea typeface="Arial-Rounded" pitchFamily="34" charset="0"/>
                <a:cs typeface="Tahoma" pitchFamily="34" charset="0"/>
              </a:rPr>
              <a:t>VTW</a:t>
            </a:r>
            <a:r>
              <a:rPr lang="en-US" sz="2600">
                <a:latin typeface="Consolas" pitchFamily="49" charset="0"/>
                <a:ea typeface="Arial-Rounded" pitchFamily="34" charset="0"/>
                <a:cs typeface="Tahoma" pitchFamily="34" charset="0"/>
              </a:rPr>
              <a:t>QNGRZG</a:t>
            </a:r>
            <a:r>
              <a:rPr lang="en-US" sz="2600" u="sng">
                <a:latin typeface="Consolas" pitchFamily="49" charset="0"/>
                <a:ea typeface="Arial-Rounded" pitchFamily="34" charset="0"/>
                <a:cs typeface="Tahoma" pitchFamily="34" charset="0"/>
              </a:rPr>
              <a:t>VTW</a:t>
            </a:r>
            <a:r>
              <a:rPr lang="en-US" sz="2600">
                <a:latin typeface="Consolas" pitchFamily="49" charset="0"/>
                <a:ea typeface="Arial-Rounded" pitchFamily="34" charset="0"/>
                <a:cs typeface="Tahoma" pitchFamily="34" charset="0"/>
              </a:rPr>
              <a:t>AVZHCQYGLMGJ</a:t>
            </a:r>
          </a:p>
          <a:p>
            <a:pPr marL="0" lvl="1">
              <a:lnSpc>
                <a:spcPct val="120000"/>
              </a:lnSpc>
              <a:spcBef>
                <a:spcPts val="600"/>
              </a:spcBef>
              <a:defRPr/>
            </a:pPr>
            <a:endParaRPr lang="en-US" sz="2600">
              <a:latin typeface="Consolas" pitchFamily="49" charset="0"/>
              <a:ea typeface="Arial-Rounded" pitchFamily="34" charset="0"/>
              <a:cs typeface="Tahoma" pitchFamily="34" charset="0"/>
            </a:endParaRPr>
          </a:p>
          <a:p>
            <a:pPr lvl="1" indent="-457200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Phỏng đoán chiều dài của khóa (ví dụ trên: 9)</a:t>
            </a:r>
          </a:p>
          <a:p>
            <a:pPr lvl="1" indent="-457200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Phân tích tần suất theo từng ký tự trong khóa. Thực hiện theo các bộ (1, 10, 19, 28,…) – (2, 11, 20, 29) –</a:t>
            </a:r>
          </a:p>
          <a:p>
            <a:pPr marL="0" lvl="1">
              <a:lnSpc>
                <a:spcPct val="120000"/>
              </a:lnSpc>
              <a:spcBef>
                <a:spcPts val="600"/>
              </a:spcBef>
              <a:defRPr/>
            </a:pPr>
            <a:endParaRPr lang="en-US" sz="2600">
              <a:latin typeface="Tahoma" pitchFamily="34" charset="0"/>
              <a:ea typeface="Arial-Rounded" pitchFamily="34" charset="0"/>
              <a:cs typeface="Tahoma" pitchFamily="34" charset="0"/>
              <a:sym typeface="Wingdings" pitchFamily="2" charset="2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sz="26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Để an toàn khóa phải dài, không lặp lại.</a:t>
            </a:r>
            <a:endParaRPr lang="en-US" sz="26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  <a:defRPr/>
            </a:pPr>
            <a:endParaRPr lang="en-US" sz="26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  <a:defRPr/>
            </a:pPr>
            <a:endParaRPr lang="en-US" sz="26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  <a:defRPr/>
            </a:pPr>
            <a:endParaRPr lang="en-US" sz="26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  <a:defRPr/>
            </a:pPr>
            <a:endParaRPr lang="en-US" sz="26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457200" indent="-457200">
              <a:lnSpc>
                <a:spcPct val="11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457200" indent="-457200">
              <a:lnSpc>
                <a:spcPct val="11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56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Máy ENIGMA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143000"/>
            <a:ext cx="5029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6691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V. Mã hóa hoán vị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447800"/>
            <a:ext cx="8382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800" u="sng">
                <a:solidFill>
                  <a:srgbClr val="00B050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Nguyên tắc</a:t>
            </a:r>
            <a:r>
              <a:rPr lang="en-US" sz="2800">
                <a:solidFill>
                  <a:srgbClr val="00B050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: </a:t>
            </a: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xáo trộn vị trí các chữ cái trong bản rõ</a:t>
            </a: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  <a:sym typeface="Wingdings" pitchFamily="2" charset="2"/>
            </a:endParaRP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400">
                <a:solidFill>
                  <a:srgbClr val="00B050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Ví dụ: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bản rõ “</a:t>
            </a:r>
            <a:r>
              <a:rPr lang="en-US" sz="2400">
                <a:latin typeface="Consolas" pitchFamily="49" charset="0"/>
                <a:ea typeface="Arial-Rounded" pitchFamily="34" charset="0"/>
                <a:cs typeface="Tahoma" pitchFamily="34" charset="0"/>
              </a:rPr>
              <a:t>we are discovered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”</a:t>
            </a: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000" y="3429000"/>
            <a:ext cx="1981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latin typeface="Consolas" pitchFamily="49" charset="0"/>
              </a:rPr>
              <a:t>w e a r e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d i s c o  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v e r e d</a:t>
            </a:r>
          </a:p>
        </p:txBody>
      </p:sp>
      <p:sp>
        <p:nvSpPr>
          <p:cNvPr id="7" name="Freeform 6"/>
          <p:cNvSpPr/>
          <p:nvPr/>
        </p:nvSpPr>
        <p:spPr>
          <a:xfrm>
            <a:off x="3962400" y="3581400"/>
            <a:ext cx="1371600" cy="990600"/>
          </a:xfrm>
          <a:custGeom>
            <a:avLst/>
            <a:gdLst>
              <a:gd name="connsiteX0" fmla="*/ 0 w 1050878"/>
              <a:gd name="connsiteY0" fmla="*/ 40943 h 873456"/>
              <a:gd name="connsiteX1" fmla="*/ 0 w 1050878"/>
              <a:gd name="connsiteY1" fmla="*/ 873456 h 873456"/>
              <a:gd name="connsiteX2" fmla="*/ 245660 w 1050878"/>
              <a:gd name="connsiteY2" fmla="*/ 27295 h 873456"/>
              <a:gd name="connsiteX3" fmla="*/ 245660 w 1050878"/>
              <a:gd name="connsiteY3" fmla="*/ 859809 h 873456"/>
              <a:gd name="connsiteX4" fmla="*/ 504967 w 1050878"/>
              <a:gd name="connsiteY4" fmla="*/ 13647 h 873456"/>
              <a:gd name="connsiteX5" fmla="*/ 504967 w 1050878"/>
              <a:gd name="connsiteY5" fmla="*/ 859809 h 873456"/>
              <a:gd name="connsiteX6" fmla="*/ 777922 w 1050878"/>
              <a:gd name="connsiteY6" fmla="*/ 13647 h 873456"/>
              <a:gd name="connsiteX7" fmla="*/ 777922 w 1050878"/>
              <a:gd name="connsiteY7" fmla="*/ 846161 h 873456"/>
              <a:gd name="connsiteX8" fmla="*/ 1050878 w 1050878"/>
              <a:gd name="connsiteY8" fmla="*/ 0 h 873456"/>
              <a:gd name="connsiteX9" fmla="*/ 1050878 w 1050878"/>
              <a:gd name="connsiteY9" fmla="*/ 832513 h 873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0878" h="873456">
                <a:moveTo>
                  <a:pt x="0" y="40943"/>
                </a:moveTo>
                <a:lnTo>
                  <a:pt x="0" y="873456"/>
                </a:lnTo>
                <a:lnTo>
                  <a:pt x="245660" y="27295"/>
                </a:lnTo>
                <a:lnTo>
                  <a:pt x="245660" y="859809"/>
                </a:lnTo>
                <a:lnTo>
                  <a:pt x="504967" y="13647"/>
                </a:lnTo>
                <a:lnTo>
                  <a:pt x="504967" y="859809"/>
                </a:lnTo>
                <a:lnTo>
                  <a:pt x="777922" y="13647"/>
                </a:lnTo>
                <a:lnTo>
                  <a:pt x="777922" y="846161"/>
                </a:lnTo>
                <a:lnTo>
                  <a:pt x="1050878" y="0"/>
                </a:lnTo>
                <a:lnTo>
                  <a:pt x="1050878" y="832513"/>
                </a:lnTo>
              </a:path>
            </a:pathLst>
          </a:custGeom>
          <a:ln>
            <a:solidFill>
              <a:schemeClr val="tx1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33400" y="5181600"/>
            <a:ext cx="472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bản mã “</a:t>
            </a:r>
            <a:r>
              <a:rPr lang="en-US" sz="2400">
                <a:latin typeface="Consolas" pitchFamily="49" charset="0"/>
                <a:ea typeface="Arial-Rounded" pitchFamily="34" charset="0"/>
                <a:cs typeface="Tahoma" pitchFamily="34" charset="0"/>
              </a:rPr>
              <a:t>WDVEIEASRRCEEOD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”</a:t>
            </a: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71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52F897-7B31-4D14-9974-AA73B816231B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21507" name="Rectangle 3"/>
          <p:cNvSpPr txBox="1">
            <a:spLocks noChangeArrowheads="1"/>
          </p:cNvSpPr>
          <p:nvPr/>
        </p:nvSpPr>
        <p:spPr bwMode="auto">
          <a:xfrm>
            <a:off x="533400" y="1371600"/>
            <a:ext cx="8382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u="sng">
                <a:solidFill>
                  <a:srgbClr val="00B050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Cải tiến</a:t>
            </a:r>
            <a:r>
              <a:rPr lang="en-US" sz="2400">
                <a:solidFill>
                  <a:srgbClr val="00B050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: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dùng một khóa để hoán vị các cột trước khi kết xuất bản mã.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  <a:sym typeface="Wingdings" pitchFamily="2" charset="2"/>
            </a:endParaRPr>
          </a:p>
          <a:p>
            <a:pPr eaLnBrk="1" hangingPunct="1">
              <a:lnSpc>
                <a:spcPct val="11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400">
                <a:solidFill>
                  <a:srgbClr val="00B050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Khóa: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QUITE</a:t>
            </a:r>
          </a:p>
          <a:p>
            <a:pPr eaLnBrk="1" hangingPunct="1">
              <a:lnSpc>
                <a:spcPct val="11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21508" name="TextBox 4"/>
          <p:cNvSpPr txBox="1">
            <a:spLocks noChangeArrowheads="1"/>
          </p:cNvSpPr>
          <p:nvPr/>
        </p:nvSpPr>
        <p:spPr bwMode="auto">
          <a:xfrm>
            <a:off x="1905000" y="3505200"/>
            <a:ext cx="1981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0000"/>
                </a:solidFill>
                <a:latin typeface="Consolas" pitchFamily="49" charset="0"/>
              </a:rPr>
              <a:t>Q U I T E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w e a r e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d i s c o  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v e r e d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33400" y="5504597"/>
            <a:ext cx="472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bản mã “</a:t>
            </a:r>
            <a:r>
              <a:rPr lang="en-US" sz="2400">
                <a:latin typeface="Consolas" pitchFamily="49" charset="0"/>
                <a:ea typeface="Arial-Rounded" pitchFamily="34" charset="0"/>
                <a:cs typeface="Tahoma" pitchFamily="34" charset="0"/>
              </a:rPr>
              <a:t>EODASRWDVRCEEIE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”</a:t>
            </a: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21510" name="TextBox 9"/>
          <p:cNvSpPr txBox="1">
            <a:spLocks noChangeArrowheads="1"/>
          </p:cNvSpPr>
          <p:nvPr/>
        </p:nvSpPr>
        <p:spPr bwMode="auto">
          <a:xfrm>
            <a:off x="5257800" y="3505200"/>
            <a:ext cx="2667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0000"/>
                </a:solidFill>
                <a:latin typeface="Consolas" pitchFamily="49" charset="0"/>
              </a:rPr>
              <a:t>E I Q T U 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e a w r e 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o s d c i   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d r v e e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962400" y="4267200"/>
            <a:ext cx="838200" cy="1588"/>
          </a:xfrm>
          <a:prstGeom prst="straightConnector1">
            <a:avLst/>
          </a:prstGeom>
          <a:ln w="76200" cmpd="dbl">
            <a:solidFill>
              <a:schemeClr val="tx1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48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0DE259-AC17-43FD-8446-48EDD63544FF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22531" name="Rectangle 3"/>
          <p:cNvSpPr txBox="1">
            <a:spLocks noChangeArrowheads="1"/>
          </p:cNvSpPr>
          <p:nvPr/>
        </p:nvSpPr>
        <p:spPr bwMode="auto">
          <a:xfrm>
            <a:off x="453788" y="1524000"/>
            <a:ext cx="8382000" cy="619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solidFill>
                  <a:srgbClr val="00B050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Hoán vị hai lần: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bản mã được mã hóa thêm một lần nữa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  <a:sym typeface="Wingdings" pitchFamily="2" charset="2"/>
            </a:endParaRPr>
          </a:p>
          <a:p>
            <a:pPr eaLnBrk="1" hangingPunct="1">
              <a:lnSpc>
                <a:spcPct val="11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1905000" y="2895600"/>
            <a:ext cx="1981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0000"/>
                </a:solidFill>
                <a:latin typeface="Consolas" pitchFamily="49" charset="0"/>
              </a:rPr>
              <a:t>Q U I T E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e o d a s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r w d v r  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c e e i e</a:t>
            </a:r>
          </a:p>
        </p:txBody>
      </p:sp>
      <p:sp>
        <p:nvSpPr>
          <p:cNvPr id="22533" name="Rectangle 3"/>
          <p:cNvSpPr txBox="1">
            <a:spLocks noChangeArrowheads="1"/>
          </p:cNvSpPr>
          <p:nvPr/>
        </p:nvSpPr>
        <p:spPr bwMode="auto">
          <a:xfrm>
            <a:off x="498143" y="5181600"/>
            <a:ext cx="472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bản mã “</a:t>
            </a:r>
            <a:r>
              <a:rPr lang="en-US" sz="2400">
                <a:latin typeface="Consolas" pitchFamily="49" charset="0"/>
                <a:ea typeface="Arial-Rounded" pitchFamily="34" charset="0"/>
                <a:cs typeface="Tahoma" pitchFamily="34" charset="0"/>
              </a:rPr>
              <a:t>SREDDEERCAVIOWE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”</a:t>
            </a:r>
          </a:p>
          <a:p>
            <a:pPr eaLnBrk="1" hangingPunct="1">
              <a:lnSpc>
                <a:spcPct val="110000"/>
              </a:lnSpc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22534" name="TextBox 9"/>
          <p:cNvSpPr txBox="1">
            <a:spLocks noChangeArrowheads="1"/>
          </p:cNvSpPr>
          <p:nvPr/>
        </p:nvSpPr>
        <p:spPr bwMode="auto">
          <a:xfrm>
            <a:off x="5257800" y="2895600"/>
            <a:ext cx="2438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0000"/>
                </a:solidFill>
                <a:latin typeface="Consolas" pitchFamily="49" charset="0"/>
              </a:rPr>
              <a:t>E I Q T U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s d e a o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r d r v w  </a:t>
            </a:r>
          </a:p>
          <a:p>
            <a:pPr eaLnBrk="1" hangingPunct="1"/>
            <a:r>
              <a:rPr lang="en-US" sz="2400">
                <a:latin typeface="Consolas" pitchFamily="49" charset="0"/>
              </a:rPr>
              <a:t>e e c i e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962400" y="3657600"/>
            <a:ext cx="838200" cy="1588"/>
          </a:xfrm>
          <a:prstGeom prst="straightConnector1">
            <a:avLst/>
          </a:prstGeom>
          <a:ln w="76200" cmpd="dbl">
            <a:solidFill>
              <a:schemeClr val="tx1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227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VI. Các trường hợp phá mã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663575"/>
          </a:xfrm>
        </p:spPr>
        <p:txBody>
          <a:bodyPr/>
          <a:lstStyle/>
          <a:p>
            <a:r>
              <a:rPr lang="en-US"/>
              <a:t>Chỉ biết bản mã (ciphertext-only)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105400" y="2980898"/>
            <a:ext cx="3048000" cy="2124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Người phá mã chỉ biết  C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1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, C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2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,…, C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n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 , dùng phá mã vét cạn khóa, phân tích tần suất.</a:t>
            </a:r>
          </a:p>
        </p:txBody>
      </p: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1600200" y="2371299"/>
            <a:ext cx="2438400" cy="2209800"/>
            <a:chOff x="3124200" y="3581400"/>
            <a:chExt cx="2438400" cy="2209800"/>
          </a:xfrm>
        </p:grpSpPr>
        <p:sp>
          <p:nvSpPr>
            <p:cNvPr id="7" name="Rectangle 3"/>
            <p:cNvSpPr txBox="1">
              <a:spLocks noChangeArrowheads="1"/>
            </p:cNvSpPr>
            <p:nvPr/>
          </p:nvSpPr>
          <p:spPr bwMode="auto">
            <a:xfrm>
              <a:off x="3124200" y="3733800"/>
              <a:ext cx="2438400" cy="2057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lvl="1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2800">
                  <a:latin typeface="+mn-lt"/>
                  <a:ea typeface="Arial-Rounded" pitchFamily="34" charset="0"/>
                  <a:cs typeface="Tahoma" pitchFamily="34" charset="0"/>
                </a:rPr>
                <a:t>P</a:t>
              </a:r>
              <a:r>
                <a:rPr lang="en-US" sz="2800" baseline="-25000">
                  <a:latin typeface="+mn-lt"/>
                  <a:ea typeface="Arial-Rounded" pitchFamily="34" charset="0"/>
                  <a:cs typeface="Tahoma" pitchFamily="34" charset="0"/>
                </a:rPr>
                <a:t>1 </a:t>
              </a:r>
              <a:r>
                <a:rPr lang="en-US" sz="2800">
                  <a:latin typeface="+mn-lt"/>
                  <a:ea typeface="Arial-Rounded" pitchFamily="34" charset="0"/>
                  <a:cs typeface="Tahoma" pitchFamily="34" charset="0"/>
                </a:rPr>
                <a:t>          C</a:t>
              </a:r>
              <a:r>
                <a:rPr lang="en-US" sz="2800" baseline="-25000">
                  <a:latin typeface="+mn-lt"/>
                  <a:ea typeface="Arial-Rounded" pitchFamily="34" charset="0"/>
                  <a:cs typeface="Tahoma" pitchFamily="34" charset="0"/>
                </a:rPr>
                <a:t>1</a:t>
              </a:r>
            </a:p>
            <a:p>
              <a:pPr marL="0" lvl="1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2800">
                  <a:latin typeface="+mn-lt"/>
                  <a:ea typeface="Arial-Rounded" pitchFamily="34" charset="0"/>
                  <a:cs typeface="Tahoma" pitchFamily="34" charset="0"/>
                </a:rPr>
                <a:t>P</a:t>
              </a:r>
              <a:r>
                <a:rPr lang="en-US" sz="2800" baseline="-25000">
                  <a:latin typeface="+mn-lt"/>
                  <a:ea typeface="Arial-Rounded" pitchFamily="34" charset="0"/>
                  <a:cs typeface="Tahoma" pitchFamily="34" charset="0"/>
                </a:rPr>
                <a:t>2 </a:t>
              </a:r>
              <a:r>
                <a:rPr lang="en-US" sz="2800">
                  <a:latin typeface="+mn-lt"/>
                  <a:ea typeface="Arial-Rounded" pitchFamily="34" charset="0"/>
                  <a:cs typeface="Tahoma" pitchFamily="34" charset="0"/>
                </a:rPr>
                <a:t>          C</a:t>
              </a:r>
              <a:r>
                <a:rPr lang="en-US" sz="2800" baseline="-25000">
                  <a:latin typeface="+mn-lt"/>
                  <a:ea typeface="Arial-Rounded" pitchFamily="34" charset="0"/>
                  <a:cs typeface="Tahoma" pitchFamily="34" charset="0"/>
                </a:rPr>
                <a:t>2</a:t>
              </a:r>
            </a:p>
            <a:p>
              <a:pPr marL="0" lvl="1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2800">
                  <a:latin typeface="+mn-lt"/>
                  <a:ea typeface="Arial-Rounded" pitchFamily="34" charset="0"/>
                  <a:cs typeface="Tahoma" pitchFamily="34" charset="0"/>
                </a:rPr>
                <a:t>…           …</a:t>
              </a:r>
            </a:p>
            <a:p>
              <a:pPr marL="0" lvl="1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2800">
                  <a:latin typeface="+mn-lt"/>
                  <a:ea typeface="Arial-Rounded" pitchFamily="34" charset="0"/>
                  <a:cs typeface="Tahoma" pitchFamily="34" charset="0"/>
                </a:rPr>
                <a:t>P</a:t>
              </a:r>
              <a:r>
                <a:rPr lang="en-US" sz="2800" baseline="-25000">
                  <a:latin typeface="+mn-lt"/>
                  <a:ea typeface="Arial-Rounded" pitchFamily="34" charset="0"/>
                  <a:cs typeface="Tahoma" pitchFamily="34" charset="0"/>
                </a:rPr>
                <a:t>n </a:t>
              </a:r>
              <a:r>
                <a:rPr lang="en-US" sz="2800">
                  <a:latin typeface="+mn-lt"/>
                  <a:ea typeface="Arial-Rounded" pitchFamily="34" charset="0"/>
                  <a:cs typeface="Tahoma" pitchFamily="34" charset="0"/>
                </a:rPr>
                <a:t>          C</a:t>
              </a:r>
              <a:r>
                <a:rPr lang="en-US" sz="2800" baseline="-25000">
                  <a:latin typeface="+mn-lt"/>
                  <a:ea typeface="Arial-Rounded" pitchFamily="34" charset="0"/>
                  <a:cs typeface="Tahoma" pitchFamily="34" charset="0"/>
                </a:rPr>
                <a:t>n</a:t>
              </a:r>
            </a:p>
            <a:p>
              <a:pPr marL="0" lvl="1">
                <a:lnSpc>
                  <a:spcPct val="120000"/>
                </a:lnSpc>
                <a:spcBef>
                  <a:spcPts val="600"/>
                </a:spcBef>
                <a:defRPr/>
              </a:pPr>
              <a:endParaRPr lang="en-US" sz="2800" baseline="-25000">
                <a:latin typeface="+mn-lt"/>
                <a:ea typeface="Arial-Rounded" pitchFamily="34" charset="0"/>
                <a:cs typeface="Tahoma" pitchFamily="34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3733800" y="4038600"/>
              <a:ext cx="990600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3733800" y="4572000"/>
              <a:ext cx="990600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3733800" y="5561013"/>
              <a:ext cx="990600" cy="15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3"/>
            <p:cNvSpPr txBox="1">
              <a:spLocks noChangeArrowheads="1"/>
            </p:cNvSpPr>
            <p:nvPr/>
          </p:nvSpPr>
          <p:spPr bwMode="auto">
            <a:xfrm>
              <a:off x="3657600" y="3581400"/>
              <a:ext cx="1219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lvl="1" eaLnBrk="1" hangingPunct="1">
                <a:lnSpc>
                  <a:spcPct val="120000"/>
                </a:lnSpc>
                <a:spcBef>
                  <a:spcPts val="600"/>
                </a:spcBef>
              </a:pPr>
              <a:r>
                <a:rPr lang="en-US" sz="2000">
                  <a:latin typeface="Tahoma" pitchFamily="34" charset="0"/>
                  <a:ea typeface="Arial-Rounded" pitchFamily="34" charset="0"/>
                  <a:cs typeface="Tahoma" pitchFamily="34" charset="0"/>
                </a:rPr>
                <a:t>mã hóa</a:t>
              </a:r>
            </a:p>
            <a:p>
              <a:pPr eaLnBrk="1" hangingPunct="1">
                <a:lnSpc>
                  <a:spcPct val="110000"/>
                </a:lnSpc>
              </a:pPr>
              <a:endParaRPr lang="en-US" sz="2000">
                <a:latin typeface="Tahoma" pitchFamily="34" charset="0"/>
                <a:ea typeface="Arial-Rounded" pitchFamily="34" charset="0"/>
                <a:cs typeface="Tahoma" pitchFamily="34" charset="0"/>
              </a:endParaRPr>
            </a:p>
            <a:p>
              <a:pPr eaLnBrk="1" hangingPunct="1">
                <a:lnSpc>
                  <a:spcPct val="110000"/>
                </a:lnSpc>
              </a:pPr>
              <a:endParaRPr lang="en-US" sz="2000">
                <a:latin typeface="Tahoma" pitchFamily="34" charset="0"/>
                <a:ea typeface="Arial-Rounded" pitchFamily="34" charset="0"/>
                <a:cs typeface="Tahoma" pitchFamily="34" charset="0"/>
              </a:endParaRPr>
            </a:p>
          </p:txBody>
        </p:sp>
      </p:grpSp>
      <p:sp>
        <p:nvSpPr>
          <p:cNvPr id="12" name="Oval 11"/>
          <p:cNvSpPr/>
          <p:nvPr/>
        </p:nvSpPr>
        <p:spPr bwMode="auto">
          <a:xfrm>
            <a:off x="3048000" y="2447499"/>
            <a:ext cx="990600" cy="2362200"/>
          </a:xfrm>
          <a:prstGeom prst="ellipse">
            <a:avLst/>
          </a:prstGeom>
          <a:noFill/>
          <a:ln w="63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219200" y="4885899"/>
            <a:ext cx="3048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algn="ctr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mã hóa dùng chung một khóa K</a:t>
            </a:r>
          </a:p>
        </p:txBody>
      </p:sp>
    </p:spTree>
    <p:extLst>
      <p:ext uri="{BB962C8B-B14F-4D97-AF65-F5344CB8AC3E}">
        <p14:creationId xmlns:p14="http://schemas.microsoft.com/office/powerpoint/2010/main" val="19127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1120775"/>
          </a:xfrm>
        </p:spPr>
        <p:txBody>
          <a:bodyPr/>
          <a:lstStyle/>
          <a:p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Biết một số cặp bản rõ – bản mã (known-plaintext)</a:t>
            </a:r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200400" y="2305050"/>
            <a:ext cx="2667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P</a:t>
            </a:r>
            <a:r>
              <a:rPr lang="en-US" sz="2800" baseline="-25000">
                <a:latin typeface="+mn-lt"/>
                <a:ea typeface="Arial-Rounded" pitchFamily="34" charset="0"/>
                <a:cs typeface="Tahoma" pitchFamily="34" charset="0"/>
              </a:rPr>
              <a:t>1</a:t>
            </a: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           C</a:t>
            </a:r>
            <a:r>
              <a:rPr lang="en-US" sz="2800" baseline="-25000">
                <a:latin typeface="+mn-lt"/>
                <a:ea typeface="Arial-Rounded" pitchFamily="34" charset="0"/>
                <a:cs typeface="Tahoma" pitchFamily="34" charset="0"/>
              </a:rPr>
              <a:t>1</a:t>
            </a:r>
          </a:p>
          <a:p>
            <a:pPr marL="0"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P</a:t>
            </a:r>
            <a:r>
              <a:rPr lang="en-US" sz="2800" baseline="-25000">
                <a:latin typeface="+mn-lt"/>
                <a:ea typeface="Arial-Rounded" pitchFamily="34" charset="0"/>
                <a:cs typeface="Tahoma" pitchFamily="34" charset="0"/>
              </a:rPr>
              <a:t>2</a:t>
            </a: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           C</a:t>
            </a:r>
            <a:r>
              <a:rPr lang="en-US" sz="2800" baseline="-25000">
                <a:latin typeface="+mn-lt"/>
                <a:ea typeface="Arial-Rounded" pitchFamily="34" charset="0"/>
                <a:cs typeface="Tahoma" pitchFamily="34" charset="0"/>
              </a:rPr>
              <a:t>2</a:t>
            </a:r>
          </a:p>
          <a:p>
            <a:pPr marL="0"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…            …</a:t>
            </a:r>
          </a:p>
          <a:p>
            <a:pPr marL="0"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P</a:t>
            </a:r>
            <a:r>
              <a:rPr lang="en-US" sz="2800" baseline="-25000">
                <a:latin typeface="+mn-lt"/>
                <a:ea typeface="Arial-Rounded" pitchFamily="34" charset="0"/>
                <a:cs typeface="Tahoma" pitchFamily="34" charset="0"/>
              </a:rPr>
              <a:t>n+1</a:t>
            </a: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        C</a:t>
            </a:r>
            <a:r>
              <a:rPr lang="en-US" sz="2800" baseline="-25000">
                <a:latin typeface="+mn-lt"/>
                <a:ea typeface="Arial-Rounded" pitchFamily="34" charset="0"/>
                <a:cs typeface="Tahoma" pitchFamily="34" charset="0"/>
              </a:rPr>
              <a:t>n+1</a:t>
            </a:r>
          </a:p>
          <a:p>
            <a:pPr marL="0" lvl="1">
              <a:lnSpc>
                <a:spcPct val="120000"/>
              </a:lnSpc>
              <a:spcBef>
                <a:spcPts val="600"/>
              </a:spcBef>
              <a:defRPr/>
            </a:pPr>
            <a:endParaRPr lang="en-US" sz="2800" baseline="-25000">
              <a:latin typeface="+mn-lt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3003550" y="2133600"/>
            <a:ext cx="2787650" cy="2533650"/>
          </a:xfrm>
          <a:custGeom>
            <a:avLst/>
            <a:gdLst>
              <a:gd name="connsiteX0" fmla="*/ 291152 w 2479343"/>
              <a:gd name="connsiteY0" fmla="*/ 163773 h 2533934"/>
              <a:gd name="connsiteX1" fmla="*/ 86436 w 2479343"/>
              <a:gd name="connsiteY1" fmla="*/ 300250 h 2533934"/>
              <a:gd name="connsiteX2" fmla="*/ 4549 w 2479343"/>
              <a:gd name="connsiteY2" fmla="*/ 777922 h 2533934"/>
              <a:gd name="connsiteX3" fmla="*/ 113731 w 2479343"/>
              <a:gd name="connsiteY3" fmla="*/ 1269241 h 2533934"/>
              <a:gd name="connsiteX4" fmla="*/ 359391 w 2479343"/>
              <a:gd name="connsiteY4" fmla="*/ 1364776 h 2533934"/>
              <a:gd name="connsiteX5" fmla="*/ 1014483 w 2479343"/>
              <a:gd name="connsiteY5" fmla="*/ 1392071 h 2533934"/>
              <a:gd name="connsiteX6" fmla="*/ 1423916 w 2479343"/>
              <a:gd name="connsiteY6" fmla="*/ 1405719 h 2533934"/>
              <a:gd name="connsiteX7" fmla="*/ 1587689 w 2479343"/>
              <a:gd name="connsiteY7" fmla="*/ 1487606 h 2533934"/>
              <a:gd name="connsiteX8" fmla="*/ 1751462 w 2479343"/>
              <a:gd name="connsiteY8" fmla="*/ 1774209 h 2533934"/>
              <a:gd name="connsiteX9" fmla="*/ 1751462 w 2479343"/>
              <a:gd name="connsiteY9" fmla="*/ 2210937 h 2533934"/>
              <a:gd name="connsiteX10" fmla="*/ 1983474 w 2479343"/>
              <a:gd name="connsiteY10" fmla="*/ 2497540 h 2533934"/>
              <a:gd name="connsiteX11" fmla="*/ 2324668 w 2479343"/>
              <a:gd name="connsiteY11" fmla="*/ 2429301 h 2533934"/>
              <a:gd name="connsiteX12" fmla="*/ 2406555 w 2479343"/>
              <a:gd name="connsiteY12" fmla="*/ 2101755 h 2533934"/>
              <a:gd name="connsiteX13" fmla="*/ 2461146 w 2479343"/>
              <a:gd name="connsiteY13" fmla="*/ 1269241 h 2533934"/>
              <a:gd name="connsiteX14" fmla="*/ 2420203 w 2479343"/>
              <a:gd name="connsiteY14" fmla="*/ 477671 h 2533934"/>
              <a:gd name="connsiteX15" fmla="*/ 2106304 w 2479343"/>
              <a:gd name="connsiteY15" fmla="*/ 191068 h 2533934"/>
              <a:gd name="connsiteX16" fmla="*/ 1342030 w 2479343"/>
              <a:gd name="connsiteY16" fmla="*/ 27295 h 2533934"/>
              <a:gd name="connsiteX17" fmla="*/ 673289 w 2479343"/>
              <a:gd name="connsiteY17" fmla="*/ 27295 h 2533934"/>
              <a:gd name="connsiteX18" fmla="*/ 291152 w 2479343"/>
              <a:gd name="connsiteY18" fmla="*/ 163773 h 253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79343" h="2533934">
                <a:moveTo>
                  <a:pt x="291152" y="163773"/>
                </a:moveTo>
                <a:cubicBezTo>
                  <a:pt x="193343" y="209266"/>
                  <a:pt x="134203" y="197892"/>
                  <a:pt x="86436" y="300250"/>
                </a:cubicBezTo>
                <a:cubicBezTo>
                  <a:pt x="38669" y="402608"/>
                  <a:pt x="0" y="616424"/>
                  <a:pt x="4549" y="777922"/>
                </a:cubicBezTo>
                <a:cubicBezTo>
                  <a:pt x="9098" y="939420"/>
                  <a:pt x="54591" y="1171432"/>
                  <a:pt x="113731" y="1269241"/>
                </a:cubicBezTo>
                <a:cubicBezTo>
                  <a:pt x="172871" y="1367050"/>
                  <a:pt x="209266" y="1344304"/>
                  <a:pt x="359391" y="1364776"/>
                </a:cubicBezTo>
                <a:cubicBezTo>
                  <a:pt x="509516" y="1385248"/>
                  <a:pt x="1014483" y="1392071"/>
                  <a:pt x="1014483" y="1392071"/>
                </a:cubicBezTo>
                <a:cubicBezTo>
                  <a:pt x="1191904" y="1398895"/>
                  <a:pt x="1328382" y="1389797"/>
                  <a:pt x="1423916" y="1405719"/>
                </a:cubicBezTo>
                <a:cubicBezTo>
                  <a:pt x="1519450" y="1421641"/>
                  <a:pt x="1533098" y="1426191"/>
                  <a:pt x="1587689" y="1487606"/>
                </a:cubicBezTo>
                <a:cubicBezTo>
                  <a:pt x="1642280" y="1549021"/>
                  <a:pt x="1724167" y="1653654"/>
                  <a:pt x="1751462" y="1774209"/>
                </a:cubicBezTo>
                <a:cubicBezTo>
                  <a:pt x="1778757" y="1894764"/>
                  <a:pt x="1712793" y="2090382"/>
                  <a:pt x="1751462" y="2210937"/>
                </a:cubicBezTo>
                <a:cubicBezTo>
                  <a:pt x="1790131" y="2331492"/>
                  <a:pt x="1887940" y="2461146"/>
                  <a:pt x="1983474" y="2497540"/>
                </a:cubicBezTo>
                <a:cubicBezTo>
                  <a:pt x="2079008" y="2533934"/>
                  <a:pt x="2254155" y="2495265"/>
                  <a:pt x="2324668" y="2429301"/>
                </a:cubicBezTo>
                <a:cubicBezTo>
                  <a:pt x="2395181" y="2363337"/>
                  <a:pt x="2383809" y="2295098"/>
                  <a:pt x="2406555" y="2101755"/>
                </a:cubicBezTo>
                <a:cubicBezTo>
                  <a:pt x="2429301" y="1908412"/>
                  <a:pt x="2458871" y="1539922"/>
                  <a:pt x="2461146" y="1269241"/>
                </a:cubicBezTo>
                <a:cubicBezTo>
                  <a:pt x="2463421" y="998560"/>
                  <a:pt x="2479343" y="657367"/>
                  <a:pt x="2420203" y="477671"/>
                </a:cubicBezTo>
                <a:cubicBezTo>
                  <a:pt x="2361063" y="297975"/>
                  <a:pt x="2286000" y="266131"/>
                  <a:pt x="2106304" y="191068"/>
                </a:cubicBezTo>
                <a:cubicBezTo>
                  <a:pt x="1926609" y="116005"/>
                  <a:pt x="1580866" y="54590"/>
                  <a:pt x="1342030" y="27295"/>
                </a:cubicBezTo>
                <a:cubicBezTo>
                  <a:pt x="1103194" y="0"/>
                  <a:pt x="855259" y="4549"/>
                  <a:pt x="673289" y="27295"/>
                </a:cubicBezTo>
                <a:cubicBezTo>
                  <a:pt x="491319" y="50041"/>
                  <a:pt x="388961" y="118281"/>
                  <a:pt x="291152" y="163773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990600" y="5200650"/>
            <a:ext cx="7543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Người phá mã biết các cặp 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P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1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,C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)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, 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P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2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,C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), … , (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P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n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,C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n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)</a:t>
            </a:r>
            <a:endParaRPr lang="en-US" sz="2400" i="1" baseline="-25000">
              <a:latin typeface="Times New Roman" pitchFamily="18" charset="0"/>
              <a:ea typeface="Arial-Rounded" pitchFamily="34" charset="0"/>
              <a:cs typeface="Times New Roman" pitchFamily="18" charset="0"/>
            </a:endParaRP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=&gt; tính được khóa K</a:t>
            </a:r>
            <a:endParaRPr lang="en-US" sz="2400" i="1" baseline="-25000">
              <a:latin typeface="Times New Roman" pitchFamily="18" charset="0"/>
              <a:ea typeface="Arial-Rounded" pitchFamily="34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826491" y="2619375"/>
            <a:ext cx="990600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826491" y="3152775"/>
            <a:ext cx="990600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826491" y="4114800"/>
            <a:ext cx="990600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944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1044575"/>
          </a:xfrm>
        </p:spPr>
        <p:txBody>
          <a:bodyPr/>
          <a:lstStyle/>
          <a:p>
            <a:r>
              <a:rPr lang="vi-VN"/>
              <a:t>Một số cặp bản rõ – bản mã được lựa chọn (chosen-plaintext):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250442" y="2446077"/>
            <a:ext cx="25908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P</a:t>
            </a:r>
            <a:r>
              <a:rPr lang="en-US" sz="2800" baseline="-25000">
                <a:latin typeface="+mn-lt"/>
                <a:ea typeface="Arial-Rounded" pitchFamily="34" charset="0"/>
                <a:cs typeface="Tahoma" pitchFamily="34" charset="0"/>
              </a:rPr>
              <a:t>1 </a:t>
            </a: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          C</a:t>
            </a:r>
            <a:r>
              <a:rPr lang="en-US" sz="2800" baseline="-25000">
                <a:latin typeface="+mn-lt"/>
                <a:ea typeface="Arial-Rounded" pitchFamily="34" charset="0"/>
                <a:cs typeface="Tahoma" pitchFamily="34" charset="0"/>
              </a:rPr>
              <a:t>1</a:t>
            </a:r>
          </a:p>
          <a:p>
            <a:pPr marL="0"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P</a:t>
            </a:r>
            <a:r>
              <a:rPr lang="en-US" sz="2800" baseline="-25000">
                <a:latin typeface="+mn-lt"/>
                <a:ea typeface="Arial-Rounded" pitchFamily="34" charset="0"/>
                <a:cs typeface="Tahoma" pitchFamily="34" charset="0"/>
              </a:rPr>
              <a:t>2 </a:t>
            </a: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          C</a:t>
            </a:r>
            <a:r>
              <a:rPr lang="en-US" sz="2800" baseline="-25000">
                <a:latin typeface="+mn-lt"/>
                <a:ea typeface="Arial-Rounded" pitchFamily="34" charset="0"/>
                <a:cs typeface="Tahoma" pitchFamily="34" charset="0"/>
              </a:rPr>
              <a:t>2</a:t>
            </a:r>
          </a:p>
          <a:p>
            <a:pPr marL="0"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…            …</a:t>
            </a:r>
          </a:p>
          <a:p>
            <a:pPr marL="0"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P</a:t>
            </a:r>
            <a:r>
              <a:rPr lang="en-US" sz="2800" baseline="-25000">
                <a:latin typeface="+mn-lt"/>
                <a:ea typeface="Arial-Rounded" pitchFamily="34" charset="0"/>
                <a:cs typeface="Tahoma" pitchFamily="34" charset="0"/>
              </a:rPr>
              <a:t>n+1</a:t>
            </a:r>
            <a:r>
              <a:rPr lang="en-US" sz="2800">
                <a:latin typeface="+mn-lt"/>
                <a:ea typeface="Arial-Rounded" pitchFamily="34" charset="0"/>
                <a:cs typeface="Tahoma" pitchFamily="34" charset="0"/>
              </a:rPr>
              <a:t>       C</a:t>
            </a:r>
            <a:r>
              <a:rPr lang="en-US" sz="2800" baseline="-25000">
                <a:latin typeface="+mn-lt"/>
                <a:ea typeface="Arial-Rounded" pitchFamily="34" charset="0"/>
                <a:cs typeface="Tahoma" pitchFamily="34" charset="0"/>
              </a:rPr>
              <a:t>n+1</a:t>
            </a:r>
          </a:p>
          <a:p>
            <a:pPr marL="0" lvl="1">
              <a:lnSpc>
                <a:spcPct val="120000"/>
              </a:lnSpc>
              <a:spcBef>
                <a:spcPts val="600"/>
              </a:spcBef>
              <a:defRPr/>
            </a:pPr>
            <a:endParaRPr lang="en-US" sz="2800" baseline="-25000">
              <a:latin typeface="+mn-lt"/>
              <a:ea typeface="Arial-Rounded" pitchFamily="34" charset="0"/>
              <a:cs typeface="Tahoma" pitchFamily="34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860042" y="2750877"/>
            <a:ext cx="990600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860042" y="3284277"/>
            <a:ext cx="990600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860042" y="4273290"/>
            <a:ext cx="990600" cy="158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3003550" y="2274627"/>
            <a:ext cx="2711450" cy="2533650"/>
          </a:xfrm>
          <a:custGeom>
            <a:avLst/>
            <a:gdLst>
              <a:gd name="connsiteX0" fmla="*/ 291152 w 2479343"/>
              <a:gd name="connsiteY0" fmla="*/ 163773 h 2533934"/>
              <a:gd name="connsiteX1" fmla="*/ 86436 w 2479343"/>
              <a:gd name="connsiteY1" fmla="*/ 300250 h 2533934"/>
              <a:gd name="connsiteX2" fmla="*/ 4549 w 2479343"/>
              <a:gd name="connsiteY2" fmla="*/ 777922 h 2533934"/>
              <a:gd name="connsiteX3" fmla="*/ 113731 w 2479343"/>
              <a:gd name="connsiteY3" fmla="*/ 1269241 h 2533934"/>
              <a:gd name="connsiteX4" fmla="*/ 359391 w 2479343"/>
              <a:gd name="connsiteY4" fmla="*/ 1364776 h 2533934"/>
              <a:gd name="connsiteX5" fmla="*/ 1014483 w 2479343"/>
              <a:gd name="connsiteY5" fmla="*/ 1392071 h 2533934"/>
              <a:gd name="connsiteX6" fmla="*/ 1423916 w 2479343"/>
              <a:gd name="connsiteY6" fmla="*/ 1405719 h 2533934"/>
              <a:gd name="connsiteX7" fmla="*/ 1587689 w 2479343"/>
              <a:gd name="connsiteY7" fmla="*/ 1487606 h 2533934"/>
              <a:gd name="connsiteX8" fmla="*/ 1751462 w 2479343"/>
              <a:gd name="connsiteY8" fmla="*/ 1774209 h 2533934"/>
              <a:gd name="connsiteX9" fmla="*/ 1751462 w 2479343"/>
              <a:gd name="connsiteY9" fmla="*/ 2210937 h 2533934"/>
              <a:gd name="connsiteX10" fmla="*/ 1983474 w 2479343"/>
              <a:gd name="connsiteY10" fmla="*/ 2497540 h 2533934"/>
              <a:gd name="connsiteX11" fmla="*/ 2324668 w 2479343"/>
              <a:gd name="connsiteY11" fmla="*/ 2429301 h 2533934"/>
              <a:gd name="connsiteX12" fmla="*/ 2406555 w 2479343"/>
              <a:gd name="connsiteY12" fmla="*/ 2101755 h 2533934"/>
              <a:gd name="connsiteX13" fmla="*/ 2461146 w 2479343"/>
              <a:gd name="connsiteY13" fmla="*/ 1269241 h 2533934"/>
              <a:gd name="connsiteX14" fmla="*/ 2420203 w 2479343"/>
              <a:gd name="connsiteY14" fmla="*/ 477671 h 2533934"/>
              <a:gd name="connsiteX15" fmla="*/ 2106304 w 2479343"/>
              <a:gd name="connsiteY15" fmla="*/ 191068 h 2533934"/>
              <a:gd name="connsiteX16" fmla="*/ 1342030 w 2479343"/>
              <a:gd name="connsiteY16" fmla="*/ 27295 h 2533934"/>
              <a:gd name="connsiteX17" fmla="*/ 673289 w 2479343"/>
              <a:gd name="connsiteY17" fmla="*/ 27295 h 2533934"/>
              <a:gd name="connsiteX18" fmla="*/ 291152 w 2479343"/>
              <a:gd name="connsiteY18" fmla="*/ 163773 h 253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79343" h="2533934">
                <a:moveTo>
                  <a:pt x="291152" y="163773"/>
                </a:moveTo>
                <a:cubicBezTo>
                  <a:pt x="193343" y="209266"/>
                  <a:pt x="134203" y="197892"/>
                  <a:pt x="86436" y="300250"/>
                </a:cubicBezTo>
                <a:cubicBezTo>
                  <a:pt x="38669" y="402608"/>
                  <a:pt x="0" y="616424"/>
                  <a:pt x="4549" y="777922"/>
                </a:cubicBezTo>
                <a:cubicBezTo>
                  <a:pt x="9098" y="939420"/>
                  <a:pt x="54591" y="1171432"/>
                  <a:pt x="113731" y="1269241"/>
                </a:cubicBezTo>
                <a:cubicBezTo>
                  <a:pt x="172871" y="1367050"/>
                  <a:pt x="209266" y="1344304"/>
                  <a:pt x="359391" y="1364776"/>
                </a:cubicBezTo>
                <a:cubicBezTo>
                  <a:pt x="509516" y="1385248"/>
                  <a:pt x="1014483" y="1392071"/>
                  <a:pt x="1014483" y="1392071"/>
                </a:cubicBezTo>
                <a:cubicBezTo>
                  <a:pt x="1191904" y="1398895"/>
                  <a:pt x="1328382" y="1389797"/>
                  <a:pt x="1423916" y="1405719"/>
                </a:cubicBezTo>
                <a:cubicBezTo>
                  <a:pt x="1519450" y="1421641"/>
                  <a:pt x="1533098" y="1426191"/>
                  <a:pt x="1587689" y="1487606"/>
                </a:cubicBezTo>
                <a:cubicBezTo>
                  <a:pt x="1642280" y="1549021"/>
                  <a:pt x="1724167" y="1653654"/>
                  <a:pt x="1751462" y="1774209"/>
                </a:cubicBezTo>
                <a:cubicBezTo>
                  <a:pt x="1778757" y="1894764"/>
                  <a:pt x="1712793" y="2090382"/>
                  <a:pt x="1751462" y="2210937"/>
                </a:cubicBezTo>
                <a:cubicBezTo>
                  <a:pt x="1790131" y="2331492"/>
                  <a:pt x="1887940" y="2461146"/>
                  <a:pt x="1983474" y="2497540"/>
                </a:cubicBezTo>
                <a:cubicBezTo>
                  <a:pt x="2079008" y="2533934"/>
                  <a:pt x="2254155" y="2495265"/>
                  <a:pt x="2324668" y="2429301"/>
                </a:cubicBezTo>
                <a:cubicBezTo>
                  <a:pt x="2395181" y="2363337"/>
                  <a:pt x="2383809" y="2295098"/>
                  <a:pt x="2406555" y="2101755"/>
                </a:cubicBezTo>
                <a:cubicBezTo>
                  <a:pt x="2429301" y="1908412"/>
                  <a:pt x="2458871" y="1539922"/>
                  <a:pt x="2461146" y="1269241"/>
                </a:cubicBezTo>
                <a:cubicBezTo>
                  <a:pt x="2463421" y="998560"/>
                  <a:pt x="2479343" y="657367"/>
                  <a:pt x="2420203" y="477671"/>
                </a:cubicBezTo>
                <a:cubicBezTo>
                  <a:pt x="2361063" y="297975"/>
                  <a:pt x="2286000" y="266131"/>
                  <a:pt x="2106304" y="191068"/>
                </a:cubicBezTo>
                <a:cubicBezTo>
                  <a:pt x="1926609" y="116005"/>
                  <a:pt x="1580866" y="54590"/>
                  <a:pt x="1342030" y="27295"/>
                </a:cubicBezTo>
                <a:cubicBezTo>
                  <a:pt x="1103194" y="0"/>
                  <a:pt x="855259" y="4549"/>
                  <a:pt x="673289" y="27295"/>
                </a:cubicBezTo>
                <a:cubicBezTo>
                  <a:pt x="491319" y="50041"/>
                  <a:pt x="388961" y="118281"/>
                  <a:pt x="291152" y="163773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943970" y="4953000"/>
            <a:ext cx="75438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Người phá mã có thể chọn P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1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, P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2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,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… , 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P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n  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và mã hóa thành  </a:t>
            </a:r>
            <a:endParaRPr lang="en-US" sz="2400" i="1" baseline="-25000">
              <a:latin typeface="Times New Roman" pitchFamily="18" charset="0"/>
              <a:ea typeface="Arial-Rounded" pitchFamily="34" charset="0"/>
              <a:cs typeface="Times New Roman" pitchFamily="18" charset="0"/>
            </a:endParaRPr>
          </a:p>
          <a:p>
            <a:pPr marL="0"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C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1 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, C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2 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,…, C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n 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dù không biết khóa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). 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Dựa trên đó, từ C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n+1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, tìm ra P</a:t>
            </a:r>
            <a:r>
              <a:rPr lang="en-US" sz="2400" i="1" baseline="-250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n+1 </a:t>
            </a:r>
          </a:p>
        </p:txBody>
      </p:sp>
    </p:spTree>
    <p:extLst>
      <p:ext uri="{BB962C8B-B14F-4D97-AF65-F5344CB8AC3E}">
        <p14:creationId xmlns:p14="http://schemas.microsoft.com/office/powerpoint/2010/main" val="4249249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Nhận xét về tính chống phá mã trong các trường hợp ciphertext-only, known-plaintext và chosen-plaintext của mã hóa cổ điển?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</p:spTree>
    <p:extLst>
      <p:ext uri="{BB962C8B-B14F-4D97-AF65-F5344CB8AC3E}">
        <p14:creationId xmlns:p14="http://schemas.microsoft.com/office/powerpoint/2010/main" val="2485547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ujiyama" pitchFamily="18" charset="0"/>
                <a:cs typeface="Fujiyama" pitchFamily="18" charset="0"/>
              </a:rPr>
              <a:t>Q &amp; 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grpSp>
        <p:nvGrpSpPr>
          <p:cNvPr id="15" name="Group 4"/>
          <p:cNvGrpSpPr>
            <a:grpSpLocks/>
          </p:cNvGrpSpPr>
          <p:nvPr/>
        </p:nvGrpSpPr>
        <p:grpSpPr bwMode="auto">
          <a:xfrm>
            <a:off x="3291579" y="2099935"/>
            <a:ext cx="2667000" cy="3352800"/>
            <a:chOff x="2208" y="768"/>
            <a:chExt cx="1170" cy="2517"/>
          </a:xfrm>
        </p:grpSpPr>
        <p:sp>
          <p:nvSpPr>
            <p:cNvPr id="16" name="AutoShape 5"/>
            <p:cNvSpPr>
              <a:spLocks noChangeAspect="1" noChangeArrowheads="1" noTextEdit="1"/>
            </p:cNvSpPr>
            <p:nvPr/>
          </p:nvSpPr>
          <p:spPr bwMode="auto">
            <a:xfrm>
              <a:off x="2208" y="768"/>
              <a:ext cx="1170" cy="2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2582" y="1093"/>
              <a:ext cx="457" cy="507"/>
            </a:xfrm>
            <a:custGeom>
              <a:avLst/>
              <a:gdLst>
                <a:gd name="T0" fmla="*/ 238 w 457"/>
                <a:gd name="T1" fmla="*/ 117 h 507"/>
                <a:gd name="T2" fmla="*/ 198 w 457"/>
                <a:gd name="T3" fmla="*/ 65 h 507"/>
                <a:gd name="T4" fmla="*/ 142 w 457"/>
                <a:gd name="T5" fmla="*/ 26 h 507"/>
                <a:gd name="T6" fmla="*/ 92 w 457"/>
                <a:gd name="T7" fmla="*/ 0 h 507"/>
                <a:gd name="T8" fmla="*/ 52 w 457"/>
                <a:gd name="T9" fmla="*/ 7 h 507"/>
                <a:gd name="T10" fmla="*/ 23 w 457"/>
                <a:gd name="T11" fmla="*/ 36 h 507"/>
                <a:gd name="T12" fmla="*/ 0 w 457"/>
                <a:gd name="T13" fmla="*/ 124 h 507"/>
                <a:gd name="T14" fmla="*/ 9 w 457"/>
                <a:gd name="T15" fmla="*/ 225 h 507"/>
                <a:gd name="T16" fmla="*/ 33 w 457"/>
                <a:gd name="T17" fmla="*/ 322 h 507"/>
                <a:gd name="T18" fmla="*/ 59 w 457"/>
                <a:gd name="T19" fmla="*/ 397 h 507"/>
                <a:gd name="T20" fmla="*/ 109 w 457"/>
                <a:gd name="T21" fmla="*/ 475 h 507"/>
                <a:gd name="T22" fmla="*/ 152 w 457"/>
                <a:gd name="T23" fmla="*/ 507 h 507"/>
                <a:gd name="T24" fmla="*/ 211 w 457"/>
                <a:gd name="T25" fmla="*/ 507 h 507"/>
                <a:gd name="T26" fmla="*/ 271 w 457"/>
                <a:gd name="T27" fmla="*/ 485 h 507"/>
                <a:gd name="T28" fmla="*/ 301 w 457"/>
                <a:gd name="T29" fmla="*/ 429 h 507"/>
                <a:gd name="T30" fmla="*/ 317 w 457"/>
                <a:gd name="T31" fmla="*/ 358 h 507"/>
                <a:gd name="T32" fmla="*/ 311 w 457"/>
                <a:gd name="T33" fmla="*/ 270 h 507"/>
                <a:gd name="T34" fmla="*/ 450 w 457"/>
                <a:gd name="T35" fmla="*/ 280 h 507"/>
                <a:gd name="T36" fmla="*/ 457 w 457"/>
                <a:gd name="T37" fmla="*/ 241 h 507"/>
                <a:gd name="T38" fmla="*/ 298 w 457"/>
                <a:gd name="T39" fmla="*/ 225 h 507"/>
                <a:gd name="T40" fmla="*/ 258 w 457"/>
                <a:gd name="T41" fmla="*/ 134 h 507"/>
                <a:gd name="T42" fmla="*/ 238 w 457"/>
                <a:gd name="T43" fmla="*/ 117 h 50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57"/>
                <a:gd name="T67" fmla="*/ 0 h 507"/>
                <a:gd name="T68" fmla="*/ 457 w 457"/>
                <a:gd name="T69" fmla="*/ 507 h 50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57" h="507">
                  <a:moveTo>
                    <a:pt x="238" y="117"/>
                  </a:moveTo>
                  <a:lnTo>
                    <a:pt x="198" y="65"/>
                  </a:lnTo>
                  <a:lnTo>
                    <a:pt x="142" y="26"/>
                  </a:lnTo>
                  <a:lnTo>
                    <a:pt x="92" y="0"/>
                  </a:lnTo>
                  <a:lnTo>
                    <a:pt x="52" y="7"/>
                  </a:lnTo>
                  <a:lnTo>
                    <a:pt x="23" y="36"/>
                  </a:lnTo>
                  <a:lnTo>
                    <a:pt x="0" y="124"/>
                  </a:lnTo>
                  <a:lnTo>
                    <a:pt x="9" y="225"/>
                  </a:lnTo>
                  <a:lnTo>
                    <a:pt x="33" y="322"/>
                  </a:lnTo>
                  <a:lnTo>
                    <a:pt x="59" y="397"/>
                  </a:lnTo>
                  <a:lnTo>
                    <a:pt x="109" y="475"/>
                  </a:lnTo>
                  <a:lnTo>
                    <a:pt x="152" y="507"/>
                  </a:lnTo>
                  <a:lnTo>
                    <a:pt x="211" y="507"/>
                  </a:lnTo>
                  <a:lnTo>
                    <a:pt x="271" y="485"/>
                  </a:lnTo>
                  <a:lnTo>
                    <a:pt x="301" y="429"/>
                  </a:lnTo>
                  <a:lnTo>
                    <a:pt x="317" y="358"/>
                  </a:lnTo>
                  <a:lnTo>
                    <a:pt x="311" y="270"/>
                  </a:lnTo>
                  <a:lnTo>
                    <a:pt x="450" y="280"/>
                  </a:lnTo>
                  <a:lnTo>
                    <a:pt x="457" y="241"/>
                  </a:lnTo>
                  <a:lnTo>
                    <a:pt x="298" y="225"/>
                  </a:lnTo>
                  <a:lnTo>
                    <a:pt x="258" y="134"/>
                  </a:lnTo>
                  <a:lnTo>
                    <a:pt x="238" y="117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7"/>
            <p:cNvSpPr>
              <a:spLocks/>
            </p:cNvSpPr>
            <p:nvPr/>
          </p:nvSpPr>
          <p:spPr bwMode="auto">
            <a:xfrm>
              <a:off x="2210" y="963"/>
              <a:ext cx="526" cy="813"/>
            </a:xfrm>
            <a:custGeom>
              <a:avLst/>
              <a:gdLst>
                <a:gd name="T0" fmla="*/ 307 w 526"/>
                <a:gd name="T1" fmla="*/ 19 h 813"/>
                <a:gd name="T2" fmla="*/ 373 w 526"/>
                <a:gd name="T3" fmla="*/ 0 h 813"/>
                <a:gd name="T4" fmla="*/ 426 w 526"/>
                <a:gd name="T5" fmla="*/ 3 h 813"/>
                <a:gd name="T6" fmla="*/ 466 w 526"/>
                <a:gd name="T7" fmla="*/ 32 h 813"/>
                <a:gd name="T8" fmla="*/ 493 w 526"/>
                <a:gd name="T9" fmla="*/ 78 h 813"/>
                <a:gd name="T10" fmla="*/ 483 w 526"/>
                <a:gd name="T11" fmla="*/ 126 h 813"/>
                <a:gd name="T12" fmla="*/ 446 w 526"/>
                <a:gd name="T13" fmla="*/ 126 h 813"/>
                <a:gd name="T14" fmla="*/ 456 w 526"/>
                <a:gd name="T15" fmla="*/ 87 h 813"/>
                <a:gd name="T16" fmla="*/ 426 w 526"/>
                <a:gd name="T17" fmla="*/ 52 h 813"/>
                <a:gd name="T18" fmla="*/ 397 w 526"/>
                <a:gd name="T19" fmla="*/ 39 h 813"/>
                <a:gd name="T20" fmla="*/ 347 w 526"/>
                <a:gd name="T21" fmla="*/ 52 h 813"/>
                <a:gd name="T22" fmla="*/ 367 w 526"/>
                <a:gd name="T23" fmla="*/ 91 h 813"/>
                <a:gd name="T24" fmla="*/ 373 w 526"/>
                <a:gd name="T25" fmla="*/ 126 h 813"/>
                <a:gd name="T26" fmla="*/ 367 w 526"/>
                <a:gd name="T27" fmla="*/ 156 h 813"/>
                <a:gd name="T28" fmla="*/ 317 w 526"/>
                <a:gd name="T29" fmla="*/ 169 h 813"/>
                <a:gd name="T30" fmla="*/ 264 w 526"/>
                <a:gd name="T31" fmla="*/ 159 h 813"/>
                <a:gd name="T32" fmla="*/ 254 w 526"/>
                <a:gd name="T33" fmla="*/ 136 h 813"/>
                <a:gd name="T34" fmla="*/ 198 w 526"/>
                <a:gd name="T35" fmla="*/ 198 h 813"/>
                <a:gd name="T36" fmla="*/ 165 w 526"/>
                <a:gd name="T37" fmla="*/ 266 h 813"/>
                <a:gd name="T38" fmla="*/ 119 w 526"/>
                <a:gd name="T39" fmla="*/ 354 h 813"/>
                <a:gd name="T40" fmla="*/ 89 w 526"/>
                <a:gd name="T41" fmla="*/ 432 h 813"/>
                <a:gd name="T42" fmla="*/ 76 w 526"/>
                <a:gd name="T43" fmla="*/ 507 h 813"/>
                <a:gd name="T44" fmla="*/ 86 w 526"/>
                <a:gd name="T45" fmla="*/ 546 h 813"/>
                <a:gd name="T46" fmla="*/ 139 w 526"/>
                <a:gd name="T47" fmla="*/ 595 h 813"/>
                <a:gd name="T48" fmla="*/ 248 w 526"/>
                <a:gd name="T49" fmla="*/ 637 h 813"/>
                <a:gd name="T50" fmla="*/ 307 w 526"/>
                <a:gd name="T51" fmla="*/ 656 h 813"/>
                <a:gd name="T52" fmla="*/ 367 w 526"/>
                <a:gd name="T53" fmla="*/ 666 h 813"/>
                <a:gd name="T54" fmla="*/ 456 w 526"/>
                <a:gd name="T55" fmla="*/ 702 h 813"/>
                <a:gd name="T56" fmla="*/ 522 w 526"/>
                <a:gd name="T57" fmla="*/ 725 h 813"/>
                <a:gd name="T58" fmla="*/ 526 w 526"/>
                <a:gd name="T59" fmla="*/ 770 h 813"/>
                <a:gd name="T60" fmla="*/ 493 w 526"/>
                <a:gd name="T61" fmla="*/ 803 h 813"/>
                <a:gd name="T62" fmla="*/ 453 w 526"/>
                <a:gd name="T63" fmla="*/ 813 h 813"/>
                <a:gd name="T64" fmla="*/ 393 w 526"/>
                <a:gd name="T65" fmla="*/ 783 h 813"/>
                <a:gd name="T66" fmla="*/ 254 w 526"/>
                <a:gd name="T67" fmla="*/ 712 h 813"/>
                <a:gd name="T68" fmla="*/ 139 w 526"/>
                <a:gd name="T69" fmla="*/ 663 h 813"/>
                <a:gd name="T70" fmla="*/ 59 w 526"/>
                <a:gd name="T71" fmla="*/ 608 h 813"/>
                <a:gd name="T72" fmla="*/ 6 w 526"/>
                <a:gd name="T73" fmla="*/ 559 h 813"/>
                <a:gd name="T74" fmla="*/ 0 w 526"/>
                <a:gd name="T75" fmla="*/ 500 h 813"/>
                <a:gd name="T76" fmla="*/ 29 w 526"/>
                <a:gd name="T77" fmla="*/ 422 h 813"/>
                <a:gd name="T78" fmla="*/ 89 w 526"/>
                <a:gd name="T79" fmla="*/ 305 h 813"/>
                <a:gd name="T80" fmla="*/ 145 w 526"/>
                <a:gd name="T81" fmla="*/ 208 h 813"/>
                <a:gd name="T82" fmla="*/ 215 w 526"/>
                <a:gd name="T83" fmla="*/ 107 h 813"/>
                <a:gd name="T84" fmla="*/ 268 w 526"/>
                <a:gd name="T85" fmla="*/ 48 h 813"/>
                <a:gd name="T86" fmla="*/ 334 w 526"/>
                <a:gd name="T87" fmla="*/ 19 h 813"/>
                <a:gd name="T88" fmla="*/ 307 w 526"/>
                <a:gd name="T89" fmla="*/ 19 h 81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26"/>
                <a:gd name="T136" fmla="*/ 0 h 813"/>
                <a:gd name="T137" fmla="*/ 526 w 526"/>
                <a:gd name="T138" fmla="*/ 813 h 81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26" h="813">
                  <a:moveTo>
                    <a:pt x="307" y="19"/>
                  </a:moveTo>
                  <a:lnTo>
                    <a:pt x="373" y="0"/>
                  </a:lnTo>
                  <a:lnTo>
                    <a:pt x="426" y="3"/>
                  </a:lnTo>
                  <a:lnTo>
                    <a:pt x="466" y="32"/>
                  </a:lnTo>
                  <a:lnTo>
                    <a:pt x="493" y="78"/>
                  </a:lnTo>
                  <a:lnTo>
                    <a:pt x="483" y="126"/>
                  </a:lnTo>
                  <a:lnTo>
                    <a:pt x="446" y="126"/>
                  </a:lnTo>
                  <a:lnTo>
                    <a:pt x="456" y="87"/>
                  </a:lnTo>
                  <a:lnTo>
                    <a:pt x="426" y="52"/>
                  </a:lnTo>
                  <a:lnTo>
                    <a:pt x="397" y="39"/>
                  </a:lnTo>
                  <a:lnTo>
                    <a:pt x="347" y="52"/>
                  </a:lnTo>
                  <a:lnTo>
                    <a:pt x="367" y="91"/>
                  </a:lnTo>
                  <a:lnTo>
                    <a:pt x="373" y="126"/>
                  </a:lnTo>
                  <a:lnTo>
                    <a:pt x="367" y="156"/>
                  </a:lnTo>
                  <a:lnTo>
                    <a:pt x="317" y="169"/>
                  </a:lnTo>
                  <a:lnTo>
                    <a:pt x="264" y="159"/>
                  </a:lnTo>
                  <a:lnTo>
                    <a:pt x="254" y="136"/>
                  </a:lnTo>
                  <a:lnTo>
                    <a:pt x="198" y="198"/>
                  </a:lnTo>
                  <a:lnTo>
                    <a:pt x="165" y="266"/>
                  </a:lnTo>
                  <a:lnTo>
                    <a:pt x="119" y="354"/>
                  </a:lnTo>
                  <a:lnTo>
                    <a:pt x="89" y="432"/>
                  </a:lnTo>
                  <a:lnTo>
                    <a:pt x="76" y="507"/>
                  </a:lnTo>
                  <a:lnTo>
                    <a:pt x="86" y="546"/>
                  </a:lnTo>
                  <a:lnTo>
                    <a:pt x="139" y="595"/>
                  </a:lnTo>
                  <a:lnTo>
                    <a:pt x="248" y="637"/>
                  </a:lnTo>
                  <a:lnTo>
                    <a:pt x="307" y="656"/>
                  </a:lnTo>
                  <a:lnTo>
                    <a:pt x="367" y="666"/>
                  </a:lnTo>
                  <a:lnTo>
                    <a:pt x="456" y="702"/>
                  </a:lnTo>
                  <a:lnTo>
                    <a:pt x="522" y="725"/>
                  </a:lnTo>
                  <a:lnTo>
                    <a:pt x="526" y="770"/>
                  </a:lnTo>
                  <a:lnTo>
                    <a:pt x="493" y="803"/>
                  </a:lnTo>
                  <a:lnTo>
                    <a:pt x="453" y="813"/>
                  </a:lnTo>
                  <a:lnTo>
                    <a:pt x="393" y="783"/>
                  </a:lnTo>
                  <a:lnTo>
                    <a:pt x="254" y="712"/>
                  </a:lnTo>
                  <a:lnTo>
                    <a:pt x="139" y="663"/>
                  </a:lnTo>
                  <a:lnTo>
                    <a:pt x="59" y="608"/>
                  </a:lnTo>
                  <a:lnTo>
                    <a:pt x="6" y="559"/>
                  </a:lnTo>
                  <a:lnTo>
                    <a:pt x="0" y="500"/>
                  </a:lnTo>
                  <a:lnTo>
                    <a:pt x="29" y="422"/>
                  </a:lnTo>
                  <a:lnTo>
                    <a:pt x="89" y="305"/>
                  </a:lnTo>
                  <a:lnTo>
                    <a:pt x="145" y="208"/>
                  </a:lnTo>
                  <a:lnTo>
                    <a:pt x="215" y="107"/>
                  </a:lnTo>
                  <a:lnTo>
                    <a:pt x="268" y="48"/>
                  </a:lnTo>
                  <a:lnTo>
                    <a:pt x="334" y="19"/>
                  </a:lnTo>
                  <a:lnTo>
                    <a:pt x="307" y="19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8"/>
            <p:cNvSpPr>
              <a:spLocks/>
            </p:cNvSpPr>
            <p:nvPr/>
          </p:nvSpPr>
          <p:spPr bwMode="auto">
            <a:xfrm>
              <a:off x="2706" y="1637"/>
              <a:ext cx="275" cy="763"/>
            </a:xfrm>
            <a:custGeom>
              <a:avLst/>
              <a:gdLst>
                <a:gd name="T0" fmla="*/ 17 w 275"/>
                <a:gd name="T1" fmla="*/ 59 h 763"/>
                <a:gd name="T2" fmla="*/ 27 w 275"/>
                <a:gd name="T3" fmla="*/ 20 h 763"/>
                <a:gd name="T4" fmla="*/ 70 w 275"/>
                <a:gd name="T5" fmla="*/ 0 h 763"/>
                <a:gd name="T6" fmla="*/ 109 w 275"/>
                <a:gd name="T7" fmla="*/ 0 h 763"/>
                <a:gd name="T8" fmla="*/ 159 w 275"/>
                <a:gd name="T9" fmla="*/ 29 h 763"/>
                <a:gd name="T10" fmla="*/ 206 w 275"/>
                <a:gd name="T11" fmla="*/ 98 h 763"/>
                <a:gd name="T12" fmla="*/ 239 w 275"/>
                <a:gd name="T13" fmla="*/ 169 h 763"/>
                <a:gd name="T14" fmla="*/ 255 w 275"/>
                <a:gd name="T15" fmla="*/ 266 h 763"/>
                <a:gd name="T16" fmla="*/ 269 w 275"/>
                <a:gd name="T17" fmla="*/ 380 h 763"/>
                <a:gd name="T18" fmla="*/ 275 w 275"/>
                <a:gd name="T19" fmla="*/ 490 h 763"/>
                <a:gd name="T20" fmla="*/ 275 w 275"/>
                <a:gd name="T21" fmla="*/ 633 h 763"/>
                <a:gd name="T22" fmla="*/ 255 w 275"/>
                <a:gd name="T23" fmla="*/ 721 h 763"/>
                <a:gd name="T24" fmla="*/ 219 w 275"/>
                <a:gd name="T25" fmla="*/ 753 h 763"/>
                <a:gd name="T26" fmla="*/ 156 w 275"/>
                <a:gd name="T27" fmla="*/ 763 h 763"/>
                <a:gd name="T28" fmla="*/ 90 w 275"/>
                <a:gd name="T29" fmla="*/ 760 h 763"/>
                <a:gd name="T30" fmla="*/ 56 w 275"/>
                <a:gd name="T31" fmla="*/ 721 h 763"/>
                <a:gd name="T32" fmla="*/ 37 w 275"/>
                <a:gd name="T33" fmla="*/ 653 h 763"/>
                <a:gd name="T34" fmla="*/ 20 w 275"/>
                <a:gd name="T35" fmla="*/ 585 h 763"/>
                <a:gd name="T36" fmla="*/ 7 w 275"/>
                <a:gd name="T37" fmla="*/ 461 h 763"/>
                <a:gd name="T38" fmla="*/ 0 w 275"/>
                <a:gd name="T39" fmla="*/ 322 h 763"/>
                <a:gd name="T40" fmla="*/ 0 w 275"/>
                <a:gd name="T41" fmla="*/ 159 h 763"/>
                <a:gd name="T42" fmla="*/ 17 w 275"/>
                <a:gd name="T43" fmla="*/ 88 h 763"/>
                <a:gd name="T44" fmla="*/ 17 w 275"/>
                <a:gd name="T45" fmla="*/ 59 h 76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275"/>
                <a:gd name="T70" fmla="*/ 0 h 763"/>
                <a:gd name="T71" fmla="*/ 275 w 275"/>
                <a:gd name="T72" fmla="*/ 763 h 76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275" h="763">
                  <a:moveTo>
                    <a:pt x="17" y="59"/>
                  </a:moveTo>
                  <a:lnTo>
                    <a:pt x="27" y="20"/>
                  </a:lnTo>
                  <a:lnTo>
                    <a:pt x="70" y="0"/>
                  </a:lnTo>
                  <a:lnTo>
                    <a:pt x="109" y="0"/>
                  </a:lnTo>
                  <a:lnTo>
                    <a:pt x="159" y="29"/>
                  </a:lnTo>
                  <a:lnTo>
                    <a:pt x="206" y="98"/>
                  </a:lnTo>
                  <a:lnTo>
                    <a:pt x="239" y="169"/>
                  </a:lnTo>
                  <a:lnTo>
                    <a:pt x="255" y="266"/>
                  </a:lnTo>
                  <a:lnTo>
                    <a:pt x="269" y="380"/>
                  </a:lnTo>
                  <a:lnTo>
                    <a:pt x="275" y="490"/>
                  </a:lnTo>
                  <a:lnTo>
                    <a:pt x="275" y="633"/>
                  </a:lnTo>
                  <a:lnTo>
                    <a:pt x="255" y="721"/>
                  </a:lnTo>
                  <a:lnTo>
                    <a:pt x="219" y="753"/>
                  </a:lnTo>
                  <a:lnTo>
                    <a:pt x="156" y="763"/>
                  </a:lnTo>
                  <a:lnTo>
                    <a:pt x="90" y="760"/>
                  </a:lnTo>
                  <a:lnTo>
                    <a:pt x="56" y="721"/>
                  </a:lnTo>
                  <a:lnTo>
                    <a:pt x="37" y="653"/>
                  </a:lnTo>
                  <a:lnTo>
                    <a:pt x="20" y="585"/>
                  </a:lnTo>
                  <a:lnTo>
                    <a:pt x="7" y="461"/>
                  </a:lnTo>
                  <a:lnTo>
                    <a:pt x="0" y="322"/>
                  </a:lnTo>
                  <a:lnTo>
                    <a:pt x="0" y="159"/>
                  </a:lnTo>
                  <a:lnTo>
                    <a:pt x="17" y="88"/>
                  </a:lnTo>
                  <a:lnTo>
                    <a:pt x="17" y="59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9"/>
            <p:cNvSpPr>
              <a:spLocks/>
            </p:cNvSpPr>
            <p:nvPr/>
          </p:nvSpPr>
          <p:spPr bwMode="auto">
            <a:xfrm>
              <a:off x="2833" y="1658"/>
              <a:ext cx="420" cy="586"/>
            </a:xfrm>
            <a:custGeom>
              <a:avLst/>
              <a:gdLst>
                <a:gd name="T0" fmla="*/ 23 w 420"/>
                <a:gd name="T1" fmla="*/ 0 h 586"/>
                <a:gd name="T2" fmla="*/ 109 w 420"/>
                <a:gd name="T3" fmla="*/ 10 h 586"/>
                <a:gd name="T4" fmla="*/ 198 w 420"/>
                <a:gd name="T5" fmla="*/ 26 h 586"/>
                <a:gd name="T6" fmla="*/ 291 w 420"/>
                <a:gd name="T7" fmla="*/ 78 h 586"/>
                <a:gd name="T8" fmla="*/ 357 w 420"/>
                <a:gd name="T9" fmla="*/ 117 h 586"/>
                <a:gd name="T10" fmla="*/ 400 w 420"/>
                <a:gd name="T11" fmla="*/ 173 h 586"/>
                <a:gd name="T12" fmla="*/ 420 w 420"/>
                <a:gd name="T13" fmla="*/ 205 h 586"/>
                <a:gd name="T14" fmla="*/ 380 w 420"/>
                <a:gd name="T15" fmla="*/ 300 h 586"/>
                <a:gd name="T16" fmla="*/ 317 w 420"/>
                <a:gd name="T17" fmla="*/ 358 h 586"/>
                <a:gd name="T18" fmla="*/ 241 w 420"/>
                <a:gd name="T19" fmla="*/ 400 h 586"/>
                <a:gd name="T20" fmla="*/ 201 w 420"/>
                <a:gd name="T21" fmla="*/ 426 h 586"/>
                <a:gd name="T22" fmla="*/ 132 w 420"/>
                <a:gd name="T23" fmla="*/ 439 h 586"/>
                <a:gd name="T24" fmla="*/ 129 w 420"/>
                <a:gd name="T25" fmla="*/ 465 h 586"/>
                <a:gd name="T26" fmla="*/ 182 w 420"/>
                <a:gd name="T27" fmla="*/ 488 h 586"/>
                <a:gd name="T28" fmla="*/ 258 w 420"/>
                <a:gd name="T29" fmla="*/ 508 h 586"/>
                <a:gd name="T30" fmla="*/ 330 w 420"/>
                <a:gd name="T31" fmla="*/ 547 h 586"/>
                <a:gd name="T32" fmla="*/ 301 w 420"/>
                <a:gd name="T33" fmla="*/ 576 h 586"/>
                <a:gd name="T34" fmla="*/ 271 w 420"/>
                <a:gd name="T35" fmla="*/ 586 h 586"/>
                <a:gd name="T36" fmla="*/ 228 w 420"/>
                <a:gd name="T37" fmla="*/ 543 h 586"/>
                <a:gd name="T38" fmla="*/ 162 w 420"/>
                <a:gd name="T39" fmla="*/ 517 h 586"/>
                <a:gd name="T40" fmla="*/ 109 w 420"/>
                <a:gd name="T41" fmla="*/ 498 h 586"/>
                <a:gd name="T42" fmla="*/ 109 w 420"/>
                <a:gd name="T43" fmla="*/ 459 h 586"/>
                <a:gd name="T44" fmla="*/ 119 w 420"/>
                <a:gd name="T45" fmla="*/ 417 h 586"/>
                <a:gd name="T46" fmla="*/ 152 w 420"/>
                <a:gd name="T47" fmla="*/ 400 h 586"/>
                <a:gd name="T48" fmla="*/ 258 w 420"/>
                <a:gd name="T49" fmla="*/ 358 h 586"/>
                <a:gd name="T50" fmla="*/ 317 w 420"/>
                <a:gd name="T51" fmla="*/ 293 h 586"/>
                <a:gd name="T52" fmla="*/ 360 w 420"/>
                <a:gd name="T53" fmla="*/ 225 h 586"/>
                <a:gd name="T54" fmla="*/ 350 w 420"/>
                <a:gd name="T55" fmla="*/ 192 h 586"/>
                <a:gd name="T56" fmla="*/ 317 w 420"/>
                <a:gd name="T57" fmla="*/ 153 h 586"/>
                <a:gd name="T58" fmla="*/ 238 w 420"/>
                <a:gd name="T59" fmla="*/ 98 h 586"/>
                <a:gd name="T60" fmla="*/ 142 w 420"/>
                <a:gd name="T61" fmla="*/ 78 h 586"/>
                <a:gd name="T62" fmla="*/ 79 w 420"/>
                <a:gd name="T63" fmla="*/ 75 h 586"/>
                <a:gd name="T64" fmla="*/ 23 w 420"/>
                <a:gd name="T65" fmla="*/ 75 h 586"/>
                <a:gd name="T66" fmla="*/ 0 w 420"/>
                <a:gd name="T67" fmla="*/ 39 h 586"/>
                <a:gd name="T68" fmla="*/ 23 w 420"/>
                <a:gd name="T69" fmla="*/ 0 h 58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420"/>
                <a:gd name="T106" fmla="*/ 0 h 586"/>
                <a:gd name="T107" fmla="*/ 420 w 420"/>
                <a:gd name="T108" fmla="*/ 586 h 58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420" h="586">
                  <a:moveTo>
                    <a:pt x="23" y="0"/>
                  </a:moveTo>
                  <a:lnTo>
                    <a:pt x="109" y="10"/>
                  </a:lnTo>
                  <a:lnTo>
                    <a:pt x="198" y="26"/>
                  </a:lnTo>
                  <a:lnTo>
                    <a:pt x="291" y="78"/>
                  </a:lnTo>
                  <a:lnTo>
                    <a:pt x="357" y="117"/>
                  </a:lnTo>
                  <a:lnTo>
                    <a:pt x="400" y="173"/>
                  </a:lnTo>
                  <a:lnTo>
                    <a:pt x="420" y="205"/>
                  </a:lnTo>
                  <a:lnTo>
                    <a:pt x="380" y="300"/>
                  </a:lnTo>
                  <a:lnTo>
                    <a:pt x="317" y="358"/>
                  </a:lnTo>
                  <a:lnTo>
                    <a:pt x="241" y="400"/>
                  </a:lnTo>
                  <a:lnTo>
                    <a:pt x="201" y="426"/>
                  </a:lnTo>
                  <a:lnTo>
                    <a:pt x="132" y="439"/>
                  </a:lnTo>
                  <a:lnTo>
                    <a:pt x="129" y="465"/>
                  </a:lnTo>
                  <a:lnTo>
                    <a:pt x="182" y="488"/>
                  </a:lnTo>
                  <a:lnTo>
                    <a:pt x="258" y="508"/>
                  </a:lnTo>
                  <a:lnTo>
                    <a:pt x="330" y="547"/>
                  </a:lnTo>
                  <a:lnTo>
                    <a:pt x="301" y="576"/>
                  </a:lnTo>
                  <a:lnTo>
                    <a:pt x="271" y="586"/>
                  </a:lnTo>
                  <a:lnTo>
                    <a:pt x="228" y="543"/>
                  </a:lnTo>
                  <a:lnTo>
                    <a:pt x="162" y="517"/>
                  </a:lnTo>
                  <a:lnTo>
                    <a:pt x="109" y="498"/>
                  </a:lnTo>
                  <a:lnTo>
                    <a:pt x="109" y="459"/>
                  </a:lnTo>
                  <a:lnTo>
                    <a:pt x="119" y="417"/>
                  </a:lnTo>
                  <a:lnTo>
                    <a:pt x="152" y="400"/>
                  </a:lnTo>
                  <a:lnTo>
                    <a:pt x="258" y="358"/>
                  </a:lnTo>
                  <a:lnTo>
                    <a:pt x="317" y="293"/>
                  </a:lnTo>
                  <a:lnTo>
                    <a:pt x="360" y="225"/>
                  </a:lnTo>
                  <a:lnTo>
                    <a:pt x="350" y="192"/>
                  </a:lnTo>
                  <a:lnTo>
                    <a:pt x="317" y="153"/>
                  </a:lnTo>
                  <a:lnTo>
                    <a:pt x="238" y="98"/>
                  </a:lnTo>
                  <a:lnTo>
                    <a:pt x="142" y="78"/>
                  </a:lnTo>
                  <a:lnTo>
                    <a:pt x="79" y="75"/>
                  </a:lnTo>
                  <a:lnTo>
                    <a:pt x="23" y="75"/>
                  </a:lnTo>
                  <a:lnTo>
                    <a:pt x="0" y="39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0"/>
            <p:cNvSpPr>
              <a:spLocks/>
            </p:cNvSpPr>
            <p:nvPr/>
          </p:nvSpPr>
          <p:spPr bwMode="auto">
            <a:xfrm>
              <a:off x="2866" y="2322"/>
              <a:ext cx="511" cy="947"/>
            </a:xfrm>
            <a:custGeom>
              <a:avLst/>
              <a:gdLst>
                <a:gd name="T0" fmla="*/ 59 w 511"/>
                <a:gd name="T1" fmla="*/ 0 h 947"/>
                <a:gd name="T2" fmla="*/ 13 w 511"/>
                <a:gd name="T3" fmla="*/ 0 h 947"/>
                <a:gd name="T4" fmla="*/ 0 w 511"/>
                <a:gd name="T5" fmla="*/ 68 h 947"/>
                <a:gd name="T6" fmla="*/ 33 w 511"/>
                <a:gd name="T7" fmla="*/ 108 h 947"/>
                <a:gd name="T8" fmla="*/ 139 w 511"/>
                <a:gd name="T9" fmla="*/ 202 h 947"/>
                <a:gd name="T10" fmla="*/ 232 w 511"/>
                <a:gd name="T11" fmla="*/ 322 h 947"/>
                <a:gd name="T12" fmla="*/ 292 w 511"/>
                <a:gd name="T13" fmla="*/ 446 h 947"/>
                <a:gd name="T14" fmla="*/ 301 w 511"/>
                <a:gd name="T15" fmla="*/ 527 h 947"/>
                <a:gd name="T16" fmla="*/ 298 w 511"/>
                <a:gd name="T17" fmla="*/ 586 h 947"/>
                <a:gd name="T18" fmla="*/ 272 w 511"/>
                <a:gd name="T19" fmla="*/ 719 h 947"/>
                <a:gd name="T20" fmla="*/ 238 w 511"/>
                <a:gd name="T21" fmla="*/ 827 h 947"/>
                <a:gd name="T22" fmla="*/ 209 w 511"/>
                <a:gd name="T23" fmla="*/ 889 h 947"/>
                <a:gd name="T24" fmla="*/ 202 w 511"/>
                <a:gd name="T25" fmla="*/ 928 h 947"/>
                <a:gd name="T26" fmla="*/ 232 w 511"/>
                <a:gd name="T27" fmla="*/ 928 h 947"/>
                <a:gd name="T28" fmla="*/ 278 w 511"/>
                <a:gd name="T29" fmla="*/ 915 h 947"/>
                <a:gd name="T30" fmla="*/ 292 w 511"/>
                <a:gd name="T31" fmla="*/ 918 h 947"/>
                <a:gd name="T32" fmla="*/ 388 w 511"/>
                <a:gd name="T33" fmla="*/ 924 h 947"/>
                <a:gd name="T34" fmla="*/ 461 w 511"/>
                <a:gd name="T35" fmla="*/ 947 h 947"/>
                <a:gd name="T36" fmla="*/ 487 w 511"/>
                <a:gd name="T37" fmla="*/ 934 h 947"/>
                <a:gd name="T38" fmla="*/ 511 w 511"/>
                <a:gd name="T39" fmla="*/ 885 h 947"/>
                <a:gd name="T40" fmla="*/ 487 w 511"/>
                <a:gd name="T41" fmla="*/ 859 h 947"/>
                <a:gd name="T42" fmla="*/ 378 w 511"/>
                <a:gd name="T43" fmla="*/ 856 h 947"/>
                <a:gd name="T44" fmla="*/ 301 w 511"/>
                <a:gd name="T45" fmla="*/ 866 h 947"/>
                <a:gd name="T46" fmla="*/ 262 w 511"/>
                <a:gd name="T47" fmla="*/ 885 h 947"/>
                <a:gd name="T48" fmla="*/ 268 w 511"/>
                <a:gd name="T49" fmla="*/ 840 h 947"/>
                <a:gd name="T50" fmla="*/ 308 w 511"/>
                <a:gd name="T51" fmla="*/ 771 h 947"/>
                <a:gd name="T52" fmla="*/ 341 w 511"/>
                <a:gd name="T53" fmla="*/ 664 h 947"/>
                <a:gd name="T54" fmla="*/ 368 w 511"/>
                <a:gd name="T55" fmla="*/ 573 h 947"/>
                <a:gd name="T56" fmla="*/ 348 w 511"/>
                <a:gd name="T57" fmla="*/ 469 h 947"/>
                <a:gd name="T58" fmla="*/ 318 w 511"/>
                <a:gd name="T59" fmla="*/ 358 h 947"/>
                <a:gd name="T60" fmla="*/ 258 w 511"/>
                <a:gd name="T61" fmla="*/ 231 h 947"/>
                <a:gd name="T62" fmla="*/ 172 w 511"/>
                <a:gd name="T63" fmla="*/ 114 h 947"/>
                <a:gd name="T64" fmla="*/ 99 w 511"/>
                <a:gd name="T65" fmla="*/ 29 h 947"/>
                <a:gd name="T66" fmla="*/ 59 w 511"/>
                <a:gd name="T67" fmla="*/ 0 h 94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11"/>
                <a:gd name="T103" fmla="*/ 0 h 947"/>
                <a:gd name="T104" fmla="*/ 511 w 511"/>
                <a:gd name="T105" fmla="*/ 947 h 94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11" h="947">
                  <a:moveTo>
                    <a:pt x="59" y="0"/>
                  </a:moveTo>
                  <a:lnTo>
                    <a:pt x="13" y="0"/>
                  </a:lnTo>
                  <a:lnTo>
                    <a:pt x="0" y="68"/>
                  </a:lnTo>
                  <a:lnTo>
                    <a:pt x="33" y="108"/>
                  </a:lnTo>
                  <a:lnTo>
                    <a:pt x="139" y="202"/>
                  </a:lnTo>
                  <a:lnTo>
                    <a:pt x="232" y="322"/>
                  </a:lnTo>
                  <a:lnTo>
                    <a:pt x="292" y="446"/>
                  </a:lnTo>
                  <a:lnTo>
                    <a:pt x="301" y="527"/>
                  </a:lnTo>
                  <a:lnTo>
                    <a:pt x="298" y="586"/>
                  </a:lnTo>
                  <a:lnTo>
                    <a:pt x="272" y="719"/>
                  </a:lnTo>
                  <a:lnTo>
                    <a:pt x="238" y="827"/>
                  </a:lnTo>
                  <a:lnTo>
                    <a:pt x="209" y="889"/>
                  </a:lnTo>
                  <a:lnTo>
                    <a:pt x="202" y="928"/>
                  </a:lnTo>
                  <a:lnTo>
                    <a:pt x="232" y="928"/>
                  </a:lnTo>
                  <a:lnTo>
                    <a:pt x="278" y="915"/>
                  </a:lnTo>
                  <a:lnTo>
                    <a:pt x="292" y="918"/>
                  </a:lnTo>
                  <a:lnTo>
                    <a:pt x="388" y="924"/>
                  </a:lnTo>
                  <a:lnTo>
                    <a:pt x="461" y="947"/>
                  </a:lnTo>
                  <a:lnTo>
                    <a:pt x="487" y="934"/>
                  </a:lnTo>
                  <a:lnTo>
                    <a:pt x="511" y="885"/>
                  </a:lnTo>
                  <a:lnTo>
                    <a:pt x="487" y="859"/>
                  </a:lnTo>
                  <a:lnTo>
                    <a:pt x="378" y="856"/>
                  </a:lnTo>
                  <a:lnTo>
                    <a:pt x="301" y="866"/>
                  </a:lnTo>
                  <a:lnTo>
                    <a:pt x="262" y="885"/>
                  </a:lnTo>
                  <a:lnTo>
                    <a:pt x="268" y="840"/>
                  </a:lnTo>
                  <a:lnTo>
                    <a:pt x="308" y="771"/>
                  </a:lnTo>
                  <a:lnTo>
                    <a:pt x="341" y="664"/>
                  </a:lnTo>
                  <a:lnTo>
                    <a:pt x="368" y="573"/>
                  </a:lnTo>
                  <a:lnTo>
                    <a:pt x="348" y="469"/>
                  </a:lnTo>
                  <a:lnTo>
                    <a:pt x="318" y="358"/>
                  </a:lnTo>
                  <a:lnTo>
                    <a:pt x="258" y="231"/>
                  </a:lnTo>
                  <a:lnTo>
                    <a:pt x="172" y="114"/>
                  </a:lnTo>
                  <a:lnTo>
                    <a:pt x="99" y="29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1"/>
            <p:cNvSpPr>
              <a:spLocks/>
            </p:cNvSpPr>
            <p:nvPr/>
          </p:nvSpPr>
          <p:spPr bwMode="auto">
            <a:xfrm>
              <a:off x="2545" y="2320"/>
              <a:ext cx="344" cy="965"/>
            </a:xfrm>
            <a:custGeom>
              <a:avLst/>
              <a:gdLst>
                <a:gd name="T0" fmla="*/ 238 w 344"/>
                <a:gd name="T1" fmla="*/ 0 h 965"/>
                <a:gd name="T2" fmla="*/ 195 w 344"/>
                <a:gd name="T3" fmla="*/ 91 h 965"/>
                <a:gd name="T4" fmla="*/ 165 w 344"/>
                <a:gd name="T5" fmla="*/ 224 h 965"/>
                <a:gd name="T6" fmla="*/ 129 w 344"/>
                <a:gd name="T7" fmla="*/ 371 h 965"/>
                <a:gd name="T8" fmla="*/ 96 w 344"/>
                <a:gd name="T9" fmla="*/ 520 h 965"/>
                <a:gd name="T10" fmla="*/ 96 w 344"/>
                <a:gd name="T11" fmla="*/ 575 h 965"/>
                <a:gd name="T12" fmla="*/ 129 w 344"/>
                <a:gd name="T13" fmla="*/ 673 h 965"/>
                <a:gd name="T14" fmla="*/ 175 w 344"/>
                <a:gd name="T15" fmla="*/ 725 h 965"/>
                <a:gd name="T16" fmla="*/ 218 w 344"/>
                <a:gd name="T17" fmla="*/ 790 h 965"/>
                <a:gd name="T18" fmla="*/ 248 w 344"/>
                <a:gd name="T19" fmla="*/ 838 h 965"/>
                <a:gd name="T20" fmla="*/ 235 w 344"/>
                <a:gd name="T21" fmla="*/ 861 h 965"/>
                <a:gd name="T22" fmla="*/ 159 w 344"/>
                <a:gd name="T23" fmla="*/ 871 h 965"/>
                <a:gd name="T24" fmla="*/ 36 w 344"/>
                <a:gd name="T25" fmla="*/ 890 h 965"/>
                <a:gd name="T26" fmla="*/ 0 w 344"/>
                <a:gd name="T27" fmla="*/ 920 h 965"/>
                <a:gd name="T28" fmla="*/ 30 w 344"/>
                <a:gd name="T29" fmla="*/ 946 h 965"/>
                <a:gd name="T30" fmla="*/ 99 w 344"/>
                <a:gd name="T31" fmla="*/ 965 h 965"/>
                <a:gd name="T32" fmla="*/ 179 w 344"/>
                <a:gd name="T33" fmla="*/ 926 h 965"/>
                <a:gd name="T34" fmla="*/ 238 w 344"/>
                <a:gd name="T35" fmla="*/ 900 h 965"/>
                <a:gd name="T36" fmla="*/ 314 w 344"/>
                <a:gd name="T37" fmla="*/ 890 h 965"/>
                <a:gd name="T38" fmla="*/ 344 w 344"/>
                <a:gd name="T39" fmla="*/ 881 h 965"/>
                <a:gd name="T40" fmla="*/ 334 w 344"/>
                <a:gd name="T41" fmla="*/ 848 h 965"/>
                <a:gd name="T42" fmla="*/ 248 w 344"/>
                <a:gd name="T43" fmla="*/ 764 h 965"/>
                <a:gd name="T44" fmla="*/ 198 w 344"/>
                <a:gd name="T45" fmla="*/ 676 h 965"/>
                <a:gd name="T46" fmla="*/ 155 w 344"/>
                <a:gd name="T47" fmla="*/ 617 h 965"/>
                <a:gd name="T48" fmla="*/ 149 w 344"/>
                <a:gd name="T49" fmla="*/ 559 h 965"/>
                <a:gd name="T50" fmla="*/ 169 w 344"/>
                <a:gd name="T51" fmla="*/ 462 h 965"/>
                <a:gd name="T52" fmla="*/ 215 w 344"/>
                <a:gd name="T53" fmla="*/ 361 h 965"/>
                <a:gd name="T54" fmla="*/ 265 w 344"/>
                <a:gd name="T55" fmla="*/ 189 h 965"/>
                <a:gd name="T56" fmla="*/ 308 w 344"/>
                <a:gd name="T57" fmla="*/ 88 h 965"/>
                <a:gd name="T58" fmla="*/ 304 w 344"/>
                <a:gd name="T59" fmla="*/ 29 h 965"/>
                <a:gd name="T60" fmla="*/ 265 w 344"/>
                <a:gd name="T61" fmla="*/ 0 h 965"/>
                <a:gd name="T62" fmla="*/ 238 w 344"/>
                <a:gd name="T63" fmla="*/ 0 h 96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44"/>
                <a:gd name="T97" fmla="*/ 0 h 965"/>
                <a:gd name="T98" fmla="*/ 344 w 344"/>
                <a:gd name="T99" fmla="*/ 965 h 96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44" h="965">
                  <a:moveTo>
                    <a:pt x="238" y="0"/>
                  </a:moveTo>
                  <a:lnTo>
                    <a:pt x="195" y="91"/>
                  </a:lnTo>
                  <a:lnTo>
                    <a:pt x="165" y="224"/>
                  </a:lnTo>
                  <a:lnTo>
                    <a:pt x="129" y="371"/>
                  </a:lnTo>
                  <a:lnTo>
                    <a:pt x="96" y="520"/>
                  </a:lnTo>
                  <a:lnTo>
                    <a:pt x="96" y="575"/>
                  </a:lnTo>
                  <a:lnTo>
                    <a:pt x="129" y="673"/>
                  </a:lnTo>
                  <a:lnTo>
                    <a:pt x="175" y="725"/>
                  </a:lnTo>
                  <a:lnTo>
                    <a:pt x="218" y="790"/>
                  </a:lnTo>
                  <a:lnTo>
                    <a:pt x="248" y="838"/>
                  </a:lnTo>
                  <a:lnTo>
                    <a:pt x="235" y="861"/>
                  </a:lnTo>
                  <a:lnTo>
                    <a:pt x="159" y="871"/>
                  </a:lnTo>
                  <a:lnTo>
                    <a:pt x="36" y="890"/>
                  </a:lnTo>
                  <a:lnTo>
                    <a:pt x="0" y="920"/>
                  </a:lnTo>
                  <a:lnTo>
                    <a:pt x="30" y="946"/>
                  </a:lnTo>
                  <a:lnTo>
                    <a:pt x="99" y="965"/>
                  </a:lnTo>
                  <a:lnTo>
                    <a:pt x="179" y="926"/>
                  </a:lnTo>
                  <a:lnTo>
                    <a:pt x="238" y="900"/>
                  </a:lnTo>
                  <a:lnTo>
                    <a:pt x="314" y="890"/>
                  </a:lnTo>
                  <a:lnTo>
                    <a:pt x="344" y="881"/>
                  </a:lnTo>
                  <a:lnTo>
                    <a:pt x="334" y="848"/>
                  </a:lnTo>
                  <a:lnTo>
                    <a:pt x="248" y="764"/>
                  </a:lnTo>
                  <a:lnTo>
                    <a:pt x="198" y="676"/>
                  </a:lnTo>
                  <a:lnTo>
                    <a:pt x="155" y="617"/>
                  </a:lnTo>
                  <a:lnTo>
                    <a:pt x="149" y="559"/>
                  </a:lnTo>
                  <a:lnTo>
                    <a:pt x="169" y="462"/>
                  </a:lnTo>
                  <a:lnTo>
                    <a:pt x="215" y="361"/>
                  </a:lnTo>
                  <a:lnTo>
                    <a:pt x="265" y="189"/>
                  </a:lnTo>
                  <a:lnTo>
                    <a:pt x="308" y="88"/>
                  </a:lnTo>
                  <a:lnTo>
                    <a:pt x="304" y="29"/>
                  </a:lnTo>
                  <a:lnTo>
                    <a:pt x="265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2"/>
            <p:cNvSpPr>
              <a:spLocks/>
            </p:cNvSpPr>
            <p:nvPr/>
          </p:nvSpPr>
          <p:spPr bwMode="auto">
            <a:xfrm>
              <a:off x="2954" y="770"/>
              <a:ext cx="170" cy="198"/>
            </a:xfrm>
            <a:custGeom>
              <a:avLst/>
              <a:gdLst>
                <a:gd name="T0" fmla="*/ 20 w 170"/>
                <a:gd name="T1" fmla="*/ 9 h 198"/>
                <a:gd name="T2" fmla="*/ 66 w 170"/>
                <a:gd name="T3" fmla="*/ 0 h 198"/>
                <a:gd name="T4" fmla="*/ 110 w 170"/>
                <a:gd name="T5" fmla="*/ 3 h 198"/>
                <a:gd name="T6" fmla="*/ 150 w 170"/>
                <a:gd name="T7" fmla="*/ 22 h 198"/>
                <a:gd name="T8" fmla="*/ 170 w 170"/>
                <a:gd name="T9" fmla="*/ 58 h 198"/>
                <a:gd name="T10" fmla="*/ 170 w 170"/>
                <a:gd name="T11" fmla="*/ 87 h 198"/>
                <a:gd name="T12" fmla="*/ 150 w 170"/>
                <a:gd name="T13" fmla="*/ 126 h 198"/>
                <a:gd name="T14" fmla="*/ 116 w 170"/>
                <a:gd name="T15" fmla="*/ 149 h 198"/>
                <a:gd name="T16" fmla="*/ 66 w 170"/>
                <a:gd name="T17" fmla="*/ 149 h 198"/>
                <a:gd name="T18" fmla="*/ 36 w 170"/>
                <a:gd name="T19" fmla="*/ 168 h 198"/>
                <a:gd name="T20" fmla="*/ 26 w 170"/>
                <a:gd name="T21" fmla="*/ 198 h 198"/>
                <a:gd name="T22" fmla="*/ 0 w 170"/>
                <a:gd name="T23" fmla="*/ 188 h 198"/>
                <a:gd name="T24" fmla="*/ 10 w 170"/>
                <a:gd name="T25" fmla="*/ 149 h 198"/>
                <a:gd name="T26" fmla="*/ 46 w 170"/>
                <a:gd name="T27" fmla="*/ 126 h 198"/>
                <a:gd name="T28" fmla="*/ 106 w 170"/>
                <a:gd name="T29" fmla="*/ 120 h 198"/>
                <a:gd name="T30" fmla="*/ 130 w 170"/>
                <a:gd name="T31" fmla="*/ 97 h 198"/>
                <a:gd name="T32" fmla="*/ 136 w 170"/>
                <a:gd name="T33" fmla="*/ 61 h 198"/>
                <a:gd name="T34" fmla="*/ 110 w 170"/>
                <a:gd name="T35" fmla="*/ 29 h 198"/>
                <a:gd name="T36" fmla="*/ 70 w 170"/>
                <a:gd name="T37" fmla="*/ 29 h 198"/>
                <a:gd name="T38" fmla="*/ 26 w 170"/>
                <a:gd name="T39" fmla="*/ 39 h 198"/>
                <a:gd name="T40" fmla="*/ 10 w 170"/>
                <a:gd name="T41" fmla="*/ 29 h 198"/>
                <a:gd name="T42" fmla="*/ 20 w 170"/>
                <a:gd name="T43" fmla="*/ 9 h 19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70"/>
                <a:gd name="T67" fmla="*/ 0 h 198"/>
                <a:gd name="T68" fmla="*/ 170 w 170"/>
                <a:gd name="T69" fmla="*/ 198 h 19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70" h="198">
                  <a:moveTo>
                    <a:pt x="20" y="9"/>
                  </a:moveTo>
                  <a:lnTo>
                    <a:pt x="66" y="0"/>
                  </a:lnTo>
                  <a:lnTo>
                    <a:pt x="110" y="3"/>
                  </a:lnTo>
                  <a:lnTo>
                    <a:pt x="150" y="22"/>
                  </a:lnTo>
                  <a:lnTo>
                    <a:pt x="170" y="58"/>
                  </a:lnTo>
                  <a:lnTo>
                    <a:pt x="170" y="87"/>
                  </a:lnTo>
                  <a:lnTo>
                    <a:pt x="150" y="126"/>
                  </a:lnTo>
                  <a:lnTo>
                    <a:pt x="116" y="149"/>
                  </a:lnTo>
                  <a:lnTo>
                    <a:pt x="66" y="149"/>
                  </a:lnTo>
                  <a:lnTo>
                    <a:pt x="36" y="168"/>
                  </a:lnTo>
                  <a:lnTo>
                    <a:pt x="26" y="198"/>
                  </a:lnTo>
                  <a:lnTo>
                    <a:pt x="0" y="188"/>
                  </a:lnTo>
                  <a:lnTo>
                    <a:pt x="10" y="149"/>
                  </a:lnTo>
                  <a:lnTo>
                    <a:pt x="46" y="126"/>
                  </a:lnTo>
                  <a:lnTo>
                    <a:pt x="106" y="120"/>
                  </a:lnTo>
                  <a:lnTo>
                    <a:pt x="130" y="97"/>
                  </a:lnTo>
                  <a:lnTo>
                    <a:pt x="136" y="61"/>
                  </a:lnTo>
                  <a:lnTo>
                    <a:pt x="110" y="29"/>
                  </a:lnTo>
                  <a:lnTo>
                    <a:pt x="70" y="29"/>
                  </a:lnTo>
                  <a:lnTo>
                    <a:pt x="26" y="39"/>
                  </a:lnTo>
                  <a:lnTo>
                    <a:pt x="10" y="29"/>
                  </a:lnTo>
                  <a:lnTo>
                    <a:pt x="20" y="9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3"/>
            <p:cNvSpPr>
              <a:spLocks/>
            </p:cNvSpPr>
            <p:nvPr/>
          </p:nvSpPr>
          <p:spPr bwMode="auto">
            <a:xfrm>
              <a:off x="2913" y="1001"/>
              <a:ext cx="53" cy="54"/>
            </a:xfrm>
            <a:custGeom>
              <a:avLst/>
              <a:gdLst>
                <a:gd name="T0" fmla="*/ 53 w 53"/>
                <a:gd name="T1" fmla="*/ 3 h 54"/>
                <a:gd name="T2" fmla="*/ 26 w 53"/>
                <a:gd name="T3" fmla="*/ 0 h 54"/>
                <a:gd name="T4" fmla="*/ 8 w 53"/>
                <a:gd name="T5" fmla="*/ 20 h 54"/>
                <a:gd name="T6" fmla="*/ 0 w 53"/>
                <a:gd name="T7" fmla="*/ 51 h 54"/>
                <a:gd name="T8" fmla="*/ 26 w 53"/>
                <a:gd name="T9" fmla="*/ 54 h 54"/>
                <a:gd name="T10" fmla="*/ 48 w 53"/>
                <a:gd name="T11" fmla="*/ 40 h 54"/>
                <a:gd name="T12" fmla="*/ 53 w 53"/>
                <a:gd name="T13" fmla="*/ 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"/>
                <a:gd name="T22" fmla="*/ 0 h 54"/>
                <a:gd name="T23" fmla="*/ 53 w 53"/>
                <a:gd name="T24" fmla="*/ 54 h 5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" h="54">
                  <a:moveTo>
                    <a:pt x="53" y="3"/>
                  </a:moveTo>
                  <a:lnTo>
                    <a:pt x="26" y="0"/>
                  </a:lnTo>
                  <a:lnTo>
                    <a:pt x="8" y="20"/>
                  </a:lnTo>
                  <a:lnTo>
                    <a:pt x="0" y="51"/>
                  </a:lnTo>
                  <a:lnTo>
                    <a:pt x="26" y="54"/>
                  </a:lnTo>
                  <a:lnTo>
                    <a:pt x="48" y="40"/>
                  </a:lnTo>
                  <a:lnTo>
                    <a:pt x="53" y="3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17821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0.0&quot;&gt;&lt;object type=&quot;1&quot; unique_id=&quot;10001&quot;&gt;&lt;object type=&quot;2&quot; unique_id=&quot;10070&quot;&gt;&lt;object type=&quot;3&quot; unique_id=&quot;10071&quot;&gt;&lt;property id=&quot;20148&quot; value=&quot;5&quot;/&gt;&lt;property id=&quot;20300&quot; value=&quot;Slide 1 - &amp;quot;MÃ HÓA ĐỐI XỨNG CỔ ĐIỂN&amp;quot;&quot;/&gt;&lt;property id=&quot;20307&quot; value=&quot;256&quot;/&gt;&lt;/object&gt;&lt;object type=&quot;3&quot; unique_id=&quot;10072&quot;&gt;&lt;property id=&quot;20148&quot; value=&quot;5&quot;/&gt;&lt;property id=&quot;20300&quot; value=&quot;Slide 2 - &amp;quot;Nội Dung Chương 2&amp;quot;&quot;/&gt;&lt;property id=&quot;20307&quot; value=&quot;308&quot;/&gt;&lt;/object&gt;&lt;object type=&quot;3&quot; unique_id=&quot;10073&quot;&gt;&lt;property id=&quot;20148&quot; value=&quot;5&quot;/&gt;&lt;property id=&quot;20300&quot; value=&quot;Slide 3 - &amp;quot;I. Mã hóa Ceasar&amp;quot;&quot;/&gt;&lt;property id=&quot;20307&quot; value=&quot;283&quot;/&gt;&lt;/object&gt;&lt;object type=&quot;3&quot; unique_id=&quot;10074&quot;&gt;&lt;property id=&quot;20148&quot; value=&quot;5&quot;/&gt;&lt;property id=&quot;20300&quot; value=&quot;Slide 4 - &amp;quot;I. Mã hóa Ceasar&amp;quot;&quot;/&gt;&lt;property id=&quot;20307&quot; value=&quot;285&quot;/&gt;&lt;/object&gt;&lt;object type=&quot;3&quot; unique_id=&quot;10075&quot;&gt;&lt;property id=&quot;20148&quot; value=&quot;5&quot;/&gt;&lt;property id=&quot;20300&quot; value=&quot;Slide 5 - &amp;quot;I. Mã hóa Ceasar&amp;quot;&quot;/&gt;&lt;property id=&quot;20307&quot; value=&quot;260&quot;/&gt;&lt;/object&gt;&lt;object type=&quot;3&quot; unique_id=&quot;10076&quot;&gt;&lt;property id=&quot;20148&quot; value=&quot;5&quot;/&gt;&lt;property id=&quot;20300&quot; value=&quot;Slide 6 - &amp;quot;Phá mã Ceasar: thử 25 khóa k&amp;quot;&quot;/&gt;&lt;property id=&quot;20307&quot; value=&quot;287&quot;/&gt;&lt;/object&gt;&lt;object type=&quot;3&quot; unique_id=&quot;10077&quot;&gt;&lt;property id=&quot;20148&quot; value=&quot;5&quot;/&gt;&lt;property id=&quot;20300&quot; value=&quot;Slide 7 - &amp;quot;Mô hình mã hóa Ceasar&amp;quot;&quot;/&gt;&lt;property id=&quot;20307&quot; value=&quot;286&quot;/&gt;&lt;/object&gt;&lt;object type=&quot;3&quot; unique_id=&quot;10078&quot;&gt;&lt;property id=&quot;20148&quot; value=&quot;5&quot;/&gt;&lt;property id=&quot;20300&quot; value=&quot;Slide 8 - &amp;quot;II. Mô hình mã hóa đối xứng&amp;quot;&quot;/&gt;&lt;property id=&quot;20307&quot; value=&quot;288&quot;/&gt;&lt;/object&gt;&lt;object type=&quot;3&quot; unique_id=&quot;10079&quot;&gt;&lt;property id=&quot;20148&quot; value=&quot;5&quot;/&gt;&lt;property id=&quot;20300&quot; value=&quot;Slide 9 - &amp;quot;II. Mô hình mã hóa đối xứng&amp;quot;&quot;/&gt;&lt;property id=&quot;20307&quot; value=&quot;289&quot;/&gt;&lt;/object&gt;&lt;object type=&quot;3&quot; unique_id=&quot;10080&quot;&gt;&lt;property id=&quot;20148&quot; value=&quot;5&quot;/&gt;&lt;property id=&quot;20300&quot; value=&quot;Slide 10 - &amp;quot;III. Mã hóa thay thế đơn bảng&amp;quot;&quot;/&gt;&lt;property id=&quot;20307&quot; value=&quot;290&quot;/&gt;&lt;/object&gt;&lt;object type=&quot;3&quot; unique_id=&quot;10081&quot;&gt;&lt;property id=&quot;20148&quot; value=&quot;5&quot;/&gt;&lt;property id=&quot;20300&quot; value=&quot;Slide 11 - &amp;quot;Phá mã thay thế đơn bảng?&amp;quot;&quot;/&gt;&lt;property id=&quot;20307&quot; value=&quot;291&quot;/&gt;&lt;/object&gt;&lt;object type=&quot;3&quot; unique_id=&quot;10082&quot;&gt;&lt;property id=&quot;20148&quot; value=&quot;5&quot;/&gt;&lt;property id=&quot;20300&quot; value=&quot;Slide 12 - &amp;quot;Phá mã thay thế đơn bảng?&amp;quot;&quot;/&gt;&lt;property id=&quot;20307&quot; value=&quot;292&quot;/&gt;&lt;/object&gt;&lt;object type=&quot;3&quot; unique_id=&quot;10083&quot;&gt;&lt;property id=&quot;20148&quot; value=&quot;5&quot;/&gt;&lt;property id=&quot;20300&quot; value=&quot;Slide 13 - &amp;quot;Phá mã thay thế đơn bảng?&amp;quot;&quot;/&gt;&lt;property id=&quot;20307&quot; value=&quot;294&quot;/&gt;&lt;/object&gt;&lt;object type=&quot;3&quot; unique_id=&quot;10084&quot;&gt;&lt;property id=&quot;20148&quot; value=&quot;5&quot;/&gt;&lt;property id=&quot;20300&quot; value=&quot;Slide 14 - &amp;quot;Ví dụ Phá mã&amp;quot;&quot;/&gt;&lt;property id=&quot;20307&quot; value=&quot;295&quot;/&gt;&lt;/object&gt;&lt;object type=&quot;3&quot; unique_id=&quot;10085&quot;&gt;&lt;property id=&quot;20148&quot; value=&quot;5&quot;/&gt;&lt;property id=&quot;20300&quot; value=&quot;Slide 15&quot;/&gt;&lt;property id=&quot;20307&quot; value=&quot;268&quot;/&gt;&lt;/object&gt;&lt;object type=&quot;3&quot; unique_id=&quot;10086&quot;&gt;&lt;property id=&quot;20148&quot; value=&quot;5&quot;/&gt;&lt;property id=&quot;20300&quot; value=&quot;Slide 16 - &amp;quot;IV. Mã hóa thay thế đa bảng&amp;quot;&quot;/&gt;&lt;property id=&quot;20307&quot; value=&quot;296&quot;/&gt;&lt;/object&gt;&lt;object type=&quot;3&quot; unique_id=&quot;10087&quot;&gt;&lt;property id=&quot;20148&quot; value=&quot;5&quot;/&gt;&lt;property id=&quot;20300&quot; value=&quot;Slide 17 - &amp;quot;Bảng Vigenere&amp;quot;&quot;/&gt;&lt;property id=&quot;20307&quot; value=&quot;297&quot;/&gt;&lt;/object&gt;&lt;object type=&quot;3&quot; unique_id=&quot;10088&quot;&gt;&lt;property id=&quot;20148&quot; value=&quot;5&quot;/&gt;&lt;property id=&quot;20300&quot; value=&quot;Slide 18 - &amp;quot;Ví dụ&amp;quot;&quot;/&gt;&lt;property id=&quot;20307&quot; value=&quot;298&quot;/&gt;&lt;/object&gt;&lt;object type=&quot;3&quot; unique_id=&quot;10089&quot;&gt;&lt;property id=&quot;20148&quot; value=&quot;5&quot;/&gt;&lt;property id=&quot;20300&quot; value=&quot;Slide 19 - &amp;quot;Phá mã Vigenere&amp;quot;&quot;/&gt;&lt;property id=&quot;20307&quot; value=&quot;299&quot;/&gt;&lt;/object&gt;&lt;object type=&quot;3&quot; unique_id=&quot;10090&quot;&gt;&lt;property id=&quot;20148&quot; value=&quot;5&quot;/&gt;&lt;property id=&quot;20300&quot; value=&quot;Slide 20 - &amp;quot;Máy ENIGMA&amp;quot;&quot;/&gt;&lt;property id=&quot;20307&quot; value=&quot;300&quot;/&gt;&lt;/object&gt;&lt;object type=&quot;3&quot; unique_id=&quot;10091&quot;&gt;&lt;property id=&quot;20148&quot; value=&quot;5&quot;/&gt;&lt;property id=&quot;20300&quot; value=&quot;Slide 21 - &amp;quot;V. Mã hóa hoán vị&amp;quot;&quot;/&gt;&lt;property id=&quot;20307&quot; value=&quot;301&quot;/&gt;&lt;/object&gt;&lt;object type=&quot;3&quot; unique_id=&quot;10092&quot;&gt;&lt;property id=&quot;20148&quot; value=&quot;5&quot;/&gt;&lt;property id=&quot;20300&quot; value=&quot;Slide 22&quot;/&gt;&lt;property id=&quot;20307&quot; value=&quot;275&quot;/&gt;&lt;/object&gt;&lt;object type=&quot;3&quot; unique_id=&quot;10093&quot;&gt;&lt;property id=&quot;20148&quot; value=&quot;5&quot;/&gt;&lt;property id=&quot;20300&quot; value=&quot;Slide 23&quot;/&gt;&lt;property id=&quot;20307&quot; value=&quot;276&quot;/&gt;&lt;/object&gt;&lt;object type=&quot;3&quot; unique_id=&quot;10094&quot;&gt;&lt;property id=&quot;20148&quot; value=&quot;5&quot;/&gt;&lt;property id=&quot;20300&quot; value=&quot;Slide 24 - &amp;quot;VI. Các trường hợp phá mã&amp;quot;&quot;/&gt;&lt;property id=&quot;20307&quot; value=&quot;304&quot;/&gt;&lt;/object&gt;&lt;object type=&quot;3&quot; unique_id=&quot;10095&quot;&gt;&lt;property id=&quot;20148&quot; value=&quot;5&quot;/&gt;&lt;property id=&quot;20300&quot; value=&quot;Slide 25&quot;/&gt;&lt;property id=&quot;20307&quot; value=&quot;305&quot;/&gt;&lt;/object&gt;&lt;object type=&quot;3&quot; unique_id=&quot;10096&quot;&gt;&lt;property id=&quot;20148&quot; value=&quot;5&quot;/&gt;&lt;property id=&quot;20300&quot; value=&quot;Slide 26&quot;/&gt;&lt;property id=&quot;20307&quot; value=&quot;306&quot;/&gt;&lt;/object&gt;&lt;object type=&quot;3&quot; unique_id=&quot;10097&quot;&gt;&lt;property id=&quot;20148&quot; value=&quot;5&quot;/&gt;&lt;property id=&quot;20300&quot; value=&quot;Slide 27&quot;/&gt;&lt;property id=&quot;20307&quot; value=&quot;307&quot;/&gt;&lt;/object&gt;&lt;object type=&quot;3&quot; unique_id=&quot;10098&quot;&gt;&lt;property id=&quot;20148&quot; value=&quot;5&quot;/&gt;&lt;property id=&quot;20300&quot; value=&quot;Slide 28 - &amp;quot;Q &amp;amp; A&amp;quot;&quot;/&gt;&lt;property id=&quot;20307&quot; value=&quot;303&quot;/&gt;&lt;/object&gt;&lt;/object&gt;&lt;object type=&quot;8&quot; unique_id=&quot;10128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db2004123l">
  <a:themeElements>
    <a:clrScheme name="sample 2">
      <a:dk1>
        <a:srgbClr val="19426B"/>
      </a:dk1>
      <a:lt1>
        <a:srgbClr val="FFFFFF"/>
      </a:lt1>
      <a:dk2>
        <a:srgbClr val="008080"/>
      </a:dk2>
      <a:lt2>
        <a:srgbClr val="B2B2B2"/>
      </a:lt2>
      <a:accent1>
        <a:srgbClr val="35C9C2"/>
      </a:accent1>
      <a:accent2>
        <a:srgbClr val="398AC7"/>
      </a:accent2>
      <a:accent3>
        <a:srgbClr val="FFFFFF"/>
      </a:accent3>
      <a:accent4>
        <a:srgbClr val="14375A"/>
      </a:accent4>
      <a:accent5>
        <a:srgbClr val="AEE1DD"/>
      </a:accent5>
      <a:accent6>
        <a:srgbClr val="337DB4"/>
      </a:accent6>
      <a:hlink>
        <a:srgbClr val="8BBC00"/>
      </a:hlink>
      <a:folHlink>
        <a:srgbClr val="6D50CA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000000"/>
        </a:dk1>
        <a:lt1>
          <a:srgbClr val="FFFFFF"/>
        </a:lt1>
        <a:dk2>
          <a:srgbClr val="1640B6"/>
        </a:dk2>
        <a:lt2>
          <a:srgbClr val="B2B2B2"/>
        </a:lt2>
        <a:accent1>
          <a:srgbClr val="48BDEC"/>
        </a:accent1>
        <a:accent2>
          <a:srgbClr val="E68402"/>
        </a:accent2>
        <a:accent3>
          <a:srgbClr val="FFFFFF"/>
        </a:accent3>
        <a:accent4>
          <a:srgbClr val="000000"/>
        </a:accent4>
        <a:accent5>
          <a:srgbClr val="B1DBF4"/>
        </a:accent5>
        <a:accent6>
          <a:srgbClr val="D07702"/>
        </a:accent6>
        <a:hlink>
          <a:srgbClr val="339966"/>
        </a:hlink>
        <a:folHlink>
          <a:srgbClr val="7E88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426B"/>
        </a:dk1>
        <a:lt1>
          <a:srgbClr val="FFFFFF"/>
        </a:lt1>
        <a:dk2>
          <a:srgbClr val="008080"/>
        </a:dk2>
        <a:lt2>
          <a:srgbClr val="B2B2B2"/>
        </a:lt2>
        <a:accent1>
          <a:srgbClr val="35C9C2"/>
        </a:accent1>
        <a:accent2>
          <a:srgbClr val="398AC7"/>
        </a:accent2>
        <a:accent3>
          <a:srgbClr val="FFFFFF"/>
        </a:accent3>
        <a:accent4>
          <a:srgbClr val="14375A"/>
        </a:accent4>
        <a:accent5>
          <a:srgbClr val="AEE1DD"/>
        </a:accent5>
        <a:accent6>
          <a:srgbClr val="337DB4"/>
        </a:accent6>
        <a:hlink>
          <a:srgbClr val="8BBC00"/>
        </a:hlink>
        <a:folHlink>
          <a:srgbClr val="6D50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25095D"/>
        </a:dk1>
        <a:lt1>
          <a:srgbClr val="FFFFFF"/>
        </a:lt1>
        <a:dk2>
          <a:srgbClr val="235752"/>
        </a:dk2>
        <a:lt2>
          <a:srgbClr val="B2B2B2"/>
        </a:lt2>
        <a:accent1>
          <a:srgbClr val="DAAF34"/>
        </a:accent1>
        <a:accent2>
          <a:srgbClr val="6F9A3C"/>
        </a:accent2>
        <a:accent3>
          <a:srgbClr val="FFFFFF"/>
        </a:accent3>
        <a:accent4>
          <a:srgbClr val="1E064E"/>
        </a:accent4>
        <a:accent5>
          <a:srgbClr val="EAD4AE"/>
        </a:accent5>
        <a:accent6>
          <a:srgbClr val="648B35"/>
        </a:accent6>
        <a:hlink>
          <a:srgbClr val="8DAED9"/>
        </a:hlink>
        <a:folHlink>
          <a:srgbClr val="A8CB7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cdb2004123l</Template>
  <TotalTime>1041</TotalTime>
  <Words>1936</Words>
  <Application>Microsoft Office PowerPoint</Application>
  <PresentationFormat>On-screen Show (4:3)</PresentationFormat>
  <Paragraphs>314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Arial</vt:lpstr>
      <vt:lpstr>Arial-Rounded</vt:lpstr>
      <vt:lpstr>Calibri</vt:lpstr>
      <vt:lpstr>Cambria</vt:lpstr>
      <vt:lpstr>Cambria Math</vt:lpstr>
      <vt:lpstr>Chelthm</vt:lpstr>
      <vt:lpstr>Consolas</vt:lpstr>
      <vt:lpstr>Fujiyama</vt:lpstr>
      <vt:lpstr>Tahoma</vt:lpstr>
      <vt:lpstr>Times New Roman</vt:lpstr>
      <vt:lpstr>Verdana</vt:lpstr>
      <vt:lpstr>Wingdings</vt:lpstr>
      <vt:lpstr>cdb2004123l</vt:lpstr>
      <vt:lpstr>MÃ HÓA ĐỐI XỨNG CỔ ĐIỂN</vt:lpstr>
      <vt:lpstr>Nội Dung Chương 2</vt:lpstr>
      <vt:lpstr>I. Mã hóa Ceasar</vt:lpstr>
      <vt:lpstr>I. Mã hóa Ceasar</vt:lpstr>
      <vt:lpstr>Phá mã Ceasar: thử 25 khóa k</vt:lpstr>
      <vt:lpstr>I. Mã hóa Ceasar</vt:lpstr>
      <vt:lpstr>Mô hình mã hóa Ceasar</vt:lpstr>
      <vt:lpstr>II. Mô hình mã hóa đối xứng</vt:lpstr>
      <vt:lpstr>II. Mô hình mã hóa đối xứng</vt:lpstr>
      <vt:lpstr>III. Mã hóa thay thế đơn bảng</vt:lpstr>
      <vt:lpstr>Phá mã thay thế đơn bảng?</vt:lpstr>
      <vt:lpstr>Phá mã thay thế đơn bảng?</vt:lpstr>
      <vt:lpstr>Phá mã thay thế đơn bảng?</vt:lpstr>
      <vt:lpstr>Ví dụ Phá mã</vt:lpstr>
      <vt:lpstr>PowerPoint Presentation</vt:lpstr>
      <vt:lpstr>IV. Mã hóa thay thế đa bảng</vt:lpstr>
      <vt:lpstr>Bảng Vigenere</vt:lpstr>
      <vt:lpstr>Ví dụ</vt:lpstr>
      <vt:lpstr>Phá mã Vigenere</vt:lpstr>
      <vt:lpstr>Máy ENIGMA</vt:lpstr>
      <vt:lpstr>V. Mã hóa hoán vị</vt:lpstr>
      <vt:lpstr>PowerPoint Presentation</vt:lpstr>
      <vt:lpstr>PowerPoint Presentation</vt:lpstr>
      <vt:lpstr>VI. Các trường hợp phá mã</vt:lpstr>
      <vt:lpstr>PowerPoint Presentation</vt:lpstr>
      <vt:lpstr>PowerPoint Presentation</vt:lpstr>
      <vt:lpstr>PowerPoint Presentation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MinhVan</dc:creator>
  <cp:lastModifiedBy>Tran Minh Van</cp:lastModifiedBy>
  <cp:revision>53</cp:revision>
  <dcterms:created xsi:type="dcterms:W3CDTF">2012-08-23T07:09:20Z</dcterms:created>
  <dcterms:modified xsi:type="dcterms:W3CDTF">2025-02-19T01:04:27Z</dcterms:modified>
</cp:coreProperties>
</file>