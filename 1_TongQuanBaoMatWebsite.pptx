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74" r:id="rId3"/>
    <p:sldId id="296" r:id="rId4"/>
    <p:sldId id="297" r:id="rId5"/>
    <p:sldId id="311" r:id="rId6"/>
    <p:sldId id="298" r:id="rId7"/>
    <p:sldId id="312" r:id="rId8"/>
    <p:sldId id="313" r:id="rId9"/>
    <p:sldId id="299" r:id="rId10"/>
    <p:sldId id="300" r:id="rId11"/>
    <p:sldId id="301" r:id="rId12"/>
    <p:sldId id="302" r:id="rId13"/>
    <p:sldId id="266" r:id="rId14"/>
    <p:sldId id="280" r:id="rId15"/>
    <p:sldId id="307" r:id="rId16"/>
    <p:sldId id="308" r:id="rId17"/>
    <p:sldId id="281" r:id="rId18"/>
    <p:sldId id="279" r:id="rId19"/>
    <p:sldId id="268" r:id="rId20"/>
    <p:sldId id="269" r:id="rId21"/>
    <p:sldId id="270" r:id="rId22"/>
    <p:sldId id="272" r:id="rId23"/>
    <p:sldId id="309" r:id="rId24"/>
    <p:sldId id="310" r:id="rId25"/>
    <p:sldId id="303" r:id="rId26"/>
    <p:sldId id="292" r:id="rId27"/>
    <p:sldId id="293" r:id="rId28"/>
    <p:sldId id="284" r:id="rId29"/>
    <p:sldId id="291" r:id="rId30"/>
    <p:sldId id="287" r:id="rId31"/>
    <p:sldId id="289" r:id="rId32"/>
    <p:sldId id="282" r:id="rId33"/>
    <p:sldId id="290" r:id="rId34"/>
    <p:sldId id="288" r:id="rId35"/>
    <p:sldId id="285" r:id="rId36"/>
    <p:sldId id="286" r:id="rId37"/>
    <p:sldId id="267" r:id="rId38"/>
    <p:sldId id="294" r:id="rId39"/>
    <p:sldId id="295" r:id="rId40"/>
    <p:sldId id="304" r:id="rId41"/>
    <p:sldId id="305" r:id="rId42"/>
    <p:sldId id="306" r:id="rId43"/>
    <p:sldId id="283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851"/>
    <a:srgbClr val="8E6C00"/>
    <a:srgbClr val="FFECAF"/>
    <a:srgbClr val="301F67"/>
    <a:srgbClr val="8BBC00"/>
    <a:srgbClr val="4A6400"/>
    <a:srgbClr val="16524F"/>
    <a:srgbClr val="1E4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C2C7B-8F62-41CD-AF26-C9F322CBBCB0}" v="9" dt="2026-09-08T13:16:50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7" autoAdjust="0"/>
    <p:restoredTop sz="93827" autoAdjust="0"/>
  </p:normalViewPr>
  <p:slideViewPr>
    <p:cSldViewPr>
      <p:cViewPr varScale="1">
        <p:scale>
          <a:sx n="82" d="100"/>
          <a:sy n="82" d="100"/>
        </p:scale>
        <p:origin x="88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Minh Van" userId="6494f060fdbe5487" providerId="LiveId" clId="{9939A774-7D89-4A49-92FE-4C56D0513520}"/>
    <pc:docChg chg="modSld">
      <pc:chgData name="Tran Minh Van" userId="6494f060fdbe5487" providerId="LiveId" clId="{9939A774-7D89-4A49-92FE-4C56D0513520}" dt="2026-09-08T13:16:50.730" v="55" actId="1036"/>
      <pc:docMkLst>
        <pc:docMk/>
      </pc:docMkLst>
      <pc:sldChg chg="addSp delSp modSp mod">
        <pc:chgData name="Tran Minh Van" userId="6494f060fdbe5487" providerId="LiveId" clId="{9939A774-7D89-4A49-92FE-4C56D0513520}" dt="2026-09-08T13:16:50.730" v="55" actId="1036"/>
        <pc:sldMkLst>
          <pc:docMk/>
          <pc:sldMk cId="4038580900" sldId="304"/>
        </pc:sldMkLst>
        <pc:spChg chg="mod">
          <ac:chgData name="Tran Minh Van" userId="6494f060fdbe5487" providerId="LiveId" clId="{9939A774-7D89-4A49-92FE-4C56D0513520}" dt="2026-09-08T13:16:50.730" v="55" actId="1036"/>
          <ac:spMkLst>
            <pc:docMk/>
            <pc:sldMk cId="4038580900" sldId="304"/>
            <ac:spMk id="3" creationId="{779FBD7A-B8EC-28D5-7C20-557C4481CB92}"/>
          </ac:spMkLst>
        </pc:spChg>
        <pc:picChg chg="add mod">
          <ac:chgData name="Tran Minh Van" userId="6494f060fdbe5487" providerId="LiveId" clId="{9939A774-7D89-4A49-92FE-4C56D0513520}" dt="2026-09-08T13:14:53.810" v="4" actId="14100"/>
          <ac:picMkLst>
            <pc:docMk/>
            <pc:sldMk cId="4038580900" sldId="304"/>
            <ac:picMk id="5" creationId="{B5C640F3-9D49-21A9-3B94-5AB2CEF54028}"/>
          </ac:picMkLst>
        </pc:picChg>
        <pc:picChg chg="del">
          <ac:chgData name="Tran Minh Van" userId="6494f060fdbe5487" providerId="LiveId" clId="{9939A774-7D89-4A49-92FE-4C56D0513520}" dt="2026-09-08T13:14:47.578" v="0" actId="478"/>
          <ac:picMkLst>
            <pc:docMk/>
            <pc:sldMk cId="4038580900" sldId="304"/>
            <ac:picMk id="8194" creationId="{8AFBD60B-416A-4A0F-91A5-49FE04579A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96832-282D-4A52-9021-3D432DA032E9}" type="datetimeFigureOut">
              <a:rPr lang="en-US" smtClean="0"/>
              <a:t>08/09/2026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F9079-A2B0-4632-AD4E-3055FCA5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9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641B494-C657-45D0-ABCD-A75543A4CAB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0" y="3527425"/>
            <a:ext cx="9144000" cy="33575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86525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86525"/>
            <a:ext cx="2895600" cy="168275"/>
          </a:xfrm>
        </p:spPr>
        <p:txBody>
          <a:bodyPr/>
          <a:lstStyle>
            <a:lvl1pPr algn="ctr">
              <a:defRPr sz="1200" b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86525"/>
            <a:ext cx="2133600" cy="16827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C23A9963-A348-489E-A078-8F89107914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3086100"/>
            <a:ext cx="9144000" cy="592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457200"/>
            <a:ext cx="7772400" cy="19050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343400" y="3178175"/>
            <a:ext cx="45720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Nha Trang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+mj-lt"/>
              </a:defRPr>
            </a:lvl1pPr>
          </a:lstStyle>
          <a:p>
            <a:fld id="{ADD77C13-390F-400C-BEC5-92A0E1FA74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7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99138-99A1-4A5E-B84D-DF9D4476A9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5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414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414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288167-4551-49DA-989E-F9BDA476C3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4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24308F-8145-4505-9178-3BF1FF6120F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7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23BD9F-54EB-44E0-A0D7-23A2247606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3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01550-BF9C-41F9-8340-2C48129102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6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6DF10-34F5-49D8-9D01-2741B9C7A7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3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CAC9A1-F280-4A33-9AE2-BBB6E29992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1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758ADD-F6D5-4447-B201-793B45BC6D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5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6337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6337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60DC57-09D7-4BBF-8C97-5DEFB1E528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1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DB9E937A-3ADE-49E0-A08F-FE8406E577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91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3C5F29E0-B3B3-4234-B135-EABB7CC303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gray">
          <a:xfrm>
            <a:off x="0" y="872332"/>
            <a:ext cx="9144000" cy="15636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14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24600" y="6564313"/>
            <a:ext cx="2362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+mn-lt"/>
              </a:defRPr>
            </a:lvl1pPr>
          </a:lstStyle>
          <a:p>
            <a:r>
              <a:rPr lang="en-US"/>
              <a:t>Nha Trang University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1A744CEE-9186-4AB4-8C33-90025AE8CD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381000" y="1524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4"/>
          <p:cNvSpPr>
            <a:spLocks noGrp="1" noChangeArrowheads="1"/>
          </p:cNvSpPr>
          <p:nvPr>
            <p:ph type="ctrTitle"/>
          </p:nvPr>
        </p:nvSpPr>
        <p:spPr>
          <a:xfrm>
            <a:off x="0" y="762000"/>
            <a:ext cx="9144000" cy="21336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en-US" sz="4800">
                <a:latin typeface="Chelthm" pitchFamily="18" charset="0"/>
                <a:cs typeface="Chelthm" pitchFamily="18" charset="0"/>
              </a:rPr>
              <a:t>TỔNG QUAN BẢO MẬT WEBSITE</a:t>
            </a:r>
            <a:endParaRPr lang="en-US" sz="4800" b="1">
              <a:latin typeface="Chelthm" pitchFamily="18" charset="0"/>
              <a:cs typeface="Chelthm" pitchFamily="18" charset="0"/>
            </a:endParaRPr>
          </a:p>
        </p:txBody>
      </p:sp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762000" y="3088943"/>
            <a:ext cx="7696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>
                <a:solidFill>
                  <a:schemeClr val="bg1"/>
                </a:solidFill>
                <a:latin typeface="Arial-Rounded" pitchFamily="34" charset="0"/>
                <a:cs typeface="Arial-Rounded" pitchFamily="34" charset="0"/>
              </a:rPr>
              <a:t>CHƯƠNG  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698544"/>
            <a:ext cx="4044369" cy="269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76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Nội Dung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14600"/>
            <a:ext cx="8458200" cy="3048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/>
              <a:t>Các mô hình ứng dụng website</a:t>
            </a:r>
          </a:p>
          <a:p>
            <a:pPr marL="571500" indent="-571500">
              <a:buFont typeface="+mj-lt"/>
              <a:buAutoNum type="romanUcPeriod"/>
            </a:pPr>
            <a:r>
              <a:rPr lang="en-US"/>
              <a:t>Tấn công quá trình truyền dữ liệu và vai trò của mã hóa</a:t>
            </a:r>
          </a:p>
          <a:p>
            <a:pPr marL="571500" indent="-571500">
              <a:buFont typeface="+mj-lt"/>
              <a:buAutoNum type="romanUcPeriod"/>
            </a:pPr>
            <a:r>
              <a:rPr lang="en-US"/>
              <a:t>Tấn công phá hoại hệ thống và lỗ hổng bảo mật Website</a:t>
            </a:r>
          </a:p>
          <a:p>
            <a:pPr marL="571500" indent="-571500">
              <a:buFont typeface="+mj-lt"/>
              <a:buAutoNum type="romanUcPeriod"/>
            </a:pPr>
            <a:r>
              <a:rPr lang="en-US"/>
              <a:t>Giới thiệu về OWASP và DVWA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</p:spTree>
    <p:extLst>
      <p:ext uri="{BB962C8B-B14F-4D97-AF65-F5344CB8AC3E}">
        <p14:creationId xmlns:p14="http://schemas.microsoft.com/office/powerpoint/2010/main" val="258660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26874-3CEF-408F-96BE-4F8070260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28800"/>
            <a:ext cx="3767915" cy="1103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0E8FAD-2083-4794-B30E-DFF97390B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870" y="1857375"/>
            <a:ext cx="3944180" cy="1074737"/>
          </a:xfrm>
          <a:prstGeom prst="rect">
            <a:avLst/>
          </a:prstGeom>
        </p:spPr>
      </p:pic>
      <p:pic>
        <p:nvPicPr>
          <p:cNvPr id="2050" name="Picture 2" descr="Complete Guide in HTML, CSS &amp;amp;amp; JavaScript Bootcamp - Tutorialspoint">
            <a:extLst>
              <a:ext uri="{FF2B5EF4-FFF2-40B4-BE49-F238E27FC236}">
                <a16:creationId xmlns:a16="http://schemas.microsoft.com/office/drawing/2014/main" id="{10C14540-6106-443A-83E9-8394D0F17A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63" t="22500" r="2363" b="19278"/>
          <a:stretch/>
        </p:blipFill>
        <p:spPr bwMode="auto">
          <a:xfrm>
            <a:off x="646703" y="3313112"/>
            <a:ext cx="3236508" cy="188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EA1A57-3950-4A56-BF45-6DDEEDEEED6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b="35155"/>
          <a:stretch/>
        </p:blipFill>
        <p:spPr>
          <a:xfrm>
            <a:off x="864782" y="5342475"/>
            <a:ext cx="2800350" cy="753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B9EC91-59BE-475C-BB0E-DF708F8CE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870" y="3659921"/>
            <a:ext cx="3896936" cy="25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8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DD7306B-08D9-402E-8719-83E04676E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09"/>
          <a:stretch/>
        </p:blipFill>
        <p:spPr bwMode="auto">
          <a:xfrm>
            <a:off x="1866900" y="2209800"/>
            <a:ext cx="54102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4DC775-C9B7-4542-94EA-0AB1A2BB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5635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Server Side Rendering (SSR)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E77038C-BFB2-4A14-8DE8-E99D940786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09"/>
          <a:stretch/>
        </p:blipFill>
        <p:spPr bwMode="auto">
          <a:xfrm>
            <a:off x="2019300" y="2362200"/>
            <a:ext cx="54102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513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101A3-A89C-0F07-BD5F-A1686F11B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6C7A-CDC5-BAF6-B3E9-91EDDBE3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E1D82-65A3-4B28-E89D-9036BCEB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11E946-67FC-9211-D9FD-9A200DFFC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5635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Server Side Rendering (SSR)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F1401F-F0FA-8EFB-5B15-4116B0CB4FE3}"/>
              </a:ext>
            </a:extLst>
          </p:cNvPr>
          <p:cNvSpPr txBox="1">
            <a:spLocks/>
          </p:cNvSpPr>
          <p:nvPr/>
        </p:nvSpPr>
        <p:spPr bwMode="auto">
          <a:xfrm>
            <a:off x="228600" y="2209800"/>
            <a:ext cx="87630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endParaRPr lang="en-US" sz="2000" kern="0">
              <a:latin typeface="Consolas" panose="020B0609020204030204" pitchFamily="49" charset="0"/>
            </a:endParaRP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var builder = WebApplication.CreateBuilder(args);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var app = builder.Build();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app.MapGet("/", () =&gt; Results.Content(    	"&lt;html&gt;&lt;body&gt;&lt;h1&gt;Hello, World!&lt;/h1&gt;&lt;/body&gt;&lt;/html&gt;",     	"text/html"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	)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app.Run();</a:t>
            </a:r>
          </a:p>
        </p:txBody>
      </p:sp>
    </p:spTree>
    <p:extLst>
      <p:ext uri="{BB962C8B-B14F-4D97-AF65-F5344CB8AC3E}">
        <p14:creationId xmlns:p14="http://schemas.microsoft.com/office/powerpoint/2010/main" val="85892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4DC775-C9B7-4542-94EA-0AB1A2BB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5635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Client Side Rendering (CSR)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E156878-CE54-4724-82F9-D939D37800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18" b="1"/>
          <a:stretch/>
        </p:blipFill>
        <p:spPr bwMode="auto">
          <a:xfrm>
            <a:off x="311714" y="2057401"/>
            <a:ext cx="8686641" cy="388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275DE1A-F79B-4CE7-9C84-9D3A230321B7}"/>
              </a:ext>
            </a:extLst>
          </p:cNvPr>
          <p:cNvSpPr txBox="1">
            <a:spLocks/>
          </p:cNvSpPr>
          <p:nvPr/>
        </p:nvSpPr>
        <p:spPr bwMode="auto">
          <a:xfrm>
            <a:off x="3456516" y="4648200"/>
            <a:ext cx="1187271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b="0" kern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884831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C1723-CF7F-06F1-518C-B641D067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8DA4-8EF6-03A9-70CE-1B5F05B4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4CBB8-0C98-DDC7-41BE-0FF9BEBB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B6CCB3-FDEF-911C-9125-D4DE0D422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5635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Client Side Rendering (CSR)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92D5DB-87D2-DDC9-9DCD-38CD5C865650}"/>
              </a:ext>
            </a:extLst>
          </p:cNvPr>
          <p:cNvSpPr txBox="1">
            <a:spLocks/>
          </p:cNvSpPr>
          <p:nvPr/>
        </p:nvSpPr>
        <p:spPr bwMode="auto">
          <a:xfrm>
            <a:off x="304800" y="2767012"/>
            <a:ext cx="8763000" cy="3328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// Backend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var app = builder.Build();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app.MapGet("/api/message", () =&gt; new { 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	text = "Hello from the C# Backend!" 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});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sz="2000" kern="0">
                <a:latin typeface="Consolas" panose="020B0609020204030204" pitchFamily="49" charset="0"/>
              </a:rPr>
              <a:t>app.Run();</a:t>
            </a:r>
          </a:p>
        </p:txBody>
      </p:sp>
    </p:spTree>
    <p:extLst>
      <p:ext uri="{BB962C8B-B14F-4D97-AF65-F5344CB8AC3E}">
        <p14:creationId xmlns:p14="http://schemas.microsoft.com/office/powerpoint/2010/main" val="910143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6E967-9C06-3F5B-E75B-1B55B1C6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3B62-6BC0-791E-12E8-E5569F5B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DAA63-449B-6D93-D42B-70CECB69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449F54C-718F-1691-B5A7-C73C3B962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5635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Client Side Rendering (CSR)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18652E-7C71-87A5-F6E6-DD8BCA197E3C}"/>
              </a:ext>
            </a:extLst>
          </p:cNvPr>
          <p:cNvSpPr txBox="1">
            <a:spLocks/>
          </p:cNvSpPr>
          <p:nvPr/>
        </p:nvSpPr>
        <p:spPr bwMode="auto">
          <a:xfrm>
            <a:off x="-294903" y="1855788"/>
            <a:ext cx="9473774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&lt;body&gt;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&lt;div id="root"&gt;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    &lt;h1 id="message"&gt;Loading data from backend...&lt;/h1&gt;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&lt;/div&gt;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kern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&lt;script&gt;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    const BACKEND_URL = 'http://localhost:5000/api/message';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kern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    async function loadBackendData() {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       const response = await fetch(BACKEND_URL);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       const data = await response.json();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       document.getElementById('message').textContent = data.text;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    }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kern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    loadBackendData();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    &lt;/script&gt;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>
                <a:latin typeface="Consolas" panose="020B0609020204030204" pitchFamily="49" charset="0"/>
              </a:rPr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2877887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4DC775-C9B7-4542-94EA-0AB1A2BB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5635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Client-side Rendering (CSR)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73A00-438F-42AA-A4D8-A1D879950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402" y="3124200"/>
            <a:ext cx="3767798" cy="3350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AF2DCC-ABFB-42A5-8950-56DCC940B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402" y="2202583"/>
            <a:ext cx="37666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02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4DC775-C9B7-4542-94EA-0AB1A2BB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635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Database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192A59-290C-4D05-A965-1BE2039F2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57450"/>
            <a:ext cx="4267200" cy="1566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C9178A-30E0-42F0-95FE-5B0ACB63D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457450"/>
            <a:ext cx="3566488" cy="156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1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4DC775-C9B7-4542-94EA-0AB1A2BB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635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Triển khai website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4F592B5-353E-4103-B6F4-ED60B0852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90654"/>
            <a:ext cx="6553200" cy="4318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682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4DC775-C9B7-4542-94EA-0AB1A2BB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5635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Triển khai website</a:t>
            </a:r>
          </a:p>
        </p:txBody>
      </p:sp>
      <p:pic>
        <p:nvPicPr>
          <p:cNvPr id="6146" name="Picture 2" descr="Nginx vs Apache: Which Web Server Is the Best? (2022 Edition)">
            <a:extLst>
              <a:ext uri="{FF2B5EF4-FFF2-40B4-BE49-F238E27FC236}">
                <a16:creationId xmlns:a16="http://schemas.microsoft.com/office/drawing/2014/main" id="{39E3F2F9-EFDD-4ACE-A402-4B4C25E5B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63978"/>
            <a:ext cx="7010400" cy="5044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64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563563"/>
          </a:xfrm>
        </p:spPr>
        <p:txBody>
          <a:bodyPr/>
          <a:lstStyle/>
          <a:p>
            <a:r>
              <a:rPr lang="en-US" sz="4000">
                <a:latin typeface="Aptos Narrow" panose="020B0004020202020204" pitchFamily="34" charset="0"/>
              </a:rPr>
              <a:t>Một số ví dụ tấn công mạng tại Việt Nam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968375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vi-VN"/>
              <a:t>N</a:t>
            </a:r>
            <a:r>
              <a:rPr lang="en-US"/>
              <a:t>gày 29/7/2016, tin tặc tấn công Việt Nam Airline</a:t>
            </a:r>
            <a:endParaRPr lang="vi-VN"/>
          </a:p>
          <a:p>
            <a:pPr marL="514350" indent="-514350">
              <a:buFont typeface="+mj-lt"/>
              <a:buAutoNum type="arabicParenR"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7C13-390F-400C-BEC5-92A0E1FA74B9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 descr="Kết quả hình ảnh cho hacker sân bay tân sơn nhấ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133600"/>
            <a:ext cx="8173710" cy="471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996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141DE0-84BA-4A6D-B504-D6F6A196E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81" y="1060260"/>
            <a:ext cx="7730319" cy="5797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6FE9A6-174B-762D-F44A-2FF9E24E3A0E}"/>
              </a:ext>
            </a:extLst>
          </p:cNvPr>
          <p:cNvSpPr txBox="1">
            <a:spLocks/>
          </p:cNvSpPr>
          <p:nvPr/>
        </p:nvSpPr>
        <p:spPr bwMode="black">
          <a:xfrm>
            <a:off x="252688" y="2286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 i="0" u="none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en-US" sz="4000" kern="0">
                <a:latin typeface="Aptos Narrow" panose="020B0004020202020204" pitchFamily="34" charset="0"/>
              </a:rPr>
              <a:t>Một số ví dụ tấn công mạng tại Việt Nam</a:t>
            </a:r>
          </a:p>
        </p:txBody>
      </p:sp>
    </p:spTree>
    <p:extLst>
      <p:ext uri="{BB962C8B-B14F-4D97-AF65-F5344CB8AC3E}">
        <p14:creationId xmlns:p14="http://schemas.microsoft.com/office/powerpoint/2010/main" val="1200694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563563"/>
          </a:xfrm>
        </p:spPr>
        <p:txBody>
          <a:bodyPr/>
          <a:lstStyle/>
          <a:p>
            <a:r>
              <a:rPr lang="en-US" sz="4000">
                <a:latin typeface="Aptos Narrow" panose="020B0004020202020204" pitchFamily="34" charset="0"/>
              </a:rPr>
              <a:t>Một số ví dụ tấn công mạng tại Việt Nam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65225"/>
            <a:ext cx="8686800" cy="1237180"/>
          </a:xfrm>
        </p:spPr>
        <p:txBody>
          <a:bodyPr/>
          <a:lstStyle/>
          <a:p>
            <a:pPr marL="514350" indent="-514350">
              <a:buFont typeface="+mj-lt"/>
              <a:buAutoNum type="arabicParenR" startAt="2"/>
            </a:pPr>
            <a:r>
              <a:rPr lang="vi-VN" sz="2200"/>
              <a:t>N</a:t>
            </a:r>
            <a:r>
              <a:rPr lang="en-US" sz="2200"/>
              <a:t>gày 24/3/2024, Công ty chứng khoán VNDirect bị tấn công mã hóa đòi tiền chuộc (ransomware), dừng hoạt động đến ngày 2/4/2024</a:t>
            </a:r>
            <a:endParaRPr lang="vi-VN" sz="2200"/>
          </a:p>
          <a:p>
            <a:pPr marL="514350" indent="-514350">
              <a:buFont typeface="+mj-lt"/>
              <a:buAutoNum type="arabicParenR" startAt="2"/>
            </a:pPr>
            <a:endParaRPr lang="en-US" sz="2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7C13-390F-400C-BEC5-92A0E1FA74B9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3074" name="Picture 2" descr="Khách hàng vẫn chưa thể truy cập vào ứng dụng của VNDIRECT">
            <a:extLst>
              <a:ext uri="{FF2B5EF4-FFF2-40B4-BE49-F238E27FC236}">
                <a16:creationId xmlns:a16="http://schemas.microsoft.com/office/drawing/2014/main" id="{A0C8B0E3-FE51-C561-B5E7-CEB543BE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423044"/>
            <a:ext cx="5181600" cy="436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640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563563"/>
          </a:xfrm>
        </p:spPr>
        <p:txBody>
          <a:bodyPr/>
          <a:lstStyle/>
          <a:p>
            <a:r>
              <a:rPr lang="en-US" sz="4000">
                <a:latin typeface="Aptos Narrow" panose="020B0004020202020204" pitchFamily="34" charset="0"/>
              </a:rPr>
              <a:t>Một số ví dụ tấn công mạng tại Việt Nam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7942"/>
          </a:xfrm>
        </p:spPr>
        <p:txBody>
          <a:bodyPr/>
          <a:lstStyle/>
          <a:p>
            <a:pPr marL="514350" indent="-514350">
              <a:buFont typeface="+mj-lt"/>
              <a:buAutoNum type="arabicParenR" startAt="3"/>
            </a:pPr>
            <a:r>
              <a:rPr lang="en-US"/>
              <a:t>Các vụ tấn công khác</a:t>
            </a:r>
            <a:endParaRPr lang="vi-VN"/>
          </a:p>
          <a:p>
            <a:pPr marL="514350" indent="-514350">
              <a:buFont typeface="+mj-lt"/>
              <a:buAutoNum type="arabicParenR" startAt="3"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7C13-390F-400C-BEC5-92A0E1FA74B9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4098" name="Picture 2" descr="Anh-tin-bai">
            <a:extLst>
              <a:ext uri="{FF2B5EF4-FFF2-40B4-BE49-F238E27FC236}">
                <a16:creationId xmlns:a16="http://schemas.microsoft.com/office/drawing/2014/main" id="{1E9E1422-ED23-CAF3-6672-458EBE322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3167"/>
            <a:ext cx="9144000" cy="513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440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Tấn công mạng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2050" name="Picture 2" descr="Thời gian gián đoạn trung bình của một công ty sau khi bị ransomware. Ảnh: Statista">
            <a:extLst>
              <a:ext uri="{FF2B5EF4-FFF2-40B4-BE49-F238E27FC236}">
                <a16:creationId xmlns:a16="http://schemas.microsoft.com/office/drawing/2014/main" id="{BE5513DD-077E-38D2-BA9A-B2485809B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7419109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4A9E61-0557-22D6-BC46-5AE575762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9683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Thời gian gián đoạn trung bình khi bị ransomware</a:t>
            </a:r>
            <a:endParaRPr lang="vi-VN"/>
          </a:p>
          <a:p>
            <a:pPr marL="514350" indent="-514350">
              <a:buFont typeface="+mj-lt"/>
              <a:buAutoNum type="arabicParenR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29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Môn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/>
          <a:lstStyle/>
          <a:p>
            <a:r>
              <a:rPr lang="vi-VN"/>
              <a:t>Nội dung môn học</a:t>
            </a:r>
            <a:r>
              <a:rPr lang="en-US"/>
              <a:t> “Bảo mật ứng dụng Web”</a:t>
            </a:r>
            <a:endParaRPr lang="vi-VN"/>
          </a:p>
          <a:p>
            <a:pPr lvl="1"/>
            <a:r>
              <a:rPr lang="vi-VN"/>
              <a:t> Tìm hiểu về mã hóa và phá mã.</a:t>
            </a:r>
          </a:p>
          <a:p>
            <a:pPr lvl="1"/>
            <a:r>
              <a:rPr lang="en-US"/>
              <a:t> Ứ</a:t>
            </a:r>
            <a:r>
              <a:rPr lang="vi-VN"/>
              <a:t>ng dụng của mã hóa.</a:t>
            </a:r>
          </a:p>
          <a:p>
            <a:pPr lvl="1"/>
            <a:r>
              <a:rPr lang="en-US"/>
              <a:t> Một số kỹ thuật tấn công ứng dụng web: SQL Injection, XSS, CRSS,...</a:t>
            </a:r>
          </a:p>
          <a:p>
            <a:pPr lvl="1"/>
            <a:r>
              <a:rPr lang="en-US"/>
              <a:t> Tường lửa web (WAF) và m</a:t>
            </a:r>
            <a:r>
              <a:rPr lang="vi-VN"/>
              <a:t>ột số </a:t>
            </a:r>
            <a:r>
              <a:rPr lang="en-US"/>
              <a:t>vấn đề liên quan khác.</a:t>
            </a:r>
            <a:endParaRPr lang="vi-VN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7C13-390F-400C-BEC5-92A0E1FA74B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5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Mã hóa file</a:t>
            </a:r>
          </a:p>
        </p:txBody>
      </p:sp>
      <p:pic>
        <p:nvPicPr>
          <p:cNvPr id="1026" name="Picture 2" descr="Pháº§n má»m 7-Zip">
            <a:extLst>
              <a:ext uri="{FF2B5EF4-FFF2-40B4-BE49-F238E27FC236}">
                <a16:creationId xmlns:a16="http://schemas.microsoft.com/office/drawing/2014/main" id="{43EBCA4A-1A51-4A41-B834-1BA16BF63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03" y="679618"/>
            <a:ext cx="7247994" cy="614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406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34A6E-D33D-44C7-8D7D-60A4E320C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1152525"/>
            <a:ext cx="8848725" cy="4552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Giao thức SSL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8" name="Oval 7"/>
          <p:cNvSpPr/>
          <p:nvPr/>
        </p:nvSpPr>
        <p:spPr>
          <a:xfrm>
            <a:off x="1676400" y="1152525"/>
            <a:ext cx="1905000" cy="9144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22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Kiểm tra download file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8" y="1349991"/>
            <a:ext cx="9067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2213140" y="3788391"/>
            <a:ext cx="1905000" cy="26670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5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Chữ ký điện tử trên file PDF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4AF28-06B2-33C8-EC08-B949B504A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9200"/>
            <a:ext cx="8595360" cy="52458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7910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Blockchain và Tiền số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AAA206-CCB7-E7A4-C420-2D6930524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64" y="1600200"/>
            <a:ext cx="8044472" cy="458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30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Blockchain và Tiền số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61684-75A3-4F99-DDB1-80B8E96DC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5" y="1066800"/>
            <a:ext cx="9144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19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I. Các mô hình ứng dụng Website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4DC775-C9B7-4542-94EA-0AB1A2BB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3675"/>
            <a:ext cx="8229600" cy="16002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Bảo mật website:</a:t>
            </a:r>
          </a:p>
          <a:p>
            <a:pPr marL="0" indent="0">
              <a:buNone/>
            </a:pPr>
            <a:r>
              <a:rPr lang="en-US" b="0">
                <a:solidFill>
                  <a:srgbClr val="173851"/>
                </a:solidFill>
              </a:rPr>
              <a:t>- Tất cả mọi thành tố liên quan đến website đều có khả năng có lỗi bảo mật</a:t>
            </a:r>
          </a:p>
        </p:txBody>
      </p:sp>
    </p:spTree>
    <p:extLst>
      <p:ext uri="{BB962C8B-B14F-4D97-AF65-F5344CB8AC3E}">
        <p14:creationId xmlns:p14="http://schemas.microsoft.com/office/powerpoint/2010/main" val="1402502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763000" cy="563563"/>
          </a:xfrm>
        </p:spPr>
        <p:txBody>
          <a:bodyPr/>
          <a:lstStyle/>
          <a:p>
            <a:r>
              <a:rPr lang="en-US"/>
              <a:t>II. Tấn công quá trình truyền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11969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Các loại hình tấn công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/>
              <a:t>Xem trộm thông tin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/>
              <a:t>Sửa nội dung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/>
              <a:t>Mạo danh</a:t>
            </a:r>
          </a:p>
          <a:p>
            <a:pPr marL="914400" lvl="1" indent="-514350">
              <a:buFont typeface="+mj-lt"/>
              <a:buAutoNum type="arabicParenR"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239A6-5EEF-416B-89E0-975B8D6C77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856"/>
          <a:stretch/>
        </p:blipFill>
        <p:spPr>
          <a:xfrm>
            <a:off x="828629" y="3555120"/>
            <a:ext cx="7248571" cy="299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04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563563"/>
          </a:xfrm>
        </p:spPr>
        <p:txBody>
          <a:bodyPr/>
          <a:lstStyle/>
          <a:p>
            <a:r>
              <a:rPr lang="en-US"/>
              <a:t>II. Tấn công quá trình truyền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770" y="1143000"/>
            <a:ext cx="8229600" cy="25146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Giải pháp khắc phục: Ứng dụng mã hóa dữ liệu và chữ ký điện tử</a:t>
            </a:r>
          </a:p>
          <a:p>
            <a:pPr marL="857250" lvl="1" indent="-457200">
              <a:buFontTx/>
              <a:buChar char="-"/>
            </a:pPr>
            <a:r>
              <a:rPr lang="en-US"/>
              <a:t>Mã hóa đối xứng, bất đối xứng</a:t>
            </a:r>
          </a:p>
          <a:p>
            <a:pPr marL="857250" lvl="1" indent="-457200">
              <a:buFontTx/>
              <a:buChar char="-"/>
            </a:pPr>
            <a:r>
              <a:rPr lang="en-US"/>
              <a:t>Hàm băm, chữ ký điện tử</a:t>
            </a:r>
          </a:p>
          <a:p>
            <a:pPr marL="857250" lvl="1" indent="-457200">
              <a:buFontTx/>
              <a:buChar char="-"/>
            </a:pPr>
            <a:r>
              <a:rPr lang="en-US"/>
              <a:t>Giao thức SSL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1026" name="Picture 2" descr="Chữ kí số (Digital signature) là gì?">
            <a:extLst>
              <a:ext uri="{FF2B5EF4-FFF2-40B4-BE49-F238E27FC236}">
                <a16:creationId xmlns:a16="http://schemas.microsoft.com/office/drawing/2014/main" id="{962926E9-E9F7-47A0-9804-07D311BED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83" y="3841749"/>
            <a:ext cx="3433233" cy="257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ách cài đặt chứng chỉ SSL cho website">
            <a:extLst>
              <a:ext uri="{FF2B5EF4-FFF2-40B4-BE49-F238E27FC236}">
                <a16:creationId xmlns:a16="http://schemas.microsoft.com/office/drawing/2014/main" id="{FB0D1076-27A2-4435-A199-C698DAE503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5" r="9842"/>
          <a:stretch/>
        </p:blipFill>
        <p:spPr bwMode="auto">
          <a:xfrm>
            <a:off x="4507008" y="3841749"/>
            <a:ext cx="3635184" cy="2635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647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915400" cy="563563"/>
          </a:xfrm>
        </p:spPr>
        <p:txBody>
          <a:bodyPr/>
          <a:lstStyle/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III. Tấn công xâm nhập phá hoại hệ thống</a:t>
            </a:r>
            <a:r>
              <a:rPr lang="en-US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74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563563"/>
          </a:xfrm>
        </p:spPr>
        <p:txBody>
          <a:bodyPr/>
          <a:lstStyle/>
          <a:p>
            <a:r>
              <a:rPr lang="en-US"/>
              <a:t>Ví dụ 1: Tài khoản VISA, Master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41724"/>
            <a:ext cx="7543800" cy="602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1868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Ví dụ 2: Tấn công website TOEFL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16" y="925205"/>
            <a:ext cx="7924800" cy="5943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381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</p:spPr>
        <p:txBody>
          <a:bodyPr/>
          <a:lstStyle/>
          <a:p>
            <a:r>
              <a:rPr lang="en-US"/>
              <a:t>Ví dụ 1: Tấn công website TOEFL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6130"/>
            <a:ext cx="8077200" cy="5941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ight Arrow 2"/>
          <p:cNvSpPr/>
          <p:nvPr/>
        </p:nvSpPr>
        <p:spPr>
          <a:xfrm rot="1541510">
            <a:off x="1898748" y="4057494"/>
            <a:ext cx="1311747" cy="270281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276600" y="451203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admin:admin123</a:t>
            </a:r>
          </a:p>
        </p:txBody>
      </p:sp>
    </p:spTree>
    <p:extLst>
      <p:ext uri="{BB962C8B-B14F-4D97-AF65-F5344CB8AC3E}">
        <p14:creationId xmlns:p14="http://schemas.microsoft.com/office/powerpoint/2010/main" val="27943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deface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8197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153400" cy="563563"/>
          </a:xfrm>
        </p:spPr>
        <p:txBody>
          <a:bodyPr/>
          <a:lstStyle/>
          <a:p>
            <a:r>
              <a:rPr lang="en-US"/>
              <a:t>Ví dụ 3: Báo điện tử Vietnamnet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24" y="1322552"/>
            <a:ext cx="9105182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2844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067800" cy="563563"/>
          </a:xfrm>
        </p:spPr>
        <p:txBody>
          <a:bodyPr/>
          <a:lstStyle/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III. Tấn công xâm nhập phá hoại hệ thống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Vấn đề:</a:t>
            </a:r>
          </a:p>
          <a:p>
            <a:pPr marL="400050" lvl="1" indent="0">
              <a:buNone/>
            </a:pPr>
            <a:r>
              <a:rPr lang="vi-VN"/>
              <a:t>Người phá hoại, từ bên ngoài, thông qua mạng, truy cập vào hệ thống tiến hành các hoạt động phá hoại</a:t>
            </a:r>
            <a:r>
              <a:rPr lang="en-US"/>
              <a:t>:</a:t>
            </a:r>
            <a:endParaRPr lang="vi-VN"/>
          </a:p>
          <a:p>
            <a:pPr lvl="1"/>
            <a:r>
              <a:rPr lang="vi-VN"/>
              <a:t>Ăn trộm thông tin</a:t>
            </a:r>
          </a:p>
          <a:p>
            <a:pPr lvl="1"/>
            <a:r>
              <a:rPr lang="vi-VN"/>
              <a:t>Phá hoại dữ liệu</a:t>
            </a:r>
          </a:p>
          <a:p>
            <a:pPr lvl="1"/>
            <a:r>
              <a:rPr lang="vi-VN"/>
              <a:t>Gây tắc nghẽn mạng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</p:spTree>
    <p:extLst>
      <p:ext uri="{BB962C8B-B14F-4D97-AF65-F5344CB8AC3E}">
        <p14:creationId xmlns:p14="http://schemas.microsoft.com/office/powerpoint/2010/main" val="106206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1425"/>
            <a:ext cx="8458200" cy="5248275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vi-VN"/>
              <a:t>Cơ chế kiểm soát chống xâm nhập</a:t>
            </a:r>
          </a:p>
          <a:p>
            <a:pPr marL="457200" lvl="1" indent="0">
              <a:buNone/>
            </a:pPr>
            <a:r>
              <a:rPr lang="vi-VN"/>
              <a:t>Cơ chế kiểm soát truy cập (Access Control):</a:t>
            </a:r>
          </a:p>
          <a:p>
            <a:pPr lvl="1"/>
            <a:r>
              <a:rPr lang="vi-VN"/>
              <a:t>Chứng thực truy cập (Authentication):</a:t>
            </a:r>
            <a:endParaRPr lang="en-US"/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vi-VN"/>
              <a:t>username+ password, dấu vân tay, thẻ chứng thực, …</a:t>
            </a:r>
          </a:p>
          <a:p>
            <a:pPr lvl="1"/>
            <a:r>
              <a:rPr lang="vi-VN"/>
              <a:t>Phân quyền (Authorization): </a:t>
            </a:r>
            <a:endParaRPr lang="en-US"/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vi-VN"/>
              <a:t>được xem? được xóa?…</a:t>
            </a:r>
          </a:p>
          <a:p>
            <a:endParaRPr lang="vi-VN"/>
          </a:p>
          <a:p>
            <a:pPr marL="0" indent="0">
              <a:buNone/>
            </a:pPr>
            <a:r>
              <a:rPr lang="en-US"/>
              <a:t>=&gt;</a:t>
            </a:r>
            <a:r>
              <a:rPr lang="vi-VN"/>
              <a:t>	Tuy nhiên, vẫn có thể bị phá hoại.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</p:spTree>
    <p:extLst>
      <p:ext uri="{BB962C8B-B14F-4D97-AF65-F5344CB8AC3E}">
        <p14:creationId xmlns:p14="http://schemas.microsoft.com/office/powerpoint/2010/main" val="25066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 startAt="2"/>
            </a:pPr>
            <a:r>
              <a:rPr lang="vi-VN"/>
              <a:t>Các hành vi xâm nhập phá hoại</a:t>
            </a:r>
          </a:p>
          <a:p>
            <a:pPr lvl="1"/>
            <a:r>
              <a:rPr lang="vi-VN"/>
              <a:t>Đoạn mã phá hoại (Malware):</a:t>
            </a:r>
            <a:endParaRPr lang="en-US"/>
          </a:p>
          <a:p>
            <a:pPr marL="457200" lvl="1" indent="0">
              <a:buNone/>
            </a:pPr>
            <a:r>
              <a:rPr lang="vi-VN"/>
              <a:t> </a:t>
            </a:r>
            <a:r>
              <a:rPr lang="en-US"/>
              <a:t>	</a:t>
            </a:r>
            <a:r>
              <a:rPr lang="vi-VN"/>
              <a:t>virus, worm, trojan, backdoor.</a:t>
            </a:r>
          </a:p>
          <a:p>
            <a:pPr lvl="1"/>
            <a:r>
              <a:rPr lang="vi-VN"/>
              <a:t>Hành vi xâm nhập (Intrusion): </a:t>
            </a:r>
            <a:endParaRPr lang="en-US"/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vi-VN"/>
              <a:t>dựa trên các lỗ hổng trong phần mềm</a:t>
            </a:r>
            <a:r>
              <a:rPr lang="en-US"/>
              <a:t>, vượt qua Access Control</a:t>
            </a:r>
            <a:r>
              <a:rPr lang="vi-VN"/>
              <a:t>.	</a:t>
            </a:r>
            <a:endParaRPr lang="en-US"/>
          </a:p>
          <a:p>
            <a:pPr lvl="1"/>
            <a:endParaRPr lang="vi-VN"/>
          </a:p>
          <a:p>
            <a:pPr marL="0" indent="0">
              <a:buNone/>
            </a:pPr>
            <a:r>
              <a:rPr lang="en-US"/>
              <a:t>=&gt; </a:t>
            </a:r>
            <a:r>
              <a:rPr lang="vi-VN"/>
              <a:t>Ngăn chặn: sử dụng chương trình chống virus, chương trình tường lửa (firewall) …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</p:spTree>
    <p:extLst>
      <p:ext uri="{BB962C8B-B14F-4D97-AF65-F5344CB8AC3E}">
        <p14:creationId xmlns:p14="http://schemas.microsoft.com/office/powerpoint/2010/main" val="100434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76E6FD-B5D8-4367-8820-40D7F5E3C4AD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13315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16" name="Rectangle 34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7" name="Rectangle 35"/>
          <p:cNvSpPr>
            <a:spLocks noChangeArrowheads="1"/>
          </p:cNvSpPr>
          <p:nvPr/>
        </p:nvSpPr>
        <p:spPr bwMode="auto">
          <a:xfrm>
            <a:off x="0" y="695325"/>
            <a:ext cx="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18" name="Rectangle 36"/>
          <p:cNvSpPr>
            <a:spLocks noChangeArrowheads="1"/>
          </p:cNvSpPr>
          <p:nvPr/>
        </p:nvSpPr>
        <p:spPr bwMode="auto">
          <a:xfrm>
            <a:off x="0" y="1809750"/>
            <a:ext cx="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16908"/>
            <a:ext cx="8857286" cy="3498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241425"/>
            <a:ext cx="8534400" cy="663575"/>
          </a:xfrm>
        </p:spPr>
        <p:txBody>
          <a:bodyPr/>
          <a:lstStyle/>
          <a:p>
            <a:pPr marL="514350" indent="-514350">
              <a:buFont typeface="+mj-lt"/>
              <a:buAutoNum type="arabicParenR" startAt="3"/>
            </a:pPr>
            <a:r>
              <a:rPr lang="en-US"/>
              <a:t>Mô hình bảo mật hệ thống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096" y="3393744"/>
            <a:ext cx="9810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269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6225"/>
            <a:ext cx="8229600" cy="3101975"/>
          </a:xfrm>
        </p:spPr>
        <p:txBody>
          <a:bodyPr/>
          <a:lstStyle/>
          <a:p>
            <a:pPr marL="514350" indent="-514350">
              <a:buFont typeface="+mj-lt"/>
              <a:buAutoNum type="arabicParenR" startAt="2"/>
            </a:pPr>
            <a:r>
              <a:rPr lang="en-US"/>
              <a:t>Lỗ hổng bảo mật website</a:t>
            </a:r>
            <a:endParaRPr lang="vi-VN"/>
          </a:p>
          <a:p>
            <a:pPr lvl="1"/>
            <a:r>
              <a:rPr lang="en-US"/>
              <a:t>Cros Site Scripting (XSS)</a:t>
            </a:r>
          </a:p>
          <a:p>
            <a:pPr lvl="1"/>
            <a:r>
              <a:rPr lang="vi-VN"/>
              <a:t>Cross Site Request Forgery</a:t>
            </a:r>
            <a:r>
              <a:rPr lang="en-US"/>
              <a:t> (CRSF)</a:t>
            </a:r>
          </a:p>
          <a:p>
            <a:pPr lvl="1"/>
            <a:r>
              <a:rPr lang="en-US"/>
              <a:t>SQL Injection</a:t>
            </a:r>
          </a:p>
          <a:p>
            <a:pPr lvl="1"/>
            <a:r>
              <a:rPr lang="en-US"/>
              <a:t>Deny of Service (DoS, DDoS)</a:t>
            </a:r>
          </a:p>
          <a:p>
            <a:pPr lvl="1"/>
            <a:r>
              <a:rPr lang="en-US"/>
              <a:t>Tấn công hệ thống xác thực</a:t>
            </a:r>
          </a:p>
          <a:p>
            <a:pPr lvl="1"/>
            <a:endParaRPr lang="vi-VN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</p:spTree>
    <p:extLst>
      <p:ext uri="{BB962C8B-B14F-4D97-AF65-F5344CB8AC3E}">
        <p14:creationId xmlns:p14="http://schemas.microsoft.com/office/powerpoint/2010/main" val="13040221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686800" cy="563563"/>
          </a:xfrm>
        </p:spPr>
        <p:txBody>
          <a:bodyPr/>
          <a:lstStyle/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IV. Giới thiệu về OWASP</a:t>
            </a:r>
            <a:r>
              <a:rPr lang="en-US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4A7AEB8-3F5A-4D43-A2DE-81EE5D1F5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4328"/>
            <a:ext cx="7205130" cy="250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C07858-859D-4546-9BD5-74111DDD2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419600"/>
            <a:ext cx="8229600" cy="563563"/>
          </a:xfrm>
        </p:spPr>
        <p:txBody>
          <a:bodyPr/>
          <a:lstStyle/>
          <a:p>
            <a:pPr lvl="1"/>
            <a:r>
              <a:rPr lang="en-US" b="0" i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The Open Web Application Security Project</a:t>
            </a:r>
            <a:endParaRPr lang="en-US"/>
          </a:p>
          <a:p>
            <a:pPr lvl="1"/>
            <a:r>
              <a:rPr lang="en-US"/>
              <a:t>https://owasp.org/www-project-top-ten/</a:t>
            </a:r>
          </a:p>
        </p:txBody>
      </p:sp>
    </p:spTree>
    <p:extLst>
      <p:ext uri="{BB962C8B-B14F-4D97-AF65-F5344CB8AC3E}">
        <p14:creationId xmlns:p14="http://schemas.microsoft.com/office/powerpoint/2010/main" val="3795370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686800" cy="563563"/>
          </a:xfrm>
        </p:spPr>
        <p:txBody>
          <a:bodyPr/>
          <a:lstStyle/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IV. Giới thiệu về OWASP</a:t>
            </a:r>
            <a:r>
              <a:rPr lang="en-US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FBD7A-B8EC-28D5-7C20-557C4481C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5" y="4267200"/>
            <a:ext cx="8839200" cy="1600200"/>
          </a:xfrm>
        </p:spPr>
        <p:txBody>
          <a:bodyPr/>
          <a:lstStyle/>
          <a:p>
            <a:pPr lvl="1"/>
            <a:r>
              <a:rPr lang="en-US"/>
              <a:t>Mục tiêu môn học:</a:t>
            </a:r>
          </a:p>
          <a:p>
            <a:pPr lvl="2"/>
            <a:r>
              <a:rPr lang="en-US"/>
              <a:t>A03-2025-Cryptographic Failures</a:t>
            </a:r>
          </a:p>
          <a:p>
            <a:pPr lvl="2"/>
            <a:r>
              <a:rPr lang="en-US"/>
              <a:t>A04-2025-Injection (SQL Injection, XSS)</a:t>
            </a:r>
          </a:p>
          <a:p>
            <a:pPr lvl="1"/>
            <a:endParaRPr lang="vi-VN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640F3-9D49-21A9-3B94-5AB2CEF54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3" y="1219200"/>
            <a:ext cx="8984632" cy="257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80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B12FF-FB22-4634-9D81-E4518C2062E4}"/>
              </a:ext>
            </a:extLst>
          </p:cNvPr>
          <p:cNvSpPr/>
          <p:nvPr/>
        </p:nvSpPr>
        <p:spPr>
          <a:xfrm>
            <a:off x="3429000" y="2971800"/>
            <a:ext cx="2590800" cy="1412876"/>
          </a:xfrm>
          <a:prstGeom prst="rect">
            <a:avLst/>
          </a:prstGeom>
          <a:solidFill>
            <a:srgbClr val="173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686800" cy="563563"/>
          </a:xfrm>
        </p:spPr>
        <p:txBody>
          <a:bodyPr/>
          <a:lstStyle/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IV. Giới thiệu về OWASP</a:t>
            </a:r>
            <a:r>
              <a:rPr lang="en-US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DB5803-2ACD-4846-8D85-9B2CE6F38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46225"/>
            <a:ext cx="8229600" cy="11207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Công cụ sử dụng cho việc học tập tìm kiếm lỗ hổng website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5F831EE7-4BD5-4589-B689-F5C87EC6C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117850"/>
            <a:ext cx="1975603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98555B-CE7D-45A9-BB33-54DCC20C1D2C}"/>
              </a:ext>
            </a:extLst>
          </p:cNvPr>
          <p:cNvSpPr txBox="1"/>
          <p:nvPr/>
        </p:nvSpPr>
        <p:spPr>
          <a:xfrm>
            <a:off x="1981200" y="4689623"/>
            <a:ext cx="5257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https://github.com/digininja/DVWA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B6B12-D92B-FB9F-B459-5C462BC1902B}"/>
              </a:ext>
            </a:extLst>
          </p:cNvPr>
          <p:cNvSpPr txBox="1">
            <a:spLocks/>
          </p:cNvSpPr>
          <p:nvPr/>
        </p:nvSpPr>
        <p:spPr bwMode="auto">
          <a:xfrm>
            <a:off x="423797" y="5530852"/>
            <a:ext cx="8229600" cy="488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000" kern="0"/>
              <a:t>=&gt; Bài tập về nhà: cài đặt DVWA trên máy cá nhân</a:t>
            </a:r>
          </a:p>
        </p:txBody>
      </p:sp>
    </p:spTree>
    <p:extLst>
      <p:ext uri="{BB962C8B-B14F-4D97-AF65-F5344CB8AC3E}">
        <p14:creationId xmlns:p14="http://schemas.microsoft.com/office/powerpoint/2010/main" val="29480494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686800" cy="563563"/>
          </a:xfrm>
        </p:spPr>
        <p:txBody>
          <a:bodyPr/>
          <a:lstStyle/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IV. Giới thiệu về OWASP</a:t>
            </a:r>
            <a:r>
              <a:rPr lang="en-US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B6B12-D92B-FB9F-B459-5C462BC1902B}"/>
              </a:ext>
            </a:extLst>
          </p:cNvPr>
          <p:cNvSpPr txBox="1">
            <a:spLocks/>
          </p:cNvSpPr>
          <p:nvPr/>
        </p:nvSpPr>
        <p:spPr bwMode="auto">
          <a:xfrm>
            <a:off x="6172200" y="1600200"/>
            <a:ext cx="2895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000" kern="0"/>
              <a:t>=&gt; Bài tập về nhà: cài đặt DVWA trên máy cá nhân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CFB490-1968-4287-7573-8D6EBA765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1238"/>
            <a:ext cx="5638800" cy="58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195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 &amp; 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3240291" y="2022675"/>
            <a:ext cx="2667000" cy="3352800"/>
            <a:chOff x="2208" y="768"/>
            <a:chExt cx="1170" cy="2517"/>
          </a:xfrm>
        </p:grpSpPr>
        <p:sp>
          <p:nvSpPr>
            <p:cNvPr id="6" name="AutoShape 5"/>
            <p:cNvSpPr>
              <a:spLocks noChangeAspect="1" noChangeArrowheads="1" noTextEdit="1"/>
            </p:cNvSpPr>
            <p:nvPr/>
          </p:nvSpPr>
          <p:spPr bwMode="auto">
            <a:xfrm>
              <a:off x="2208" y="768"/>
              <a:ext cx="1170" cy="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2582" y="1093"/>
              <a:ext cx="457" cy="507"/>
            </a:xfrm>
            <a:custGeom>
              <a:avLst/>
              <a:gdLst>
                <a:gd name="T0" fmla="*/ 238 w 457"/>
                <a:gd name="T1" fmla="*/ 117 h 507"/>
                <a:gd name="T2" fmla="*/ 198 w 457"/>
                <a:gd name="T3" fmla="*/ 65 h 507"/>
                <a:gd name="T4" fmla="*/ 142 w 457"/>
                <a:gd name="T5" fmla="*/ 26 h 507"/>
                <a:gd name="T6" fmla="*/ 92 w 457"/>
                <a:gd name="T7" fmla="*/ 0 h 507"/>
                <a:gd name="T8" fmla="*/ 52 w 457"/>
                <a:gd name="T9" fmla="*/ 7 h 507"/>
                <a:gd name="T10" fmla="*/ 23 w 457"/>
                <a:gd name="T11" fmla="*/ 36 h 507"/>
                <a:gd name="T12" fmla="*/ 0 w 457"/>
                <a:gd name="T13" fmla="*/ 124 h 507"/>
                <a:gd name="T14" fmla="*/ 9 w 457"/>
                <a:gd name="T15" fmla="*/ 225 h 507"/>
                <a:gd name="T16" fmla="*/ 33 w 457"/>
                <a:gd name="T17" fmla="*/ 322 h 507"/>
                <a:gd name="T18" fmla="*/ 59 w 457"/>
                <a:gd name="T19" fmla="*/ 397 h 507"/>
                <a:gd name="T20" fmla="*/ 109 w 457"/>
                <a:gd name="T21" fmla="*/ 475 h 507"/>
                <a:gd name="T22" fmla="*/ 152 w 457"/>
                <a:gd name="T23" fmla="*/ 507 h 507"/>
                <a:gd name="T24" fmla="*/ 211 w 457"/>
                <a:gd name="T25" fmla="*/ 507 h 507"/>
                <a:gd name="T26" fmla="*/ 271 w 457"/>
                <a:gd name="T27" fmla="*/ 485 h 507"/>
                <a:gd name="T28" fmla="*/ 301 w 457"/>
                <a:gd name="T29" fmla="*/ 429 h 507"/>
                <a:gd name="T30" fmla="*/ 317 w 457"/>
                <a:gd name="T31" fmla="*/ 358 h 507"/>
                <a:gd name="T32" fmla="*/ 311 w 457"/>
                <a:gd name="T33" fmla="*/ 270 h 507"/>
                <a:gd name="T34" fmla="*/ 450 w 457"/>
                <a:gd name="T35" fmla="*/ 280 h 507"/>
                <a:gd name="T36" fmla="*/ 457 w 457"/>
                <a:gd name="T37" fmla="*/ 241 h 507"/>
                <a:gd name="T38" fmla="*/ 298 w 457"/>
                <a:gd name="T39" fmla="*/ 225 h 507"/>
                <a:gd name="T40" fmla="*/ 258 w 457"/>
                <a:gd name="T41" fmla="*/ 134 h 507"/>
                <a:gd name="T42" fmla="*/ 238 w 457"/>
                <a:gd name="T43" fmla="*/ 117 h 5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57"/>
                <a:gd name="T67" fmla="*/ 0 h 507"/>
                <a:gd name="T68" fmla="*/ 457 w 457"/>
                <a:gd name="T69" fmla="*/ 507 h 50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57" h="507">
                  <a:moveTo>
                    <a:pt x="238" y="117"/>
                  </a:moveTo>
                  <a:lnTo>
                    <a:pt x="198" y="65"/>
                  </a:lnTo>
                  <a:lnTo>
                    <a:pt x="142" y="26"/>
                  </a:lnTo>
                  <a:lnTo>
                    <a:pt x="92" y="0"/>
                  </a:lnTo>
                  <a:lnTo>
                    <a:pt x="52" y="7"/>
                  </a:lnTo>
                  <a:lnTo>
                    <a:pt x="23" y="36"/>
                  </a:lnTo>
                  <a:lnTo>
                    <a:pt x="0" y="124"/>
                  </a:lnTo>
                  <a:lnTo>
                    <a:pt x="9" y="225"/>
                  </a:lnTo>
                  <a:lnTo>
                    <a:pt x="33" y="322"/>
                  </a:lnTo>
                  <a:lnTo>
                    <a:pt x="59" y="397"/>
                  </a:lnTo>
                  <a:lnTo>
                    <a:pt x="109" y="475"/>
                  </a:lnTo>
                  <a:lnTo>
                    <a:pt x="152" y="507"/>
                  </a:lnTo>
                  <a:lnTo>
                    <a:pt x="211" y="507"/>
                  </a:lnTo>
                  <a:lnTo>
                    <a:pt x="271" y="485"/>
                  </a:lnTo>
                  <a:lnTo>
                    <a:pt x="301" y="429"/>
                  </a:lnTo>
                  <a:lnTo>
                    <a:pt x="317" y="358"/>
                  </a:lnTo>
                  <a:lnTo>
                    <a:pt x="311" y="270"/>
                  </a:lnTo>
                  <a:lnTo>
                    <a:pt x="450" y="280"/>
                  </a:lnTo>
                  <a:lnTo>
                    <a:pt x="457" y="241"/>
                  </a:lnTo>
                  <a:lnTo>
                    <a:pt x="298" y="225"/>
                  </a:lnTo>
                  <a:lnTo>
                    <a:pt x="258" y="134"/>
                  </a:lnTo>
                  <a:lnTo>
                    <a:pt x="238" y="117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210" y="963"/>
              <a:ext cx="526" cy="813"/>
            </a:xfrm>
            <a:custGeom>
              <a:avLst/>
              <a:gdLst>
                <a:gd name="T0" fmla="*/ 307 w 526"/>
                <a:gd name="T1" fmla="*/ 19 h 813"/>
                <a:gd name="T2" fmla="*/ 373 w 526"/>
                <a:gd name="T3" fmla="*/ 0 h 813"/>
                <a:gd name="T4" fmla="*/ 426 w 526"/>
                <a:gd name="T5" fmla="*/ 3 h 813"/>
                <a:gd name="T6" fmla="*/ 466 w 526"/>
                <a:gd name="T7" fmla="*/ 32 h 813"/>
                <a:gd name="T8" fmla="*/ 493 w 526"/>
                <a:gd name="T9" fmla="*/ 78 h 813"/>
                <a:gd name="T10" fmla="*/ 483 w 526"/>
                <a:gd name="T11" fmla="*/ 126 h 813"/>
                <a:gd name="T12" fmla="*/ 446 w 526"/>
                <a:gd name="T13" fmla="*/ 126 h 813"/>
                <a:gd name="T14" fmla="*/ 456 w 526"/>
                <a:gd name="T15" fmla="*/ 87 h 813"/>
                <a:gd name="T16" fmla="*/ 426 w 526"/>
                <a:gd name="T17" fmla="*/ 52 h 813"/>
                <a:gd name="T18" fmla="*/ 397 w 526"/>
                <a:gd name="T19" fmla="*/ 39 h 813"/>
                <a:gd name="T20" fmla="*/ 347 w 526"/>
                <a:gd name="T21" fmla="*/ 52 h 813"/>
                <a:gd name="T22" fmla="*/ 367 w 526"/>
                <a:gd name="T23" fmla="*/ 91 h 813"/>
                <a:gd name="T24" fmla="*/ 373 w 526"/>
                <a:gd name="T25" fmla="*/ 126 h 813"/>
                <a:gd name="T26" fmla="*/ 367 w 526"/>
                <a:gd name="T27" fmla="*/ 156 h 813"/>
                <a:gd name="T28" fmla="*/ 317 w 526"/>
                <a:gd name="T29" fmla="*/ 169 h 813"/>
                <a:gd name="T30" fmla="*/ 264 w 526"/>
                <a:gd name="T31" fmla="*/ 159 h 813"/>
                <a:gd name="T32" fmla="*/ 254 w 526"/>
                <a:gd name="T33" fmla="*/ 136 h 813"/>
                <a:gd name="T34" fmla="*/ 198 w 526"/>
                <a:gd name="T35" fmla="*/ 198 h 813"/>
                <a:gd name="T36" fmla="*/ 165 w 526"/>
                <a:gd name="T37" fmla="*/ 266 h 813"/>
                <a:gd name="T38" fmla="*/ 119 w 526"/>
                <a:gd name="T39" fmla="*/ 354 h 813"/>
                <a:gd name="T40" fmla="*/ 89 w 526"/>
                <a:gd name="T41" fmla="*/ 432 h 813"/>
                <a:gd name="T42" fmla="*/ 76 w 526"/>
                <a:gd name="T43" fmla="*/ 507 h 813"/>
                <a:gd name="T44" fmla="*/ 86 w 526"/>
                <a:gd name="T45" fmla="*/ 546 h 813"/>
                <a:gd name="T46" fmla="*/ 139 w 526"/>
                <a:gd name="T47" fmla="*/ 595 h 813"/>
                <a:gd name="T48" fmla="*/ 248 w 526"/>
                <a:gd name="T49" fmla="*/ 637 h 813"/>
                <a:gd name="T50" fmla="*/ 307 w 526"/>
                <a:gd name="T51" fmla="*/ 656 h 813"/>
                <a:gd name="T52" fmla="*/ 367 w 526"/>
                <a:gd name="T53" fmla="*/ 666 h 813"/>
                <a:gd name="T54" fmla="*/ 456 w 526"/>
                <a:gd name="T55" fmla="*/ 702 h 813"/>
                <a:gd name="T56" fmla="*/ 522 w 526"/>
                <a:gd name="T57" fmla="*/ 725 h 813"/>
                <a:gd name="T58" fmla="*/ 526 w 526"/>
                <a:gd name="T59" fmla="*/ 770 h 813"/>
                <a:gd name="T60" fmla="*/ 493 w 526"/>
                <a:gd name="T61" fmla="*/ 803 h 813"/>
                <a:gd name="T62" fmla="*/ 453 w 526"/>
                <a:gd name="T63" fmla="*/ 813 h 813"/>
                <a:gd name="T64" fmla="*/ 393 w 526"/>
                <a:gd name="T65" fmla="*/ 783 h 813"/>
                <a:gd name="T66" fmla="*/ 254 w 526"/>
                <a:gd name="T67" fmla="*/ 712 h 813"/>
                <a:gd name="T68" fmla="*/ 139 w 526"/>
                <a:gd name="T69" fmla="*/ 663 h 813"/>
                <a:gd name="T70" fmla="*/ 59 w 526"/>
                <a:gd name="T71" fmla="*/ 608 h 813"/>
                <a:gd name="T72" fmla="*/ 6 w 526"/>
                <a:gd name="T73" fmla="*/ 559 h 813"/>
                <a:gd name="T74" fmla="*/ 0 w 526"/>
                <a:gd name="T75" fmla="*/ 500 h 813"/>
                <a:gd name="T76" fmla="*/ 29 w 526"/>
                <a:gd name="T77" fmla="*/ 422 h 813"/>
                <a:gd name="T78" fmla="*/ 89 w 526"/>
                <a:gd name="T79" fmla="*/ 305 h 813"/>
                <a:gd name="T80" fmla="*/ 145 w 526"/>
                <a:gd name="T81" fmla="*/ 208 h 813"/>
                <a:gd name="T82" fmla="*/ 215 w 526"/>
                <a:gd name="T83" fmla="*/ 107 h 813"/>
                <a:gd name="T84" fmla="*/ 268 w 526"/>
                <a:gd name="T85" fmla="*/ 48 h 813"/>
                <a:gd name="T86" fmla="*/ 334 w 526"/>
                <a:gd name="T87" fmla="*/ 19 h 813"/>
                <a:gd name="T88" fmla="*/ 307 w 526"/>
                <a:gd name="T89" fmla="*/ 19 h 81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26"/>
                <a:gd name="T136" fmla="*/ 0 h 813"/>
                <a:gd name="T137" fmla="*/ 526 w 526"/>
                <a:gd name="T138" fmla="*/ 813 h 81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26" h="813">
                  <a:moveTo>
                    <a:pt x="307" y="19"/>
                  </a:moveTo>
                  <a:lnTo>
                    <a:pt x="373" y="0"/>
                  </a:lnTo>
                  <a:lnTo>
                    <a:pt x="426" y="3"/>
                  </a:lnTo>
                  <a:lnTo>
                    <a:pt x="466" y="32"/>
                  </a:lnTo>
                  <a:lnTo>
                    <a:pt x="493" y="78"/>
                  </a:lnTo>
                  <a:lnTo>
                    <a:pt x="483" y="126"/>
                  </a:lnTo>
                  <a:lnTo>
                    <a:pt x="446" y="126"/>
                  </a:lnTo>
                  <a:lnTo>
                    <a:pt x="456" y="87"/>
                  </a:lnTo>
                  <a:lnTo>
                    <a:pt x="426" y="52"/>
                  </a:lnTo>
                  <a:lnTo>
                    <a:pt x="397" y="39"/>
                  </a:lnTo>
                  <a:lnTo>
                    <a:pt x="347" y="52"/>
                  </a:lnTo>
                  <a:lnTo>
                    <a:pt x="367" y="91"/>
                  </a:lnTo>
                  <a:lnTo>
                    <a:pt x="373" y="126"/>
                  </a:lnTo>
                  <a:lnTo>
                    <a:pt x="367" y="156"/>
                  </a:lnTo>
                  <a:lnTo>
                    <a:pt x="317" y="169"/>
                  </a:lnTo>
                  <a:lnTo>
                    <a:pt x="264" y="159"/>
                  </a:lnTo>
                  <a:lnTo>
                    <a:pt x="254" y="136"/>
                  </a:lnTo>
                  <a:lnTo>
                    <a:pt x="198" y="198"/>
                  </a:lnTo>
                  <a:lnTo>
                    <a:pt x="165" y="266"/>
                  </a:lnTo>
                  <a:lnTo>
                    <a:pt x="119" y="354"/>
                  </a:lnTo>
                  <a:lnTo>
                    <a:pt x="89" y="432"/>
                  </a:lnTo>
                  <a:lnTo>
                    <a:pt x="76" y="507"/>
                  </a:lnTo>
                  <a:lnTo>
                    <a:pt x="86" y="546"/>
                  </a:lnTo>
                  <a:lnTo>
                    <a:pt x="139" y="595"/>
                  </a:lnTo>
                  <a:lnTo>
                    <a:pt x="248" y="637"/>
                  </a:lnTo>
                  <a:lnTo>
                    <a:pt x="307" y="656"/>
                  </a:lnTo>
                  <a:lnTo>
                    <a:pt x="367" y="666"/>
                  </a:lnTo>
                  <a:lnTo>
                    <a:pt x="456" y="702"/>
                  </a:lnTo>
                  <a:lnTo>
                    <a:pt x="522" y="725"/>
                  </a:lnTo>
                  <a:lnTo>
                    <a:pt x="526" y="770"/>
                  </a:lnTo>
                  <a:lnTo>
                    <a:pt x="493" y="803"/>
                  </a:lnTo>
                  <a:lnTo>
                    <a:pt x="453" y="813"/>
                  </a:lnTo>
                  <a:lnTo>
                    <a:pt x="393" y="783"/>
                  </a:lnTo>
                  <a:lnTo>
                    <a:pt x="254" y="712"/>
                  </a:lnTo>
                  <a:lnTo>
                    <a:pt x="139" y="663"/>
                  </a:lnTo>
                  <a:lnTo>
                    <a:pt x="59" y="608"/>
                  </a:lnTo>
                  <a:lnTo>
                    <a:pt x="6" y="559"/>
                  </a:lnTo>
                  <a:lnTo>
                    <a:pt x="0" y="500"/>
                  </a:lnTo>
                  <a:lnTo>
                    <a:pt x="29" y="422"/>
                  </a:lnTo>
                  <a:lnTo>
                    <a:pt x="89" y="305"/>
                  </a:lnTo>
                  <a:lnTo>
                    <a:pt x="145" y="208"/>
                  </a:lnTo>
                  <a:lnTo>
                    <a:pt x="215" y="107"/>
                  </a:lnTo>
                  <a:lnTo>
                    <a:pt x="268" y="48"/>
                  </a:lnTo>
                  <a:lnTo>
                    <a:pt x="334" y="19"/>
                  </a:lnTo>
                  <a:lnTo>
                    <a:pt x="307" y="19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2706" y="1637"/>
              <a:ext cx="275" cy="763"/>
            </a:xfrm>
            <a:custGeom>
              <a:avLst/>
              <a:gdLst>
                <a:gd name="T0" fmla="*/ 17 w 275"/>
                <a:gd name="T1" fmla="*/ 59 h 763"/>
                <a:gd name="T2" fmla="*/ 27 w 275"/>
                <a:gd name="T3" fmla="*/ 20 h 763"/>
                <a:gd name="T4" fmla="*/ 70 w 275"/>
                <a:gd name="T5" fmla="*/ 0 h 763"/>
                <a:gd name="T6" fmla="*/ 109 w 275"/>
                <a:gd name="T7" fmla="*/ 0 h 763"/>
                <a:gd name="T8" fmla="*/ 159 w 275"/>
                <a:gd name="T9" fmla="*/ 29 h 763"/>
                <a:gd name="T10" fmla="*/ 206 w 275"/>
                <a:gd name="T11" fmla="*/ 98 h 763"/>
                <a:gd name="T12" fmla="*/ 239 w 275"/>
                <a:gd name="T13" fmla="*/ 169 h 763"/>
                <a:gd name="T14" fmla="*/ 255 w 275"/>
                <a:gd name="T15" fmla="*/ 266 h 763"/>
                <a:gd name="T16" fmla="*/ 269 w 275"/>
                <a:gd name="T17" fmla="*/ 380 h 763"/>
                <a:gd name="T18" fmla="*/ 275 w 275"/>
                <a:gd name="T19" fmla="*/ 490 h 763"/>
                <a:gd name="T20" fmla="*/ 275 w 275"/>
                <a:gd name="T21" fmla="*/ 633 h 763"/>
                <a:gd name="T22" fmla="*/ 255 w 275"/>
                <a:gd name="T23" fmla="*/ 721 h 763"/>
                <a:gd name="T24" fmla="*/ 219 w 275"/>
                <a:gd name="T25" fmla="*/ 753 h 763"/>
                <a:gd name="T26" fmla="*/ 156 w 275"/>
                <a:gd name="T27" fmla="*/ 763 h 763"/>
                <a:gd name="T28" fmla="*/ 90 w 275"/>
                <a:gd name="T29" fmla="*/ 760 h 763"/>
                <a:gd name="T30" fmla="*/ 56 w 275"/>
                <a:gd name="T31" fmla="*/ 721 h 763"/>
                <a:gd name="T32" fmla="*/ 37 w 275"/>
                <a:gd name="T33" fmla="*/ 653 h 763"/>
                <a:gd name="T34" fmla="*/ 20 w 275"/>
                <a:gd name="T35" fmla="*/ 585 h 763"/>
                <a:gd name="T36" fmla="*/ 7 w 275"/>
                <a:gd name="T37" fmla="*/ 461 h 763"/>
                <a:gd name="T38" fmla="*/ 0 w 275"/>
                <a:gd name="T39" fmla="*/ 322 h 763"/>
                <a:gd name="T40" fmla="*/ 0 w 275"/>
                <a:gd name="T41" fmla="*/ 159 h 763"/>
                <a:gd name="T42" fmla="*/ 17 w 275"/>
                <a:gd name="T43" fmla="*/ 88 h 763"/>
                <a:gd name="T44" fmla="*/ 17 w 275"/>
                <a:gd name="T45" fmla="*/ 59 h 76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75"/>
                <a:gd name="T70" fmla="*/ 0 h 763"/>
                <a:gd name="T71" fmla="*/ 275 w 275"/>
                <a:gd name="T72" fmla="*/ 763 h 76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75" h="763">
                  <a:moveTo>
                    <a:pt x="17" y="59"/>
                  </a:moveTo>
                  <a:lnTo>
                    <a:pt x="27" y="20"/>
                  </a:lnTo>
                  <a:lnTo>
                    <a:pt x="70" y="0"/>
                  </a:lnTo>
                  <a:lnTo>
                    <a:pt x="109" y="0"/>
                  </a:lnTo>
                  <a:lnTo>
                    <a:pt x="159" y="29"/>
                  </a:lnTo>
                  <a:lnTo>
                    <a:pt x="206" y="98"/>
                  </a:lnTo>
                  <a:lnTo>
                    <a:pt x="239" y="169"/>
                  </a:lnTo>
                  <a:lnTo>
                    <a:pt x="255" y="266"/>
                  </a:lnTo>
                  <a:lnTo>
                    <a:pt x="269" y="380"/>
                  </a:lnTo>
                  <a:lnTo>
                    <a:pt x="275" y="490"/>
                  </a:lnTo>
                  <a:lnTo>
                    <a:pt x="275" y="633"/>
                  </a:lnTo>
                  <a:lnTo>
                    <a:pt x="255" y="721"/>
                  </a:lnTo>
                  <a:lnTo>
                    <a:pt x="219" y="753"/>
                  </a:lnTo>
                  <a:lnTo>
                    <a:pt x="156" y="763"/>
                  </a:lnTo>
                  <a:lnTo>
                    <a:pt x="90" y="760"/>
                  </a:lnTo>
                  <a:lnTo>
                    <a:pt x="56" y="721"/>
                  </a:lnTo>
                  <a:lnTo>
                    <a:pt x="37" y="653"/>
                  </a:lnTo>
                  <a:lnTo>
                    <a:pt x="20" y="585"/>
                  </a:lnTo>
                  <a:lnTo>
                    <a:pt x="7" y="461"/>
                  </a:lnTo>
                  <a:lnTo>
                    <a:pt x="0" y="322"/>
                  </a:lnTo>
                  <a:lnTo>
                    <a:pt x="0" y="159"/>
                  </a:lnTo>
                  <a:lnTo>
                    <a:pt x="17" y="88"/>
                  </a:lnTo>
                  <a:lnTo>
                    <a:pt x="17" y="59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2833" y="1658"/>
              <a:ext cx="420" cy="586"/>
            </a:xfrm>
            <a:custGeom>
              <a:avLst/>
              <a:gdLst>
                <a:gd name="T0" fmla="*/ 23 w 420"/>
                <a:gd name="T1" fmla="*/ 0 h 586"/>
                <a:gd name="T2" fmla="*/ 109 w 420"/>
                <a:gd name="T3" fmla="*/ 10 h 586"/>
                <a:gd name="T4" fmla="*/ 198 w 420"/>
                <a:gd name="T5" fmla="*/ 26 h 586"/>
                <a:gd name="T6" fmla="*/ 291 w 420"/>
                <a:gd name="T7" fmla="*/ 78 h 586"/>
                <a:gd name="T8" fmla="*/ 357 w 420"/>
                <a:gd name="T9" fmla="*/ 117 h 586"/>
                <a:gd name="T10" fmla="*/ 400 w 420"/>
                <a:gd name="T11" fmla="*/ 173 h 586"/>
                <a:gd name="T12" fmla="*/ 420 w 420"/>
                <a:gd name="T13" fmla="*/ 205 h 586"/>
                <a:gd name="T14" fmla="*/ 380 w 420"/>
                <a:gd name="T15" fmla="*/ 300 h 586"/>
                <a:gd name="T16" fmla="*/ 317 w 420"/>
                <a:gd name="T17" fmla="*/ 358 h 586"/>
                <a:gd name="T18" fmla="*/ 241 w 420"/>
                <a:gd name="T19" fmla="*/ 400 h 586"/>
                <a:gd name="T20" fmla="*/ 201 w 420"/>
                <a:gd name="T21" fmla="*/ 426 h 586"/>
                <a:gd name="T22" fmla="*/ 132 w 420"/>
                <a:gd name="T23" fmla="*/ 439 h 586"/>
                <a:gd name="T24" fmla="*/ 129 w 420"/>
                <a:gd name="T25" fmla="*/ 465 h 586"/>
                <a:gd name="T26" fmla="*/ 182 w 420"/>
                <a:gd name="T27" fmla="*/ 488 h 586"/>
                <a:gd name="T28" fmla="*/ 258 w 420"/>
                <a:gd name="T29" fmla="*/ 508 h 586"/>
                <a:gd name="T30" fmla="*/ 330 w 420"/>
                <a:gd name="T31" fmla="*/ 547 h 586"/>
                <a:gd name="T32" fmla="*/ 301 w 420"/>
                <a:gd name="T33" fmla="*/ 576 h 586"/>
                <a:gd name="T34" fmla="*/ 271 w 420"/>
                <a:gd name="T35" fmla="*/ 586 h 586"/>
                <a:gd name="T36" fmla="*/ 228 w 420"/>
                <a:gd name="T37" fmla="*/ 543 h 586"/>
                <a:gd name="T38" fmla="*/ 162 w 420"/>
                <a:gd name="T39" fmla="*/ 517 h 586"/>
                <a:gd name="T40" fmla="*/ 109 w 420"/>
                <a:gd name="T41" fmla="*/ 498 h 586"/>
                <a:gd name="T42" fmla="*/ 109 w 420"/>
                <a:gd name="T43" fmla="*/ 459 h 586"/>
                <a:gd name="T44" fmla="*/ 119 w 420"/>
                <a:gd name="T45" fmla="*/ 417 h 586"/>
                <a:gd name="T46" fmla="*/ 152 w 420"/>
                <a:gd name="T47" fmla="*/ 400 h 586"/>
                <a:gd name="T48" fmla="*/ 258 w 420"/>
                <a:gd name="T49" fmla="*/ 358 h 586"/>
                <a:gd name="T50" fmla="*/ 317 w 420"/>
                <a:gd name="T51" fmla="*/ 293 h 586"/>
                <a:gd name="T52" fmla="*/ 360 w 420"/>
                <a:gd name="T53" fmla="*/ 225 h 586"/>
                <a:gd name="T54" fmla="*/ 350 w 420"/>
                <a:gd name="T55" fmla="*/ 192 h 586"/>
                <a:gd name="T56" fmla="*/ 317 w 420"/>
                <a:gd name="T57" fmla="*/ 153 h 586"/>
                <a:gd name="T58" fmla="*/ 238 w 420"/>
                <a:gd name="T59" fmla="*/ 98 h 586"/>
                <a:gd name="T60" fmla="*/ 142 w 420"/>
                <a:gd name="T61" fmla="*/ 78 h 586"/>
                <a:gd name="T62" fmla="*/ 79 w 420"/>
                <a:gd name="T63" fmla="*/ 75 h 586"/>
                <a:gd name="T64" fmla="*/ 23 w 420"/>
                <a:gd name="T65" fmla="*/ 75 h 586"/>
                <a:gd name="T66" fmla="*/ 0 w 420"/>
                <a:gd name="T67" fmla="*/ 39 h 586"/>
                <a:gd name="T68" fmla="*/ 23 w 420"/>
                <a:gd name="T69" fmla="*/ 0 h 58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20"/>
                <a:gd name="T106" fmla="*/ 0 h 586"/>
                <a:gd name="T107" fmla="*/ 420 w 420"/>
                <a:gd name="T108" fmla="*/ 586 h 58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20" h="586">
                  <a:moveTo>
                    <a:pt x="23" y="0"/>
                  </a:moveTo>
                  <a:lnTo>
                    <a:pt x="109" y="10"/>
                  </a:lnTo>
                  <a:lnTo>
                    <a:pt x="198" y="26"/>
                  </a:lnTo>
                  <a:lnTo>
                    <a:pt x="291" y="78"/>
                  </a:lnTo>
                  <a:lnTo>
                    <a:pt x="357" y="117"/>
                  </a:lnTo>
                  <a:lnTo>
                    <a:pt x="400" y="173"/>
                  </a:lnTo>
                  <a:lnTo>
                    <a:pt x="420" y="205"/>
                  </a:lnTo>
                  <a:lnTo>
                    <a:pt x="380" y="300"/>
                  </a:lnTo>
                  <a:lnTo>
                    <a:pt x="317" y="358"/>
                  </a:lnTo>
                  <a:lnTo>
                    <a:pt x="241" y="400"/>
                  </a:lnTo>
                  <a:lnTo>
                    <a:pt x="201" y="426"/>
                  </a:lnTo>
                  <a:lnTo>
                    <a:pt x="132" y="439"/>
                  </a:lnTo>
                  <a:lnTo>
                    <a:pt x="129" y="465"/>
                  </a:lnTo>
                  <a:lnTo>
                    <a:pt x="182" y="488"/>
                  </a:lnTo>
                  <a:lnTo>
                    <a:pt x="258" y="508"/>
                  </a:lnTo>
                  <a:lnTo>
                    <a:pt x="330" y="547"/>
                  </a:lnTo>
                  <a:lnTo>
                    <a:pt x="301" y="576"/>
                  </a:lnTo>
                  <a:lnTo>
                    <a:pt x="271" y="586"/>
                  </a:lnTo>
                  <a:lnTo>
                    <a:pt x="228" y="543"/>
                  </a:lnTo>
                  <a:lnTo>
                    <a:pt x="162" y="517"/>
                  </a:lnTo>
                  <a:lnTo>
                    <a:pt x="109" y="498"/>
                  </a:lnTo>
                  <a:lnTo>
                    <a:pt x="109" y="459"/>
                  </a:lnTo>
                  <a:lnTo>
                    <a:pt x="119" y="417"/>
                  </a:lnTo>
                  <a:lnTo>
                    <a:pt x="152" y="400"/>
                  </a:lnTo>
                  <a:lnTo>
                    <a:pt x="258" y="358"/>
                  </a:lnTo>
                  <a:lnTo>
                    <a:pt x="317" y="293"/>
                  </a:lnTo>
                  <a:lnTo>
                    <a:pt x="360" y="225"/>
                  </a:lnTo>
                  <a:lnTo>
                    <a:pt x="350" y="192"/>
                  </a:lnTo>
                  <a:lnTo>
                    <a:pt x="317" y="153"/>
                  </a:lnTo>
                  <a:lnTo>
                    <a:pt x="238" y="98"/>
                  </a:lnTo>
                  <a:lnTo>
                    <a:pt x="142" y="78"/>
                  </a:lnTo>
                  <a:lnTo>
                    <a:pt x="79" y="75"/>
                  </a:lnTo>
                  <a:lnTo>
                    <a:pt x="23" y="75"/>
                  </a:lnTo>
                  <a:lnTo>
                    <a:pt x="0" y="3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2866" y="2322"/>
              <a:ext cx="511" cy="947"/>
            </a:xfrm>
            <a:custGeom>
              <a:avLst/>
              <a:gdLst>
                <a:gd name="T0" fmla="*/ 59 w 511"/>
                <a:gd name="T1" fmla="*/ 0 h 947"/>
                <a:gd name="T2" fmla="*/ 13 w 511"/>
                <a:gd name="T3" fmla="*/ 0 h 947"/>
                <a:gd name="T4" fmla="*/ 0 w 511"/>
                <a:gd name="T5" fmla="*/ 68 h 947"/>
                <a:gd name="T6" fmla="*/ 33 w 511"/>
                <a:gd name="T7" fmla="*/ 108 h 947"/>
                <a:gd name="T8" fmla="*/ 139 w 511"/>
                <a:gd name="T9" fmla="*/ 202 h 947"/>
                <a:gd name="T10" fmla="*/ 232 w 511"/>
                <a:gd name="T11" fmla="*/ 322 h 947"/>
                <a:gd name="T12" fmla="*/ 292 w 511"/>
                <a:gd name="T13" fmla="*/ 446 h 947"/>
                <a:gd name="T14" fmla="*/ 301 w 511"/>
                <a:gd name="T15" fmla="*/ 527 h 947"/>
                <a:gd name="T16" fmla="*/ 298 w 511"/>
                <a:gd name="T17" fmla="*/ 586 h 947"/>
                <a:gd name="T18" fmla="*/ 272 w 511"/>
                <a:gd name="T19" fmla="*/ 719 h 947"/>
                <a:gd name="T20" fmla="*/ 238 w 511"/>
                <a:gd name="T21" fmla="*/ 827 h 947"/>
                <a:gd name="T22" fmla="*/ 209 w 511"/>
                <a:gd name="T23" fmla="*/ 889 h 947"/>
                <a:gd name="T24" fmla="*/ 202 w 511"/>
                <a:gd name="T25" fmla="*/ 928 h 947"/>
                <a:gd name="T26" fmla="*/ 232 w 511"/>
                <a:gd name="T27" fmla="*/ 928 h 947"/>
                <a:gd name="T28" fmla="*/ 278 w 511"/>
                <a:gd name="T29" fmla="*/ 915 h 947"/>
                <a:gd name="T30" fmla="*/ 292 w 511"/>
                <a:gd name="T31" fmla="*/ 918 h 947"/>
                <a:gd name="T32" fmla="*/ 388 w 511"/>
                <a:gd name="T33" fmla="*/ 924 h 947"/>
                <a:gd name="T34" fmla="*/ 461 w 511"/>
                <a:gd name="T35" fmla="*/ 947 h 947"/>
                <a:gd name="T36" fmla="*/ 487 w 511"/>
                <a:gd name="T37" fmla="*/ 934 h 947"/>
                <a:gd name="T38" fmla="*/ 511 w 511"/>
                <a:gd name="T39" fmla="*/ 885 h 947"/>
                <a:gd name="T40" fmla="*/ 487 w 511"/>
                <a:gd name="T41" fmla="*/ 859 h 947"/>
                <a:gd name="T42" fmla="*/ 378 w 511"/>
                <a:gd name="T43" fmla="*/ 856 h 947"/>
                <a:gd name="T44" fmla="*/ 301 w 511"/>
                <a:gd name="T45" fmla="*/ 866 h 947"/>
                <a:gd name="T46" fmla="*/ 262 w 511"/>
                <a:gd name="T47" fmla="*/ 885 h 947"/>
                <a:gd name="T48" fmla="*/ 268 w 511"/>
                <a:gd name="T49" fmla="*/ 840 h 947"/>
                <a:gd name="T50" fmla="*/ 308 w 511"/>
                <a:gd name="T51" fmla="*/ 771 h 947"/>
                <a:gd name="T52" fmla="*/ 341 w 511"/>
                <a:gd name="T53" fmla="*/ 664 h 947"/>
                <a:gd name="T54" fmla="*/ 368 w 511"/>
                <a:gd name="T55" fmla="*/ 573 h 947"/>
                <a:gd name="T56" fmla="*/ 348 w 511"/>
                <a:gd name="T57" fmla="*/ 469 h 947"/>
                <a:gd name="T58" fmla="*/ 318 w 511"/>
                <a:gd name="T59" fmla="*/ 358 h 947"/>
                <a:gd name="T60" fmla="*/ 258 w 511"/>
                <a:gd name="T61" fmla="*/ 231 h 947"/>
                <a:gd name="T62" fmla="*/ 172 w 511"/>
                <a:gd name="T63" fmla="*/ 114 h 947"/>
                <a:gd name="T64" fmla="*/ 99 w 511"/>
                <a:gd name="T65" fmla="*/ 29 h 947"/>
                <a:gd name="T66" fmla="*/ 59 w 511"/>
                <a:gd name="T67" fmla="*/ 0 h 94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11"/>
                <a:gd name="T103" fmla="*/ 0 h 947"/>
                <a:gd name="T104" fmla="*/ 511 w 511"/>
                <a:gd name="T105" fmla="*/ 947 h 94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11" h="947">
                  <a:moveTo>
                    <a:pt x="59" y="0"/>
                  </a:moveTo>
                  <a:lnTo>
                    <a:pt x="13" y="0"/>
                  </a:lnTo>
                  <a:lnTo>
                    <a:pt x="0" y="68"/>
                  </a:lnTo>
                  <a:lnTo>
                    <a:pt x="33" y="108"/>
                  </a:lnTo>
                  <a:lnTo>
                    <a:pt x="139" y="202"/>
                  </a:lnTo>
                  <a:lnTo>
                    <a:pt x="232" y="322"/>
                  </a:lnTo>
                  <a:lnTo>
                    <a:pt x="292" y="446"/>
                  </a:lnTo>
                  <a:lnTo>
                    <a:pt x="301" y="527"/>
                  </a:lnTo>
                  <a:lnTo>
                    <a:pt x="298" y="586"/>
                  </a:lnTo>
                  <a:lnTo>
                    <a:pt x="272" y="719"/>
                  </a:lnTo>
                  <a:lnTo>
                    <a:pt x="238" y="827"/>
                  </a:lnTo>
                  <a:lnTo>
                    <a:pt x="209" y="889"/>
                  </a:lnTo>
                  <a:lnTo>
                    <a:pt x="202" y="928"/>
                  </a:lnTo>
                  <a:lnTo>
                    <a:pt x="232" y="928"/>
                  </a:lnTo>
                  <a:lnTo>
                    <a:pt x="278" y="915"/>
                  </a:lnTo>
                  <a:lnTo>
                    <a:pt x="292" y="918"/>
                  </a:lnTo>
                  <a:lnTo>
                    <a:pt x="388" y="924"/>
                  </a:lnTo>
                  <a:lnTo>
                    <a:pt x="461" y="947"/>
                  </a:lnTo>
                  <a:lnTo>
                    <a:pt x="487" y="934"/>
                  </a:lnTo>
                  <a:lnTo>
                    <a:pt x="511" y="885"/>
                  </a:lnTo>
                  <a:lnTo>
                    <a:pt x="487" y="859"/>
                  </a:lnTo>
                  <a:lnTo>
                    <a:pt x="378" y="856"/>
                  </a:lnTo>
                  <a:lnTo>
                    <a:pt x="301" y="866"/>
                  </a:lnTo>
                  <a:lnTo>
                    <a:pt x="262" y="885"/>
                  </a:lnTo>
                  <a:lnTo>
                    <a:pt x="268" y="840"/>
                  </a:lnTo>
                  <a:lnTo>
                    <a:pt x="308" y="771"/>
                  </a:lnTo>
                  <a:lnTo>
                    <a:pt x="341" y="664"/>
                  </a:lnTo>
                  <a:lnTo>
                    <a:pt x="368" y="573"/>
                  </a:lnTo>
                  <a:lnTo>
                    <a:pt x="348" y="469"/>
                  </a:lnTo>
                  <a:lnTo>
                    <a:pt x="318" y="358"/>
                  </a:lnTo>
                  <a:lnTo>
                    <a:pt x="258" y="231"/>
                  </a:lnTo>
                  <a:lnTo>
                    <a:pt x="172" y="114"/>
                  </a:lnTo>
                  <a:lnTo>
                    <a:pt x="99" y="2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2545" y="2320"/>
              <a:ext cx="344" cy="965"/>
            </a:xfrm>
            <a:custGeom>
              <a:avLst/>
              <a:gdLst>
                <a:gd name="T0" fmla="*/ 238 w 344"/>
                <a:gd name="T1" fmla="*/ 0 h 965"/>
                <a:gd name="T2" fmla="*/ 195 w 344"/>
                <a:gd name="T3" fmla="*/ 91 h 965"/>
                <a:gd name="T4" fmla="*/ 165 w 344"/>
                <a:gd name="T5" fmla="*/ 224 h 965"/>
                <a:gd name="T6" fmla="*/ 129 w 344"/>
                <a:gd name="T7" fmla="*/ 371 h 965"/>
                <a:gd name="T8" fmla="*/ 96 w 344"/>
                <a:gd name="T9" fmla="*/ 520 h 965"/>
                <a:gd name="T10" fmla="*/ 96 w 344"/>
                <a:gd name="T11" fmla="*/ 575 h 965"/>
                <a:gd name="T12" fmla="*/ 129 w 344"/>
                <a:gd name="T13" fmla="*/ 673 h 965"/>
                <a:gd name="T14" fmla="*/ 175 w 344"/>
                <a:gd name="T15" fmla="*/ 725 h 965"/>
                <a:gd name="T16" fmla="*/ 218 w 344"/>
                <a:gd name="T17" fmla="*/ 790 h 965"/>
                <a:gd name="T18" fmla="*/ 248 w 344"/>
                <a:gd name="T19" fmla="*/ 838 h 965"/>
                <a:gd name="T20" fmla="*/ 235 w 344"/>
                <a:gd name="T21" fmla="*/ 861 h 965"/>
                <a:gd name="T22" fmla="*/ 159 w 344"/>
                <a:gd name="T23" fmla="*/ 871 h 965"/>
                <a:gd name="T24" fmla="*/ 36 w 344"/>
                <a:gd name="T25" fmla="*/ 890 h 965"/>
                <a:gd name="T26" fmla="*/ 0 w 344"/>
                <a:gd name="T27" fmla="*/ 920 h 965"/>
                <a:gd name="T28" fmla="*/ 30 w 344"/>
                <a:gd name="T29" fmla="*/ 946 h 965"/>
                <a:gd name="T30" fmla="*/ 99 w 344"/>
                <a:gd name="T31" fmla="*/ 965 h 965"/>
                <a:gd name="T32" fmla="*/ 179 w 344"/>
                <a:gd name="T33" fmla="*/ 926 h 965"/>
                <a:gd name="T34" fmla="*/ 238 w 344"/>
                <a:gd name="T35" fmla="*/ 900 h 965"/>
                <a:gd name="T36" fmla="*/ 314 w 344"/>
                <a:gd name="T37" fmla="*/ 890 h 965"/>
                <a:gd name="T38" fmla="*/ 344 w 344"/>
                <a:gd name="T39" fmla="*/ 881 h 965"/>
                <a:gd name="T40" fmla="*/ 334 w 344"/>
                <a:gd name="T41" fmla="*/ 848 h 965"/>
                <a:gd name="T42" fmla="*/ 248 w 344"/>
                <a:gd name="T43" fmla="*/ 764 h 965"/>
                <a:gd name="T44" fmla="*/ 198 w 344"/>
                <a:gd name="T45" fmla="*/ 676 h 965"/>
                <a:gd name="T46" fmla="*/ 155 w 344"/>
                <a:gd name="T47" fmla="*/ 617 h 965"/>
                <a:gd name="T48" fmla="*/ 149 w 344"/>
                <a:gd name="T49" fmla="*/ 559 h 965"/>
                <a:gd name="T50" fmla="*/ 169 w 344"/>
                <a:gd name="T51" fmla="*/ 462 h 965"/>
                <a:gd name="T52" fmla="*/ 215 w 344"/>
                <a:gd name="T53" fmla="*/ 361 h 965"/>
                <a:gd name="T54" fmla="*/ 265 w 344"/>
                <a:gd name="T55" fmla="*/ 189 h 965"/>
                <a:gd name="T56" fmla="*/ 308 w 344"/>
                <a:gd name="T57" fmla="*/ 88 h 965"/>
                <a:gd name="T58" fmla="*/ 304 w 344"/>
                <a:gd name="T59" fmla="*/ 29 h 965"/>
                <a:gd name="T60" fmla="*/ 265 w 344"/>
                <a:gd name="T61" fmla="*/ 0 h 965"/>
                <a:gd name="T62" fmla="*/ 238 w 344"/>
                <a:gd name="T63" fmla="*/ 0 h 96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44"/>
                <a:gd name="T97" fmla="*/ 0 h 965"/>
                <a:gd name="T98" fmla="*/ 344 w 344"/>
                <a:gd name="T99" fmla="*/ 965 h 96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44" h="965">
                  <a:moveTo>
                    <a:pt x="238" y="0"/>
                  </a:moveTo>
                  <a:lnTo>
                    <a:pt x="195" y="91"/>
                  </a:lnTo>
                  <a:lnTo>
                    <a:pt x="165" y="224"/>
                  </a:lnTo>
                  <a:lnTo>
                    <a:pt x="129" y="371"/>
                  </a:lnTo>
                  <a:lnTo>
                    <a:pt x="96" y="520"/>
                  </a:lnTo>
                  <a:lnTo>
                    <a:pt x="96" y="575"/>
                  </a:lnTo>
                  <a:lnTo>
                    <a:pt x="129" y="673"/>
                  </a:lnTo>
                  <a:lnTo>
                    <a:pt x="175" y="725"/>
                  </a:lnTo>
                  <a:lnTo>
                    <a:pt x="218" y="790"/>
                  </a:lnTo>
                  <a:lnTo>
                    <a:pt x="248" y="838"/>
                  </a:lnTo>
                  <a:lnTo>
                    <a:pt x="235" y="861"/>
                  </a:lnTo>
                  <a:lnTo>
                    <a:pt x="159" y="871"/>
                  </a:lnTo>
                  <a:lnTo>
                    <a:pt x="36" y="890"/>
                  </a:lnTo>
                  <a:lnTo>
                    <a:pt x="0" y="920"/>
                  </a:lnTo>
                  <a:lnTo>
                    <a:pt x="30" y="946"/>
                  </a:lnTo>
                  <a:lnTo>
                    <a:pt x="99" y="965"/>
                  </a:lnTo>
                  <a:lnTo>
                    <a:pt x="179" y="926"/>
                  </a:lnTo>
                  <a:lnTo>
                    <a:pt x="238" y="900"/>
                  </a:lnTo>
                  <a:lnTo>
                    <a:pt x="314" y="890"/>
                  </a:lnTo>
                  <a:lnTo>
                    <a:pt x="344" y="881"/>
                  </a:lnTo>
                  <a:lnTo>
                    <a:pt x="334" y="848"/>
                  </a:lnTo>
                  <a:lnTo>
                    <a:pt x="248" y="764"/>
                  </a:lnTo>
                  <a:lnTo>
                    <a:pt x="198" y="676"/>
                  </a:lnTo>
                  <a:lnTo>
                    <a:pt x="155" y="617"/>
                  </a:lnTo>
                  <a:lnTo>
                    <a:pt x="149" y="559"/>
                  </a:lnTo>
                  <a:lnTo>
                    <a:pt x="169" y="462"/>
                  </a:lnTo>
                  <a:lnTo>
                    <a:pt x="215" y="361"/>
                  </a:lnTo>
                  <a:lnTo>
                    <a:pt x="265" y="189"/>
                  </a:lnTo>
                  <a:lnTo>
                    <a:pt x="308" y="88"/>
                  </a:lnTo>
                  <a:lnTo>
                    <a:pt x="304" y="29"/>
                  </a:lnTo>
                  <a:lnTo>
                    <a:pt x="265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2954" y="770"/>
              <a:ext cx="170" cy="198"/>
            </a:xfrm>
            <a:custGeom>
              <a:avLst/>
              <a:gdLst>
                <a:gd name="T0" fmla="*/ 20 w 170"/>
                <a:gd name="T1" fmla="*/ 9 h 198"/>
                <a:gd name="T2" fmla="*/ 66 w 170"/>
                <a:gd name="T3" fmla="*/ 0 h 198"/>
                <a:gd name="T4" fmla="*/ 110 w 170"/>
                <a:gd name="T5" fmla="*/ 3 h 198"/>
                <a:gd name="T6" fmla="*/ 150 w 170"/>
                <a:gd name="T7" fmla="*/ 22 h 198"/>
                <a:gd name="T8" fmla="*/ 170 w 170"/>
                <a:gd name="T9" fmla="*/ 58 h 198"/>
                <a:gd name="T10" fmla="*/ 170 w 170"/>
                <a:gd name="T11" fmla="*/ 87 h 198"/>
                <a:gd name="T12" fmla="*/ 150 w 170"/>
                <a:gd name="T13" fmla="*/ 126 h 198"/>
                <a:gd name="T14" fmla="*/ 116 w 170"/>
                <a:gd name="T15" fmla="*/ 149 h 198"/>
                <a:gd name="T16" fmla="*/ 66 w 170"/>
                <a:gd name="T17" fmla="*/ 149 h 198"/>
                <a:gd name="T18" fmla="*/ 36 w 170"/>
                <a:gd name="T19" fmla="*/ 168 h 198"/>
                <a:gd name="T20" fmla="*/ 26 w 170"/>
                <a:gd name="T21" fmla="*/ 198 h 198"/>
                <a:gd name="T22" fmla="*/ 0 w 170"/>
                <a:gd name="T23" fmla="*/ 188 h 198"/>
                <a:gd name="T24" fmla="*/ 10 w 170"/>
                <a:gd name="T25" fmla="*/ 149 h 198"/>
                <a:gd name="T26" fmla="*/ 46 w 170"/>
                <a:gd name="T27" fmla="*/ 126 h 198"/>
                <a:gd name="T28" fmla="*/ 106 w 170"/>
                <a:gd name="T29" fmla="*/ 120 h 198"/>
                <a:gd name="T30" fmla="*/ 130 w 170"/>
                <a:gd name="T31" fmla="*/ 97 h 198"/>
                <a:gd name="T32" fmla="*/ 136 w 170"/>
                <a:gd name="T33" fmla="*/ 61 h 198"/>
                <a:gd name="T34" fmla="*/ 110 w 170"/>
                <a:gd name="T35" fmla="*/ 29 h 198"/>
                <a:gd name="T36" fmla="*/ 70 w 170"/>
                <a:gd name="T37" fmla="*/ 29 h 198"/>
                <a:gd name="T38" fmla="*/ 26 w 170"/>
                <a:gd name="T39" fmla="*/ 39 h 198"/>
                <a:gd name="T40" fmla="*/ 10 w 170"/>
                <a:gd name="T41" fmla="*/ 29 h 198"/>
                <a:gd name="T42" fmla="*/ 20 w 170"/>
                <a:gd name="T43" fmla="*/ 9 h 19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70"/>
                <a:gd name="T67" fmla="*/ 0 h 198"/>
                <a:gd name="T68" fmla="*/ 170 w 170"/>
                <a:gd name="T69" fmla="*/ 198 h 19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70" h="198">
                  <a:moveTo>
                    <a:pt x="20" y="9"/>
                  </a:moveTo>
                  <a:lnTo>
                    <a:pt x="66" y="0"/>
                  </a:lnTo>
                  <a:lnTo>
                    <a:pt x="110" y="3"/>
                  </a:lnTo>
                  <a:lnTo>
                    <a:pt x="150" y="22"/>
                  </a:lnTo>
                  <a:lnTo>
                    <a:pt x="170" y="58"/>
                  </a:lnTo>
                  <a:lnTo>
                    <a:pt x="170" y="87"/>
                  </a:lnTo>
                  <a:lnTo>
                    <a:pt x="150" y="126"/>
                  </a:lnTo>
                  <a:lnTo>
                    <a:pt x="116" y="149"/>
                  </a:lnTo>
                  <a:lnTo>
                    <a:pt x="66" y="149"/>
                  </a:lnTo>
                  <a:lnTo>
                    <a:pt x="36" y="168"/>
                  </a:lnTo>
                  <a:lnTo>
                    <a:pt x="26" y="198"/>
                  </a:lnTo>
                  <a:lnTo>
                    <a:pt x="0" y="188"/>
                  </a:lnTo>
                  <a:lnTo>
                    <a:pt x="10" y="149"/>
                  </a:lnTo>
                  <a:lnTo>
                    <a:pt x="46" y="126"/>
                  </a:lnTo>
                  <a:lnTo>
                    <a:pt x="106" y="120"/>
                  </a:lnTo>
                  <a:lnTo>
                    <a:pt x="130" y="97"/>
                  </a:lnTo>
                  <a:lnTo>
                    <a:pt x="136" y="61"/>
                  </a:lnTo>
                  <a:lnTo>
                    <a:pt x="110" y="29"/>
                  </a:lnTo>
                  <a:lnTo>
                    <a:pt x="70" y="29"/>
                  </a:lnTo>
                  <a:lnTo>
                    <a:pt x="26" y="39"/>
                  </a:lnTo>
                  <a:lnTo>
                    <a:pt x="10" y="2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2913" y="1001"/>
              <a:ext cx="53" cy="54"/>
            </a:xfrm>
            <a:custGeom>
              <a:avLst/>
              <a:gdLst>
                <a:gd name="T0" fmla="*/ 53 w 53"/>
                <a:gd name="T1" fmla="*/ 3 h 54"/>
                <a:gd name="T2" fmla="*/ 26 w 53"/>
                <a:gd name="T3" fmla="*/ 0 h 54"/>
                <a:gd name="T4" fmla="*/ 8 w 53"/>
                <a:gd name="T5" fmla="*/ 20 h 54"/>
                <a:gd name="T6" fmla="*/ 0 w 53"/>
                <a:gd name="T7" fmla="*/ 51 h 54"/>
                <a:gd name="T8" fmla="*/ 26 w 53"/>
                <a:gd name="T9" fmla="*/ 54 h 54"/>
                <a:gd name="T10" fmla="*/ 48 w 53"/>
                <a:gd name="T11" fmla="*/ 40 h 54"/>
                <a:gd name="T12" fmla="*/ 53 w 53"/>
                <a:gd name="T13" fmla="*/ 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54"/>
                <a:gd name="T23" fmla="*/ 53 w 53"/>
                <a:gd name="T24" fmla="*/ 54 h 5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54">
                  <a:moveTo>
                    <a:pt x="53" y="3"/>
                  </a:moveTo>
                  <a:lnTo>
                    <a:pt x="26" y="0"/>
                  </a:lnTo>
                  <a:lnTo>
                    <a:pt x="8" y="20"/>
                  </a:lnTo>
                  <a:lnTo>
                    <a:pt x="0" y="51"/>
                  </a:lnTo>
                  <a:lnTo>
                    <a:pt x="26" y="54"/>
                  </a:lnTo>
                  <a:lnTo>
                    <a:pt x="48" y="4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rgbClr val="025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799488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123l">
  <a:themeElements>
    <a:clrScheme name="sample 2">
      <a:dk1>
        <a:srgbClr val="19426B"/>
      </a:dk1>
      <a:lt1>
        <a:srgbClr val="FFFFFF"/>
      </a:lt1>
      <a:dk2>
        <a:srgbClr val="008080"/>
      </a:dk2>
      <a:lt2>
        <a:srgbClr val="B2B2B2"/>
      </a:lt2>
      <a:accent1>
        <a:srgbClr val="35C9C2"/>
      </a:accent1>
      <a:accent2>
        <a:srgbClr val="398AC7"/>
      </a:accent2>
      <a:accent3>
        <a:srgbClr val="FFFFFF"/>
      </a:accent3>
      <a:accent4>
        <a:srgbClr val="14375A"/>
      </a:accent4>
      <a:accent5>
        <a:srgbClr val="AEE1DD"/>
      </a:accent5>
      <a:accent6>
        <a:srgbClr val="337DB4"/>
      </a:accent6>
      <a:hlink>
        <a:srgbClr val="8BBC00"/>
      </a:hlink>
      <a:folHlink>
        <a:srgbClr val="6D50CA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000000"/>
        </a:dk1>
        <a:lt1>
          <a:srgbClr val="FFFFFF"/>
        </a:lt1>
        <a:dk2>
          <a:srgbClr val="1640B6"/>
        </a:dk2>
        <a:lt2>
          <a:srgbClr val="B2B2B2"/>
        </a:lt2>
        <a:accent1>
          <a:srgbClr val="48BDEC"/>
        </a:accent1>
        <a:accent2>
          <a:srgbClr val="E68402"/>
        </a:accent2>
        <a:accent3>
          <a:srgbClr val="FFFFFF"/>
        </a:accent3>
        <a:accent4>
          <a:srgbClr val="000000"/>
        </a:accent4>
        <a:accent5>
          <a:srgbClr val="B1DBF4"/>
        </a:accent5>
        <a:accent6>
          <a:srgbClr val="D07702"/>
        </a:accent6>
        <a:hlink>
          <a:srgbClr val="339966"/>
        </a:hlink>
        <a:folHlink>
          <a:srgbClr val="7E88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426B"/>
        </a:dk1>
        <a:lt1>
          <a:srgbClr val="FFFFFF"/>
        </a:lt1>
        <a:dk2>
          <a:srgbClr val="008080"/>
        </a:dk2>
        <a:lt2>
          <a:srgbClr val="B2B2B2"/>
        </a:lt2>
        <a:accent1>
          <a:srgbClr val="35C9C2"/>
        </a:accent1>
        <a:accent2>
          <a:srgbClr val="398AC7"/>
        </a:accent2>
        <a:accent3>
          <a:srgbClr val="FFFFFF"/>
        </a:accent3>
        <a:accent4>
          <a:srgbClr val="14375A"/>
        </a:accent4>
        <a:accent5>
          <a:srgbClr val="AEE1DD"/>
        </a:accent5>
        <a:accent6>
          <a:srgbClr val="337DB4"/>
        </a:accent6>
        <a:hlink>
          <a:srgbClr val="8BBC00"/>
        </a:hlink>
        <a:folHlink>
          <a:srgbClr val="6D5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25095D"/>
        </a:dk1>
        <a:lt1>
          <a:srgbClr val="FFFFFF"/>
        </a:lt1>
        <a:dk2>
          <a:srgbClr val="235752"/>
        </a:dk2>
        <a:lt2>
          <a:srgbClr val="B2B2B2"/>
        </a:lt2>
        <a:accent1>
          <a:srgbClr val="DAAF34"/>
        </a:accent1>
        <a:accent2>
          <a:srgbClr val="6F9A3C"/>
        </a:accent2>
        <a:accent3>
          <a:srgbClr val="FFFFFF"/>
        </a:accent3>
        <a:accent4>
          <a:srgbClr val="1E064E"/>
        </a:accent4>
        <a:accent5>
          <a:srgbClr val="EAD4AE"/>
        </a:accent5>
        <a:accent6>
          <a:srgbClr val="648B35"/>
        </a:accent6>
        <a:hlink>
          <a:srgbClr val="8DAED9"/>
        </a:hlink>
        <a:folHlink>
          <a:srgbClr val="A8CB7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cdb2004123l</Template>
  <TotalTime>693</TotalTime>
  <Words>1135</Words>
  <Application>Microsoft Office PowerPoint</Application>
  <PresentationFormat>On-screen Show (4:3)</PresentationFormat>
  <Paragraphs>184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Aptos Narrow</vt:lpstr>
      <vt:lpstr>arial</vt:lpstr>
      <vt:lpstr>arial</vt:lpstr>
      <vt:lpstr>Arial-Rounded</vt:lpstr>
      <vt:lpstr>Calibri</vt:lpstr>
      <vt:lpstr>Chelthm</vt:lpstr>
      <vt:lpstr>Consolas</vt:lpstr>
      <vt:lpstr>Tahoma</vt:lpstr>
      <vt:lpstr>Verdana</vt:lpstr>
      <vt:lpstr>Wingdings</vt:lpstr>
      <vt:lpstr>cdb2004123l</vt:lpstr>
      <vt:lpstr>TỔNG QUAN BẢO MẬT WEBSITE</vt:lpstr>
      <vt:lpstr>Nội Dung</vt:lpstr>
      <vt:lpstr>I. Các mô hình ứng dụng Website</vt:lpstr>
      <vt:lpstr>I. Các mô hình ứng dụng Website</vt:lpstr>
      <vt:lpstr>I. Các mô hình ứng dụng Website</vt:lpstr>
      <vt:lpstr>I. Các mô hình ứng dụng Website</vt:lpstr>
      <vt:lpstr>I. Các mô hình ứng dụng Website</vt:lpstr>
      <vt:lpstr>I. Các mô hình ứng dụng Website</vt:lpstr>
      <vt:lpstr>I. Các mô hình ứng dụng Website</vt:lpstr>
      <vt:lpstr>I. Các mô hình ứng dụng Website</vt:lpstr>
      <vt:lpstr>I. Các mô hình ứng dụng Website</vt:lpstr>
      <vt:lpstr>I. Các mô hình ứng dụng Website</vt:lpstr>
      <vt:lpstr>Một số ví dụ tấn công mạng tại Việt Nam</vt:lpstr>
      <vt:lpstr>PowerPoint Presentation</vt:lpstr>
      <vt:lpstr>Một số ví dụ tấn công mạng tại Việt Nam</vt:lpstr>
      <vt:lpstr>Một số ví dụ tấn công mạng tại Việt Nam</vt:lpstr>
      <vt:lpstr>Tấn công mạng</vt:lpstr>
      <vt:lpstr>Giới Thiệu Môn Học</vt:lpstr>
      <vt:lpstr>Mã hóa file</vt:lpstr>
      <vt:lpstr>Giao thức SSL</vt:lpstr>
      <vt:lpstr>Kiểm tra download file</vt:lpstr>
      <vt:lpstr>Chữ ký điện tử trên file PDF</vt:lpstr>
      <vt:lpstr>Blockchain và Tiền số</vt:lpstr>
      <vt:lpstr>Blockchain và Tiền số</vt:lpstr>
      <vt:lpstr>I. Các mô hình ứng dụng Website</vt:lpstr>
      <vt:lpstr>II. Tấn công quá trình truyền dữ liệu</vt:lpstr>
      <vt:lpstr>II. Tấn công quá trình truyền dữ liệu</vt:lpstr>
      <vt:lpstr>III. Tấn công xâm nhập phá hoại hệ thống </vt:lpstr>
      <vt:lpstr>Ví dụ 1: Tài khoản VISA, Master</vt:lpstr>
      <vt:lpstr>Ví dụ 2: Tấn công website TOEFL </vt:lpstr>
      <vt:lpstr>Ví dụ 1: Tấn công website TOEFL </vt:lpstr>
      <vt:lpstr>PowerPoint Presentation</vt:lpstr>
      <vt:lpstr>Ví dụ 3: Báo điện tử Vietnamnet</vt:lpstr>
      <vt:lpstr>III. Tấn công xâm nhập phá hoại hệ thống </vt:lpstr>
      <vt:lpstr>PowerPoint Presentation</vt:lpstr>
      <vt:lpstr>PowerPoint Presentation</vt:lpstr>
      <vt:lpstr>PowerPoint Presentation</vt:lpstr>
      <vt:lpstr>PowerPoint Presentation</vt:lpstr>
      <vt:lpstr>IV. Giới thiệu về OWASP </vt:lpstr>
      <vt:lpstr>IV. Giới thiệu về OWASP </vt:lpstr>
      <vt:lpstr>IV. Giới thiệu về OWASP </vt:lpstr>
      <vt:lpstr>IV. Giới thiệu về OWASP 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MinhVan</dc:creator>
  <cp:lastModifiedBy>Tran Minh Van</cp:lastModifiedBy>
  <cp:revision>59</cp:revision>
  <dcterms:created xsi:type="dcterms:W3CDTF">2012-08-23T07:09:20Z</dcterms:created>
  <dcterms:modified xsi:type="dcterms:W3CDTF">2026-09-08T13:16:51Z</dcterms:modified>
</cp:coreProperties>
</file>