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9" r:id="rId18"/>
    <p:sldId id="280" r:id="rId19"/>
    <p:sldId id="281" r:id="rId20"/>
    <p:sldId id="282" r:id="rId21"/>
    <p:sldId id="283" r:id="rId22"/>
    <p:sldId id="285" r:id="rId23"/>
    <p:sldId id="286" r:id="rId24"/>
    <p:sldId id="290" r:id="rId25"/>
    <p:sldId id="287" r:id="rId26"/>
    <p:sldId id="289" r:id="rId27"/>
  </p:sldIdLst>
  <p:sldSz cx="9144000" cy="6858000" type="screen4x3"/>
  <p:notesSz cx="6858000" cy="9144000"/>
  <p:custDataLst>
    <p:tags r:id="rId2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6C00"/>
    <a:srgbClr val="FFECAF"/>
    <a:srgbClr val="301F67"/>
    <a:srgbClr val="8BBC00"/>
    <a:srgbClr val="4A6400"/>
    <a:srgbClr val="16524F"/>
    <a:srgbClr val="173851"/>
    <a:srgbClr val="1E4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10A545-2749-4B8D-95FE-E4D3947D4A44}" v="2" dt="2024-10-08T03:01:18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60" autoAdjust="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Minh Van" userId="6494f060fdbe5487" providerId="LiveId" clId="{D210A545-2749-4B8D-95FE-E4D3947D4A44}"/>
    <pc:docChg chg="modSld">
      <pc:chgData name="Tran Minh Van" userId="6494f060fdbe5487" providerId="LiveId" clId="{D210A545-2749-4B8D-95FE-E4D3947D4A44}" dt="2024-10-08T03:01:18.842" v="1"/>
      <pc:docMkLst>
        <pc:docMk/>
      </pc:docMkLst>
      <pc:sldChg chg="addSp delSp modSp">
        <pc:chgData name="Tran Minh Van" userId="6494f060fdbe5487" providerId="LiveId" clId="{D210A545-2749-4B8D-95FE-E4D3947D4A44}" dt="2024-10-08T03:01:18.842" v="1"/>
        <pc:sldMkLst>
          <pc:docMk/>
          <pc:sldMk cId="3109210337" sldId="289"/>
        </pc:sldMkLst>
        <pc:picChg chg="add mod">
          <ac:chgData name="Tran Minh Van" userId="6494f060fdbe5487" providerId="LiveId" clId="{D210A545-2749-4B8D-95FE-E4D3947D4A44}" dt="2024-10-08T03:01:18.842" v="1"/>
          <ac:picMkLst>
            <pc:docMk/>
            <pc:sldMk cId="3109210337" sldId="289"/>
            <ac:picMk id="2" creationId="{75D04129-BFB3-8097-5F31-6E66D8755C63}"/>
          </ac:picMkLst>
        </pc:picChg>
        <pc:picChg chg="del">
          <ac:chgData name="Tran Minh Van" userId="6494f060fdbe5487" providerId="LiveId" clId="{D210A545-2749-4B8D-95FE-E4D3947D4A44}" dt="2024-10-08T03:01:17.874" v="0" actId="478"/>
          <ac:picMkLst>
            <pc:docMk/>
            <pc:sldMk cId="3109210337" sldId="289"/>
            <ac:picMk id="2458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96832-282D-4A52-9021-3D432DA032E9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F9079-A2B0-4632-AD4E-3055FCA5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9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B3DBA57-A24B-4AF9-9A18-0E48173FF17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39A3B8-2C74-4007-8194-D780642CE1A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F5A43A-245D-4F70-82F1-2EBCC51D038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C1E011-A16D-4988-A7D1-470B18FF9C2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AFFA29-DC38-4B09-A1E0-C66E5F5CDF7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602E8B3-B313-46D4-8F64-AE79B96229C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627EA9F-C0CB-47EF-9F43-3EC6BBCB462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11CEA4-430A-4BE4-9481-07045BD1E5D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95D5F7-09B0-4505-994B-2BB3B8216E6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31A7C5-CAED-4EA5-AD61-D23935D12E0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66550B-BA7F-4DD7-8687-33B427A8B34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25B20F-6458-4086-A006-0A70140C0F1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B09CF6-CC45-4328-89AB-B2CE3C52B03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A232D2-54A6-4772-8013-BA5192BA054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D7A09D-C5F7-44DB-8FC7-D1AA31FF791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73C597-F9CE-484B-8603-3AB7C50A276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D5CE26-9B1D-4E03-968D-9B8B7853ED8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E6C27B-4AD1-458D-8B5F-FC4B70B8AE9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B8725E-F5F3-441D-8CBE-2C650616DD4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4869512-38D0-4927-AAB1-7C27910643B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72ABE6-637A-4675-88A1-00C662FDDD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5FE82BA-CBE1-4273-A11D-EB3F1ADB2A0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0ABA44-6388-44DB-9FF1-BDCA1D26754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0" y="3527425"/>
            <a:ext cx="9144000" cy="33575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86525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86525"/>
            <a:ext cx="2895600" cy="168275"/>
          </a:xfrm>
        </p:spPr>
        <p:txBody>
          <a:bodyPr/>
          <a:lstStyle>
            <a:lvl1pPr algn="ctr">
              <a:defRPr sz="1200" b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86525"/>
            <a:ext cx="2133600" cy="16827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C23A9963-A348-489E-A078-8F89107914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3086100"/>
            <a:ext cx="9144000" cy="592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457200"/>
            <a:ext cx="7772400" cy="19050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343400" y="3178175"/>
            <a:ext cx="45720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Nha Trang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+mj-lt"/>
              </a:defRPr>
            </a:lvl1pPr>
          </a:lstStyle>
          <a:p>
            <a:fld id="{ADD77C13-390F-400C-BEC5-92A0E1FA74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7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99138-99A1-4A5E-B84D-DF9D4476A9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5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414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414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288167-4551-49DA-989E-F9BDA476C3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4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24308F-8145-4505-9178-3BF1FF6120F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7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23BD9F-54EB-44E0-A0D7-23A2247606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3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01550-BF9C-41F9-8340-2C48129102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6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6DF10-34F5-49D8-9D01-2741B9C7A7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3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CAC9A1-F280-4A33-9AE2-BBB6E29992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1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758ADD-F6D5-4447-B201-793B45BC6D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5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6337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6337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60DC57-09D7-4BBF-8C97-5DEFB1E528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1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DB9E937A-3ADE-49E0-A08F-FE8406E577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91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3C5F29E0-B3B3-4234-B135-EABB7CC303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gray">
          <a:xfrm>
            <a:off x="0" y="872332"/>
            <a:ext cx="9144000" cy="15636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14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24600" y="6564313"/>
            <a:ext cx="2362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+mn-lt"/>
              </a:defRPr>
            </a:lvl1pPr>
          </a:lstStyle>
          <a:p>
            <a:r>
              <a:rPr lang="en-US"/>
              <a:t>Nha Trang University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1A744CEE-9186-4AB4-8C33-90025AE8CD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381000" y="1524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i="0" u="none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 b="0" i="0" u="none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4"/>
          <p:cNvSpPr>
            <a:spLocks noGrp="1" noChangeArrowheads="1"/>
          </p:cNvSpPr>
          <p:nvPr>
            <p:ph type="ctrTitle"/>
          </p:nvPr>
        </p:nvSpPr>
        <p:spPr>
          <a:xfrm>
            <a:off x="0" y="762000"/>
            <a:ext cx="9144000" cy="21336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en-US" sz="5400">
                <a:latin typeface="Chelthm" pitchFamily="18" charset="0"/>
                <a:cs typeface="Chelthm" pitchFamily="18" charset="0"/>
              </a:rPr>
              <a:t>MÃ CHỨNG THỰC </a:t>
            </a:r>
            <a:br>
              <a:rPr lang="en-US" sz="5400">
                <a:latin typeface="Chelthm" pitchFamily="18" charset="0"/>
                <a:cs typeface="Chelthm" pitchFamily="18" charset="0"/>
              </a:rPr>
            </a:br>
            <a:r>
              <a:rPr lang="en-US" sz="5400">
                <a:latin typeface="Chelthm" pitchFamily="18" charset="0"/>
                <a:cs typeface="Chelthm" pitchFamily="18" charset="0"/>
              </a:rPr>
              <a:t>THÔNG ĐIỆP &amp; HÀM BĂM</a:t>
            </a:r>
            <a:endParaRPr lang="en-US" sz="5400" b="1">
              <a:latin typeface="Chelthm" pitchFamily="18" charset="0"/>
              <a:cs typeface="Chelthm" pitchFamily="18" charset="0"/>
            </a:endParaRPr>
          </a:p>
        </p:txBody>
      </p:sp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762000" y="3088943"/>
            <a:ext cx="7696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>
                <a:solidFill>
                  <a:schemeClr val="bg1"/>
                </a:solidFill>
                <a:latin typeface="Arial-Rounded" pitchFamily="34" charset="0"/>
                <a:cs typeface="Arial-Rounded" pitchFamily="34" charset="0"/>
              </a:rPr>
              <a:t>CHƯƠNG  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673718"/>
            <a:ext cx="6368562" cy="318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76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Dẫn nhập</a:t>
            </a:r>
          </a:p>
          <a:p>
            <a:pPr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Mã chứng thực thông điệp</a:t>
            </a:r>
          </a:p>
          <a:p>
            <a:pPr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Hàm băm</a:t>
            </a:r>
          </a:p>
          <a:p>
            <a:pPr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Ứng dụng của hàm băm</a:t>
            </a:r>
          </a:p>
          <a:p>
            <a:pPr>
              <a:lnSpc>
                <a:spcPct val="130000"/>
              </a:lnSpc>
              <a:buFont typeface="Calibri" pitchFamily="34" charset="0"/>
              <a:buAutoNum type="romanUcPeriod"/>
            </a:pPr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Hàm băm và chữ ký điện tử</a:t>
            </a:r>
          </a:p>
          <a:p>
            <a:pPr>
              <a:lnSpc>
                <a:spcPct val="130000"/>
              </a:lnSpc>
              <a:buFont typeface="Calibri" pitchFamily="34" charset="0"/>
              <a:buAutoNum type="romanUcPeriod"/>
            </a:pPr>
            <a:endParaRPr lang="en-US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</p:spTree>
    <p:extLst>
      <p:ext uri="{BB962C8B-B14F-4D97-AF65-F5344CB8AC3E}">
        <p14:creationId xmlns:p14="http://schemas.microsoft.com/office/powerpoint/2010/main" val="177998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ChangeArrowheads="1"/>
          </p:cNvSpPr>
          <p:nvPr/>
        </p:nvSpPr>
        <p:spPr bwMode="auto">
          <a:xfrm>
            <a:off x="6781800" y="4495800"/>
            <a:ext cx="142716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>
              <a:spcBef>
                <a:spcPts val="300"/>
              </a:spcBef>
            </a:pPr>
            <a:r>
              <a:rPr lang="en-US" sz="9600">
                <a:latin typeface="Tahoma" pitchFamily="34" charset="0"/>
              </a:rPr>
              <a:t>?</a:t>
            </a:r>
            <a:endParaRPr lang="en-US" sz="960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60430E-3E59-4C05-BBB8-C450A405DB54}" type="slidenum">
              <a:rPr lang="en-US"/>
              <a:pPr>
                <a:defRPr/>
              </a:pPr>
              <a:t>3</a:t>
            </a:fld>
            <a:endParaRPr lang="en-US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16351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295400"/>
            <a:ext cx="1752600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295400"/>
            <a:ext cx="16351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>
            <a:off x="2133600" y="2438400"/>
            <a:ext cx="1295400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9" name="Rectangle 5"/>
          <p:cNvSpPr>
            <a:spLocks noChangeArrowheads="1"/>
          </p:cNvSpPr>
          <p:nvPr/>
        </p:nvSpPr>
        <p:spPr bwMode="auto">
          <a:xfrm>
            <a:off x="2057400" y="1905000"/>
            <a:ext cx="1427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>
              <a:spcBef>
                <a:spcPts val="300"/>
              </a:spcBef>
            </a:pPr>
            <a:r>
              <a:rPr lang="en-US" sz="2000">
                <a:latin typeface="Tahoma" pitchFamily="34" charset="0"/>
              </a:rPr>
              <a:t>Mã hóa</a:t>
            </a:r>
            <a:endParaRPr lang="en-US" sz="200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334000" y="2438400"/>
            <a:ext cx="1295400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1" name="Rectangle 5"/>
          <p:cNvSpPr>
            <a:spLocks noChangeArrowheads="1"/>
          </p:cNvSpPr>
          <p:nvPr/>
        </p:nvSpPr>
        <p:spPr bwMode="auto">
          <a:xfrm>
            <a:off x="5257800" y="1905000"/>
            <a:ext cx="1427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>
              <a:spcBef>
                <a:spcPts val="300"/>
              </a:spcBef>
            </a:pPr>
            <a:r>
              <a:rPr lang="en-US" sz="2000">
                <a:latin typeface="Tahoma" pitchFamily="34" charset="0"/>
              </a:rPr>
              <a:t>Giải mã</a:t>
            </a:r>
            <a:endParaRPr lang="en-US" sz="2000"/>
          </a:p>
        </p:txBody>
      </p:sp>
      <p:pic>
        <p:nvPicPr>
          <p:cNvPr id="513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191000"/>
            <a:ext cx="1676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4"/>
          <p:cNvCxnSpPr/>
          <p:nvPr/>
        </p:nvCxnSpPr>
        <p:spPr>
          <a:xfrm rot="5400000">
            <a:off x="4076701" y="3771900"/>
            <a:ext cx="685800" cy="317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4" name="Rectangle 5"/>
          <p:cNvSpPr>
            <a:spLocks noChangeArrowheads="1"/>
          </p:cNvSpPr>
          <p:nvPr/>
        </p:nvSpPr>
        <p:spPr bwMode="auto">
          <a:xfrm>
            <a:off x="4724400" y="3581400"/>
            <a:ext cx="1427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>
              <a:spcBef>
                <a:spcPts val="300"/>
              </a:spcBef>
            </a:pPr>
            <a:r>
              <a:rPr lang="en-US" sz="2000">
                <a:latin typeface="Tahoma" pitchFamily="34" charset="0"/>
              </a:rPr>
              <a:t>Trudy sửa</a:t>
            </a:r>
            <a:endParaRPr lang="en-US" sz="200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334000" y="5638800"/>
            <a:ext cx="1295400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6" name="Rectangle 5"/>
          <p:cNvSpPr>
            <a:spLocks noChangeArrowheads="1"/>
          </p:cNvSpPr>
          <p:nvPr/>
        </p:nvSpPr>
        <p:spPr bwMode="auto">
          <a:xfrm>
            <a:off x="5257800" y="5105400"/>
            <a:ext cx="1427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>
              <a:spcBef>
                <a:spcPts val="300"/>
              </a:spcBef>
            </a:pPr>
            <a:r>
              <a:rPr lang="en-US" sz="2000">
                <a:latin typeface="Tahoma" pitchFamily="34" charset="0"/>
              </a:rPr>
              <a:t>Giải mã</a:t>
            </a:r>
            <a:endParaRPr lang="en-US" sz="2000"/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191000"/>
            <a:ext cx="1676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8" name="Rectangle 5"/>
          <p:cNvSpPr>
            <a:spLocks noChangeArrowheads="1"/>
          </p:cNvSpPr>
          <p:nvPr/>
        </p:nvSpPr>
        <p:spPr bwMode="auto">
          <a:xfrm>
            <a:off x="6781800" y="3581400"/>
            <a:ext cx="1427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>
              <a:spcBef>
                <a:spcPts val="300"/>
              </a:spcBef>
            </a:pPr>
            <a:r>
              <a:rPr lang="en-US" sz="2000">
                <a:latin typeface="Tahoma" pitchFamily="34" charset="0"/>
              </a:rPr>
              <a:t>Bob</a:t>
            </a:r>
            <a:endParaRPr lang="en-US" sz="2000"/>
          </a:p>
        </p:txBody>
      </p:sp>
      <p:sp>
        <p:nvSpPr>
          <p:cNvPr id="5139" name="Rectangle 5"/>
          <p:cNvSpPr>
            <a:spLocks noChangeArrowheads="1"/>
          </p:cNvSpPr>
          <p:nvPr/>
        </p:nvSpPr>
        <p:spPr bwMode="auto">
          <a:xfrm>
            <a:off x="381000" y="3657600"/>
            <a:ext cx="1427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>
              <a:spcBef>
                <a:spcPts val="300"/>
              </a:spcBef>
            </a:pPr>
            <a:r>
              <a:rPr lang="en-US" sz="2000">
                <a:latin typeface="Tahoma" pitchFamily="34" charset="0"/>
              </a:rPr>
              <a:t>Alice</a:t>
            </a:r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I. Dẫn nhập</a:t>
            </a:r>
          </a:p>
        </p:txBody>
      </p:sp>
    </p:spTree>
    <p:extLst>
      <p:ext uri="{BB962C8B-B14F-4D97-AF65-F5344CB8AC3E}">
        <p14:creationId xmlns:p14="http://schemas.microsoft.com/office/powerpoint/2010/main" val="331744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 txBox="1">
            <a:spLocks noChangeArrowheads="1"/>
          </p:cNvSpPr>
          <p:nvPr/>
        </p:nvSpPr>
        <p:spPr bwMode="auto">
          <a:xfrm>
            <a:off x="304800" y="1136650"/>
            <a:ext cx="84582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 u="sng">
                <a:latin typeface="Tahoma" pitchFamily="34" charset="0"/>
                <a:ea typeface="Arial-Rounded" pitchFamily="34" charset="0"/>
                <a:cs typeface="Tahoma" pitchFamily="34" charset="0"/>
              </a:rPr>
              <a:t>Tấm ảnh: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có nghĩa hay không là do con người</a:t>
            </a:r>
            <a:r>
              <a:rPr lang="en-US" sz="2400" u="sng">
                <a:latin typeface="Tahoma" pitchFamily="34" charset="0"/>
                <a:ea typeface="Arial-Rounded" pitchFamily="34" charset="0"/>
                <a:cs typeface="Tahoma" pitchFamily="34" charset="0"/>
              </a:rPr>
              <a:t>.</a:t>
            </a:r>
          </a:p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 u="sng">
                <a:latin typeface="Tahoma" pitchFamily="34" charset="0"/>
                <a:ea typeface="Arial-Rounded" pitchFamily="34" charset="0"/>
                <a:cs typeface="Tahoma" pitchFamily="34" charset="0"/>
              </a:rPr>
              <a:t>Dữ liệu (dãy bít) bất kỳ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: thế nào có nghĩa?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Máy tính gặp khó khăn trong việc xác định dãy bít vô nghĩa hay có nghĩa.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Cần dùng khái niệm checksum để biến dãy bít bất kỳ thành dãy bít có cấu trúc.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112612-C78B-4751-A796-AC7C34AE52C9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2754313" y="5278438"/>
            <a:ext cx="2524125" cy="2825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2000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5278438" y="5278438"/>
            <a:ext cx="747712" cy="282575"/>
          </a:xfrm>
          <a:prstGeom prst="rect">
            <a:avLst/>
          </a:prstGeom>
          <a:solidFill>
            <a:srgbClr val="BFBFB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2000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2590800" y="4794250"/>
            <a:ext cx="142716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>
              <a:spcBef>
                <a:spcPts val="300"/>
              </a:spcBef>
            </a:pPr>
            <a:r>
              <a:rPr lang="en-US" sz="2000">
                <a:latin typeface="Tahoma" pitchFamily="34" charset="0"/>
              </a:rPr>
              <a:t>bản tin</a:t>
            </a:r>
            <a:endParaRPr lang="en-US" sz="2000"/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5278438" y="4794250"/>
            <a:ext cx="142716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ctr">
              <a:spcBef>
                <a:spcPts val="300"/>
              </a:spcBef>
            </a:pPr>
            <a:r>
              <a:rPr lang="en-US" sz="2000">
                <a:latin typeface="Tahoma" pitchFamily="34" charset="0"/>
              </a:rPr>
              <a:t>checksum</a:t>
            </a:r>
            <a:endParaRPr lang="en-US" sz="2000"/>
          </a:p>
        </p:txBody>
      </p:sp>
      <p:sp>
        <p:nvSpPr>
          <p:cNvPr id="6152" name="Freeform 7"/>
          <p:cNvSpPr>
            <a:spLocks/>
          </p:cNvSpPr>
          <p:nvPr/>
        </p:nvSpPr>
        <p:spPr bwMode="auto">
          <a:xfrm>
            <a:off x="3822700" y="5561013"/>
            <a:ext cx="1876425" cy="382587"/>
          </a:xfrm>
          <a:custGeom>
            <a:avLst/>
            <a:gdLst>
              <a:gd name="T0" fmla="*/ 0 w 1415"/>
              <a:gd name="T1" fmla="*/ 0 h 304"/>
              <a:gd name="T2" fmla="*/ 2147483647 w 1415"/>
              <a:gd name="T3" fmla="*/ 2147483647 h 304"/>
              <a:gd name="T4" fmla="*/ 2147483647 w 1415"/>
              <a:gd name="T5" fmla="*/ 0 h 304"/>
              <a:gd name="T6" fmla="*/ 0 60000 65536"/>
              <a:gd name="T7" fmla="*/ 0 60000 65536"/>
              <a:gd name="T8" fmla="*/ 0 60000 65536"/>
              <a:gd name="T9" fmla="*/ 0 w 1415"/>
              <a:gd name="T10" fmla="*/ 0 h 304"/>
              <a:gd name="T11" fmla="*/ 1415 w 1415"/>
              <a:gd name="T12" fmla="*/ 304 h 3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15" h="304">
                <a:moveTo>
                  <a:pt x="0" y="0"/>
                </a:moveTo>
                <a:cubicBezTo>
                  <a:pt x="245" y="152"/>
                  <a:pt x="490" y="304"/>
                  <a:pt x="726" y="304"/>
                </a:cubicBezTo>
                <a:cubicBezTo>
                  <a:pt x="962" y="304"/>
                  <a:pt x="1188" y="152"/>
                  <a:pt x="1415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4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/>
      <p:bldP spid="6149" grpId="0" animBg="1"/>
      <p:bldP spid="6150" grpId="0"/>
      <p:bldP spid="6151" grpId="0"/>
      <p:bldP spid="61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 txBox="1">
            <a:spLocks noChangeArrowheads="1"/>
          </p:cNvSpPr>
          <p:nvPr/>
        </p:nvSpPr>
        <p:spPr bwMode="auto">
          <a:xfrm>
            <a:off x="304800" y="1295400"/>
            <a:ext cx="8610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 u="sng">
                <a:latin typeface="Tahoma" pitchFamily="34" charset="0"/>
                <a:ea typeface="Arial-Rounded" pitchFamily="34" charset="0"/>
                <a:cs typeface="Tahoma" pitchFamily="34" charset="0"/>
              </a:rPr>
              <a:t>Checksum CRC (Cyclic Redundacy Check)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lvl="1"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Ví dụ: tạo checksum cho thông điệp 10101011 </a:t>
            </a:r>
          </a:p>
          <a:p>
            <a:pPr lvl="1"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Chọn số chia là 10011</a:t>
            </a:r>
          </a:p>
          <a:p>
            <a:pPr lvl="1"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Thực hiện phép XOR dãy bít với số chia từ trái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phải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: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3852A1-3BDD-43C2-9A97-186716C7F7F3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7174" name="Text Box 3"/>
          <p:cNvSpPr txBox="1">
            <a:spLocks noChangeArrowheads="1"/>
          </p:cNvSpPr>
          <p:nvPr/>
        </p:nvSpPr>
        <p:spPr bwMode="auto">
          <a:xfrm>
            <a:off x="2771147" y="3505200"/>
            <a:ext cx="202945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>
                <a:latin typeface="Courier New" pitchFamily="49" charset="0"/>
              </a:rPr>
              <a:t>10101011	</a:t>
            </a:r>
          </a:p>
          <a:p>
            <a:pPr eaLnBrk="1" hangingPunct="1"/>
            <a:r>
              <a:rPr lang="en-US" sz="2400" b="1">
                <a:latin typeface="Courier New" pitchFamily="49" charset="0"/>
              </a:rPr>
              <a:t>10011 	</a:t>
            </a:r>
          </a:p>
          <a:p>
            <a:pPr eaLnBrk="1" hangingPunct="1"/>
            <a:r>
              <a:rPr lang="en-US" sz="2400" b="1">
                <a:latin typeface="Courier New" pitchFamily="49" charset="0"/>
              </a:rPr>
              <a:t>00110011</a:t>
            </a:r>
          </a:p>
          <a:p>
            <a:pPr eaLnBrk="1" hangingPunct="1"/>
            <a:r>
              <a:rPr lang="en-US" sz="2400" b="1">
                <a:latin typeface="Courier New" pitchFamily="49" charset="0"/>
              </a:rPr>
              <a:t>  10011</a:t>
            </a:r>
          </a:p>
          <a:p>
            <a:pPr eaLnBrk="1" hangingPunct="1"/>
            <a:r>
              <a:rPr lang="en-US" sz="2400" b="1">
                <a:latin typeface="Courier New" pitchFamily="49" charset="0"/>
              </a:rPr>
              <a:t>  010101</a:t>
            </a:r>
          </a:p>
          <a:p>
            <a:pPr eaLnBrk="1" hangingPunct="1"/>
            <a:r>
              <a:rPr lang="en-US" sz="2400" b="1">
                <a:latin typeface="Courier New" pitchFamily="49" charset="0"/>
              </a:rPr>
              <a:t>   10011</a:t>
            </a:r>
          </a:p>
          <a:p>
            <a:pPr eaLnBrk="1" hangingPunct="1"/>
            <a:r>
              <a:rPr lang="en-US" sz="2400" b="1">
                <a:latin typeface="Courier New" pitchFamily="49" charset="0"/>
              </a:rPr>
              <a:t>   00110</a:t>
            </a:r>
            <a:endParaRPr lang="en-US" sz="2400"/>
          </a:p>
        </p:txBody>
      </p:sp>
      <p:cxnSp>
        <p:nvCxnSpPr>
          <p:cNvPr id="7175" name="AutoShape 6"/>
          <p:cNvCxnSpPr>
            <a:cxnSpLocks noChangeShapeType="1"/>
          </p:cNvCxnSpPr>
          <p:nvPr/>
        </p:nvCxnSpPr>
        <p:spPr bwMode="auto">
          <a:xfrm>
            <a:off x="2771147" y="4252686"/>
            <a:ext cx="141158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6" name="AutoShape 7"/>
          <p:cNvCxnSpPr>
            <a:cxnSpLocks noChangeShapeType="1"/>
          </p:cNvCxnSpPr>
          <p:nvPr/>
        </p:nvCxnSpPr>
        <p:spPr bwMode="auto">
          <a:xfrm>
            <a:off x="2935338" y="4959970"/>
            <a:ext cx="124739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7" name="AutoShape 8"/>
          <p:cNvCxnSpPr>
            <a:cxnSpLocks noChangeShapeType="1"/>
          </p:cNvCxnSpPr>
          <p:nvPr/>
        </p:nvCxnSpPr>
        <p:spPr bwMode="auto">
          <a:xfrm>
            <a:off x="3085845" y="5683617"/>
            <a:ext cx="109688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8" name="Text Box 9"/>
          <p:cNvSpPr txBox="1">
            <a:spLocks noChangeArrowheads="1"/>
          </p:cNvSpPr>
          <p:nvPr/>
        </p:nvSpPr>
        <p:spPr bwMode="auto">
          <a:xfrm>
            <a:off x="2362200" y="3696131"/>
            <a:ext cx="249706" cy="29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>
                <a:latin typeface="Cambria Math" pitchFamily="18" charset="0"/>
              </a:rPr>
              <a:t>⊕</a:t>
            </a:r>
            <a:endParaRPr lang="en-US" sz="2000"/>
          </a:p>
        </p:txBody>
      </p:sp>
      <p:sp>
        <p:nvSpPr>
          <p:cNvPr id="7179" name="Text Box 10"/>
          <p:cNvSpPr txBox="1">
            <a:spLocks noChangeArrowheads="1"/>
          </p:cNvSpPr>
          <p:nvPr/>
        </p:nvSpPr>
        <p:spPr bwMode="auto">
          <a:xfrm>
            <a:off x="2514600" y="4412340"/>
            <a:ext cx="256547" cy="309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>
                <a:latin typeface="Cambria Math" pitchFamily="18" charset="0"/>
              </a:rPr>
              <a:t>⊕</a:t>
            </a:r>
            <a:endParaRPr lang="en-US" sz="2000"/>
          </a:p>
        </p:txBody>
      </p:sp>
      <p:sp>
        <p:nvSpPr>
          <p:cNvPr id="7180" name="Text Box 11"/>
          <p:cNvSpPr txBox="1">
            <a:spLocks noChangeArrowheads="1"/>
          </p:cNvSpPr>
          <p:nvPr/>
        </p:nvSpPr>
        <p:spPr bwMode="auto">
          <a:xfrm>
            <a:off x="2667000" y="5139547"/>
            <a:ext cx="356886" cy="33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>
                <a:latin typeface="Cambria Math" pitchFamily="18" charset="0"/>
              </a:rPr>
              <a:t>⊕</a:t>
            </a:r>
            <a:endParaRPr lang="en-US" sz="2000"/>
          </a:p>
        </p:txBody>
      </p:sp>
      <p:sp>
        <p:nvSpPr>
          <p:cNvPr id="7173" name="Rectangle 3"/>
          <p:cNvSpPr txBox="1">
            <a:spLocks noChangeArrowheads="1"/>
          </p:cNvSpPr>
          <p:nvPr/>
        </p:nvSpPr>
        <p:spPr bwMode="auto">
          <a:xfrm>
            <a:off x="228600" y="62484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Checksum là số dư 0110 (ít hơn số chia 1 bít)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68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 txBox="1">
            <a:spLocks noChangeArrowheads="1"/>
          </p:cNvSpPr>
          <p:nvPr/>
        </p:nvSpPr>
        <p:spPr bwMode="auto">
          <a:xfrm>
            <a:off x="304800" y="11430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Áp dụng checksum vào chứng thực thông điệp.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lvl="1" eaLnBrk="1" hangingPunct="1">
              <a:lnSpc>
                <a:spcPct val="130000"/>
              </a:lnSpc>
              <a:buFont typeface="Arial" charset="0"/>
              <a:buChar char="•"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B66BF-B7D5-440C-9EB7-F666AC84FF1D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8196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8197" name="Group 38"/>
          <p:cNvGrpSpPr>
            <a:grpSpLocks/>
          </p:cNvGrpSpPr>
          <p:nvPr/>
        </p:nvGrpSpPr>
        <p:grpSpPr bwMode="auto">
          <a:xfrm>
            <a:off x="228600" y="2514600"/>
            <a:ext cx="8915400" cy="2819400"/>
            <a:chOff x="228600" y="2590800"/>
            <a:chExt cx="8915400" cy="2819400"/>
          </a:xfrm>
        </p:grpSpPr>
        <p:sp>
          <p:nvSpPr>
            <p:cNvPr id="8198" name="Text Box 34"/>
            <p:cNvSpPr txBox="1">
              <a:spLocks noChangeArrowheads="1"/>
            </p:cNvSpPr>
            <p:nvPr/>
          </p:nvSpPr>
          <p:spPr bwMode="auto">
            <a:xfrm>
              <a:off x="228600" y="3455771"/>
              <a:ext cx="356616" cy="45642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8199" name="AutoShape 33"/>
            <p:cNvCxnSpPr>
              <a:cxnSpLocks noChangeShapeType="1"/>
            </p:cNvCxnSpPr>
            <p:nvPr/>
          </p:nvCxnSpPr>
          <p:spPr bwMode="auto">
            <a:xfrm>
              <a:off x="585216" y="3696218"/>
              <a:ext cx="162265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0" name="AutoShape 32"/>
            <p:cNvSpPr>
              <a:spLocks noChangeArrowheads="1"/>
            </p:cNvSpPr>
            <p:nvPr/>
          </p:nvSpPr>
          <p:spPr bwMode="auto">
            <a:xfrm>
              <a:off x="1013360" y="4234563"/>
              <a:ext cx="822567" cy="434081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91440" rIns="18000" bIns="18000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nh CS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  <a:p>
              <a:pPr eaLnBrk="0" hangingPunct="0"/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8201" name="Text Box 31"/>
            <p:cNvSpPr txBox="1">
              <a:spLocks noChangeArrowheads="1"/>
            </p:cNvSpPr>
            <p:nvPr/>
          </p:nvSpPr>
          <p:spPr bwMode="auto">
            <a:xfrm>
              <a:off x="2207870" y="3421725"/>
              <a:ext cx="440405" cy="49153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3716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8202" name="Text Box 30"/>
            <p:cNvSpPr txBox="1">
              <a:spLocks noChangeArrowheads="1"/>
            </p:cNvSpPr>
            <p:nvPr/>
          </p:nvSpPr>
          <p:spPr bwMode="auto">
            <a:xfrm>
              <a:off x="2207870" y="3913258"/>
              <a:ext cx="440405" cy="2861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CS</a:t>
              </a:r>
              <a:r>
                <a:rPr lang="en-US" sz="1600" i="1" baseline="-30000">
                  <a:latin typeface="Cambria" pitchFamily="18" charset="0"/>
                  <a:cs typeface="Times New Roman" pitchFamily="18" charset="0"/>
                </a:rPr>
                <a:t>A</a:t>
              </a:r>
              <a:endParaRPr lang="en-US" sz="1600"/>
            </a:p>
          </p:txBody>
        </p:sp>
        <p:sp>
          <p:nvSpPr>
            <p:cNvPr id="8203" name="Freeform 29"/>
            <p:cNvSpPr>
              <a:spLocks/>
            </p:cNvSpPr>
            <p:nvPr/>
          </p:nvSpPr>
          <p:spPr bwMode="auto">
            <a:xfrm>
              <a:off x="780384" y="3696218"/>
              <a:ext cx="232975" cy="730916"/>
            </a:xfrm>
            <a:custGeom>
              <a:avLst/>
              <a:gdLst>
                <a:gd name="T0" fmla="*/ 0 w 532"/>
                <a:gd name="T1" fmla="*/ 0 h 687"/>
                <a:gd name="T2" fmla="*/ 0 w 532"/>
                <a:gd name="T3" fmla="*/ 2147483647 h 687"/>
                <a:gd name="T4" fmla="*/ 2147483647 w 532"/>
                <a:gd name="T5" fmla="*/ 2147483647 h 687"/>
                <a:gd name="T6" fmla="*/ 0 60000 65536"/>
                <a:gd name="T7" fmla="*/ 0 60000 65536"/>
                <a:gd name="T8" fmla="*/ 0 60000 65536"/>
                <a:gd name="T9" fmla="*/ 0 w 532"/>
                <a:gd name="T10" fmla="*/ 0 h 687"/>
                <a:gd name="T11" fmla="*/ 532 w 532"/>
                <a:gd name="T12" fmla="*/ 687 h 6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2" h="687">
                  <a:moveTo>
                    <a:pt x="0" y="0"/>
                  </a:moveTo>
                  <a:lnTo>
                    <a:pt x="0" y="687"/>
                  </a:lnTo>
                  <a:lnTo>
                    <a:pt x="532" y="68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Freeform 28"/>
            <p:cNvSpPr>
              <a:spLocks/>
            </p:cNvSpPr>
            <p:nvPr/>
          </p:nvSpPr>
          <p:spPr bwMode="auto">
            <a:xfrm>
              <a:off x="1860450" y="4106892"/>
              <a:ext cx="347420" cy="320241"/>
            </a:xfrm>
            <a:custGeom>
              <a:avLst/>
              <a:gdLst>
                <a:gd name="T0" fmla="*/ 0 w 923"/>
                <a:gd name="T1" fmla="*/ 2147483647 h 301"/>
                <a:gd name="T2" fmla="*/ 2147483647 w 923"/>
                <a:gd name="T3" fmla="*/ 2147483647 h 301"/>
                <a:gd name="T4" fmla="*/ 2147483647 w 923"/>
                <a:gd name="T5" fmla="*/ 0 h 301"/>
                <a:gd name="T6" fmla="*/ 2147483647 w 923"/>
                <a:gd name="T7" fmla="*/ 0 h 3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3"/>
                <a:gd name="T13" fmla="*/ 0 h 301"/>
                <a:gd name="T14" fmla="*/ 923 w 923"/>
                <a:gd name="T15" fmla="*/ 301 h 3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3" h="301">
                  <a:moveTo>
                    <a:pt x="0" y="301"/>
                  </a:moveTo>
                  <a:lnTo>
                    <a:pt x="457" y="301"/>
                  </a:lnTo>
                  <a:lnTo>
                    <a:pt x="457" y="0"/>
                  </a:lnTo>
                  <a:lnTo>
                    <a:pt x="92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8205" name="AutoShape 27"/>
            <p:cNvCxnSpPr>
              <a:cxnSpLocks noChangeShapeType="1"/>
            </p:cNvCxnSpPr>
            <p:nvPr/>
          </p:nvCxnSpPr>
          <p:spPr bwMode="auto">
            <a:xfrm>
              <a:off x="6250199" y="3638766"/>
              <a:ext cx="202525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6" name="Text Box 26"/>
            <p:cNvSpPr txBox="1">
              <a:spLocks noChangeArrowheads="1"/>
            </p:cNvSpPr>
            <p:nvPr/>
          </p:nvSpPr>
          <p:spPr bwMode="auto">
            <a:xfrm>
              <a:off x="7880006" y="4721841"/>
              <a:ext cx="1263994" cy="411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So s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á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nh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8207" name="AutoShape 25"/>
            <p:cNvCxnSpPr>
              <a:cxnSpLocks noChangeShapeType="1"/>
            </p:cNvCxnSpPr>
            <p:nvPr/>
          </p:nvCxnSpPr>
          <p:spPr bwMode="auto">
            <a:xfrm>
              <a:off x="404353" y="3044032"/>
              <a:ext cx="3437410" cy="1064"/>
            </a:xfrm>
            <a:prstGeom prst="straightConnector1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 type="arrow" w="sm" len="med"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8" name="AutoShape 24"/>
            <p:cNvCxnSpPr>
              <a:cxnSpLocks noChangeShapeType="1"/>
            </p:cNvCxnSpPr>
            <p:nvPr/>
          </p:nvCxnSpPr>
          <p:spPr bwMode="auto">
            <a:xfrm>
              <a:off x="4589738" y="3042968"/>
              <a:ext cx="3918689" cy="2128"/>
            </a:xfrm>
            <a:prstGeom prst="straightConnector1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 type="arrow" w="sm" len="med"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9" name="Text Box 23"/>
            <p:cNvSpPr txBox="1">
              <a:spLocks noChangeArrowheads="1"/>
            </p:cNvSpPr>
            <p:nvPr/>
          </p:nvSpPr>
          <p:spPr bwMode="auto">
            <a:xfrm>
              <a:off x="1403696" y="2590800"/>
              <a:ext cx="1263994" cy="411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cs typeface="Times New Roman" pitchFamily="18" charset="0"/>
                </a:rPr>
                <a:t>Bên gửi</a:t>
              </a:r>
              <a:endParaRPr lang="en-US" sz="1600"/>
            </a:p>
          </p:txBody>
        </p:sp>
        <p:sp>
          <p:nvSpPr>
            <p:cNvPr id="8210" name="Text Box 22"/>
            <p:cNvSpPr txBox="1">
              <a:spLocks noChangeArrowheads="1"/>
            </p:cNvSpPr>
            <p:nvPr/>
          </p:nvSpPr>
          <p:spPr bwMode="auto">
            <a:xfrm>
              <a:off x="5934456" y="2590800"/>
              <a:ext cx="1263994" cy="411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cs typeface="Times New Roman" pitchFamily="18" charset="0"/>
                </a:rPr>
                <a:t>Bên nhận</a:t>
              </a:r>
              <a:endParaRPr lang="en-US" sz="1600"/>
            </a:p>
          </p:txBody>
        </p:sp>
        <p:sp>
          <p:nvSpPr>
            <p:cNvPr id="8211" name="AutoShape 21"/>
            <p:cNvSpPr>
              <a:spLocks noChangeArrowheads="1"/>
            </p:cNvSpPr>
            <p:nvPr/>
          </p:nvSpPr>
          <p:spPr bwMode="auto">
            <a:xfrm>
              <a:off x="2951757" y="3581314"/>
              <a:ext cx="759214" cy="434081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54864" rIns="18000" bIns="18000"/>
            <a:lstStyle/>
            <a:p>
              <a:pPr algn="ctr" eaLnBrk="0" hangingPunct="0"/>
              <a:r>
                <a:rPr lang="en-US" sz="1600">
                  <a:latin typeface="Tahoma" pitchFamily="34" charset="0"/>
                  <a:cs typeface="Times New Roman" pitchFamily="18" charset="0"/>
                </a:rPr>
                <a:t>M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ã h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ó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a</a:t>
              </a:r>
              <a:endParaRPr lang="en-US" sz="1600"/>
            </a:p>
            <a:p>
              <a:pPr eaLnBrk="0" hangingPunct="0"/>
              <a:endParaRPr lang="en-US" sz="1600"/>
            </a:p>
          </p:txBody>
        </p:sp>
        <p:sp>
          <p:nvSpPr>
            <p:cNvPr id="8212" name="Text Box 20"/>
            <p:cNvSpPr txBox="1">
              <a:spLocks noChangeArrowheads="1"/>
            </p:cNvSpPr>
            <p:nvPr/>
          </p:nvSpPr>
          <p:spPr bwMode="auto">
            <a:xfrm>
              <a:off x="3999124" y="3421725"/>
              <a:ext cx="440405" cy="7777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288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C</a:t>
              </a:r>
              <a:endParaRPr lang="en-US" sz="1600"/>
            </a:p>
          </p:txBody>
        </p:sp>
        <p:cxnSp>
          <p:nvCxnSpPr>
            <p:cNvPr id="8213" name="AutoShape 19"/>
            <p:cNvCxnSpPr>
              <a:cxnSpLocks noChangeShapeType="1"/>
            </p:cNvCxnSpPr>
            <p:nvPr/>
          </p:nvCxnSpPr>
          <p:spPr bwMode="auto">
            <a:xfrm>
              <a:off x="2648275" y="3776012"/>
              <a:ext cx="298372" cy="10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4" name="AutoShape 18"/>
            <p:cNvCxnSpPr>
              <a:cxnSpLocks noChangeShapeType="1"/>
            </p:cNvCxnSpPr>
            <p:nvPr/>
          </p:nvCxnSpPr>
          <p:spPr bwMode="auto">
            <a:xfrm>
              <a:off x="3710971" y="3777076"/>
              <a:ext cx="298372" cy="10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5" name="AutoShape 17"/>
            <p:cNvSpPr>
              <a:spLocks noChangeArrowheads="1"/>
            </p:cNvSpPr>
            <p:nvPr/>
          </p:nvSpPr>
          <p:spPr bwMode="auto">
            <a:xfrm>
              <a:off x="4737902" y="3557907"/>
              <a:ext cx="759214" cy="434081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54864" rIns="18000" bIns="18000"/>
            <a:lstStyle/>
            <a:p>
              <a:pPr algn="ctr" eaLnBrk="0" hangingPunct="0"/>
              <a:r>
                <a:rPr lang="en-US" sz="1600">
                  <a:latin typeface="Tahoma" pitchFamily="34" charset="0"/>
                  <a:cs typeface="Times New Roman" pitchFamily="18" charset="0"/>
                </a:rPr>
                <a:t>Giả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i </a:t>
              </a:r>
              <a:r>
                <a:rPr lang="en-US" sz="1600">
                  <a:latin typeface="Tahoma" pitchFamily="34" charset="0"/>
                  <a:cs typeface="Times New Roman" pitchFamily="18" charset="0"/>
                </a:rPr>
                <a:t>mã</a:t>
              </a:r>
              <a:endParaRPr lang="en-US" sz="1600"/>
            </a:p>
          </p:txBody>
        </p:sp>
        <p:cxnSp>
          <p:nvCxnSpPr>
            <p:cNvPr id="8216" name="AutoShape 16"/>
            <p:cNvCxnSpPr>
              <a:cxnSpLocks noChangeShapeType="1"/>
            </p:cNvCxnSpPr>
            <p:nvPr/>
          </p:nvCxnSpPr>
          <p:spPr bwMode="auto">
            <a:xfrm>
              <a:off x="4439530" y="3774948"/>
              <a:ext cx="298372" cy="10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7" name="Text Box 15"/>
            <p:cNvSpPr txBox="1">
              <a:spLocks noChangeArrowheads="1"/>
            </p:cNvSpPr>
            <p:nvPr/>
          </p:nvSpPr>
          <p:spPr bwMode="auto">
            <a:xfrm>
              <a:off x="5795488" y="3421725"/>
              <a:ext cx="440405" cy="49153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3716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8218" name="Text Box 14"/>
            <p:cNvSpPr txBox="1">
              <a:spLocks noChangeArrowheads="1"/>
            </p:cNvSpPr>
            <p:nvPr/>
          </p:nvSpPr>
          <p:spPr bwMode="auto">
            <a:xfrm>
              <a:off x="5795488" y="3913258"/>
              <a:ext cx="440405" cy="2861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CS</a:t>
              </a:r>
              <a:r>
                <a:rPr lang="en-US" sz="1600" i="1" baseline="-30000">
                  <a:latin typeface="Cambria" pitchFamily="18" charset="0"/>
                  <a:cs typeface="Times New Roman" pitchFamily="18" charset="0"/>
                </a:rPr>
                <a:t>A</a:t>
              </a:r>
              <a:endParaRPr lang="en-US" sz="1600"/>
            </a:p>
          </p:txBody>
        </p:sp>
        <p:cxnSp>
          <p:nvCxnSpPr>
            <p:cNvPr id="8219" name="AutoShape 13"/>
            <p:cNvCxnSpPr>
              <a:cxnSpLocks noChangeShapeType="1"/>
            </p:cNvCxnSpPr>
            <p:nvPr/>
          </p:nvCxnSpPr>
          <p:spPr bwMode="auto">
            <a:xfrm>
              <a:off x="5497116" y="3776012"/>
              <a:ext cx="298372" cy="10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20" name="AutoShape 12"/>
            <p:cNvSpPr>
              <a:spLocks noChangeArrowheads="1"/>
            </p:cNvSpPr>
            <p:nvPr/>
          </p:nvSpPr>
          <p:spPr bwMode="auto">
            <a:xfrm>
              <a:off x="6729434" y="4071783"/>
              <a:ext cx="822567" cy="434081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73152" rIns="18000" bIns="18000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nh </a:t>
              </a:r>
              <a:r>
                <a:rPr lang="en-US" sz="1600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CS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  <a:p>
              <a:pPr eaLnBrk="0" hangingPunct="0"/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8221" name="Text Box 11"/>
            <p:cNvSpPr txBox="1">
              <a:spLocks noChangeArrowheads="1"/>
            </p:cNvSpPr>
            <p:nvPr/>
          </p:nvSpPr>
          <p:spPr bwMode="auto">
            <a:xfrm>
              <a:off x="8275451" y="3420661"/>
              <a:ext cx="440405" cy="49153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3716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8222" name="AutoShape 10"/>
            <p:cNvCxnSpPr>
              <a:cxnSpLocks noChangeShapeType="1"/>
            </p:cNvCxnSpPr>
            <p:nvPr/>
          </p:nvCxnSpPr>
          <p:spPr bwMode="auto">
            <a:xfrm>
              <a:off x="7133054" y="3638766"/>
              <a:ext cx="0" cy="43408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23" name="Freeform 9"/>
            <p:cNvSpPr>
              <a:spLocks/>
            </p:cNvSpPr>
            <p:nvPr/>
          </p:nvSpPr>
          <p:spPr bwMode="auto">
            <a:xfrm>
              <a:off x="6235894" y="4071783"/>
              <a:ext cx="2272533" cy="1338417"/>
            </a:xfrm>
            <a:custGeom>
              <a:avLst/>
              <a:gdLst>
                <a:gd name="T0" fmla="*/ 0 w 2224"/>
                <a:gd name="T1" fmla="*/ 0 h 1258"/>
                <a:gd name="T2" fmla="*/ 2147483647 w 2224"/>
                <a:gd name="T3" fmla="*/ 0 h 1258"/>
                <a:gd name="T4" fmla="*/ 2147483647 w 2224"/>
                <a:gd name="T5" fmla="*/ 2147483647 h 1258"/>
                <a:gd name="T6" fmla="*/ 2147483647 w 2224"/>
                <a:gd name="T7" fmla="*/ 2147483647 h 1258"/>
                <a:gd name="T8" fmla="*/ 2147483647 w 2224"/>
                <a:gd name="T9" fmla="*/ 2147483647 h 1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24"/>
                <a:gd name="T16" fmla="*/ 0 h 1258"/>
                <a:gd name="T17" fmla="*/ 2224 w 2224"/>
                <a:gd name="T18" fmla="*/ 1258 h 1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24" h="1258">
                  <a:moveTo>
                    <a:pt x="0" y="0"/>
                  </a:moveTo>
                  <a:lnTo>
                    <a:pt x="216" y="0"/>
                  </a:lnTo>
                  <a:lnTo>
                    <a:pt x="216" y="1258"/>
                  </a:lnTo>
                  <a:lnTo>
                    <a:pt x="2224" y="1258"/>
                  </a:lnTo>
                  <a:lnTo>
                    <a:pt x="2224" y="95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8224" name="AutoShape 8"/>
            <p:cNvCxnSpPr>
              <a:cxnSpLocks noChangeShapeType="1"/>
            </p:cNvCxnSpPr>
            <p:nvPr/>
          </p:nvCxnSpPr>
          <p:spPr bwMode="auto">
            <a:xfrm flipV="1">
              <a:off x="3346180" y="4003692"/>
              <a:ext cx="1022" cy="4149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5" name="AutoShape 7"/>
            <p:cNvCxnSpPr>
              <a:cxnSpLocks noChangeShapeType="1"/>
            </p:cNvCxnSpPr>
            <p:nvPr/>
          </p:nvCxnSpPr>
          <p:spPr bwMode="auto">
            <a:xfrm flipV="1">
              <a:off x="5136413" y="3983477"/>
              <a:ext cx="1022" cy="4149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26" name="Text Box 6"/>
            <p:cNvSpPr txBox="1">
              <a:spLocks noChangeArrowheads="1"/>
            </p:cNvSpPr>
            <p:nvPr/>
          </p:nvSpPr>
          <p:spPr bwMode="auto">
            <a:xfrm>
              <a:off x="2808701" y="4410111"/>
              <a:ext cx="1052477" cy="813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Kh</a:t>
              </a:r>
              <a:r>
                <a:rPr lang="en-US" sz="1600" i="1">
                  <a:cs typeface="Times New Roman" pitchFamily="18" charset="0"/>
                </a:rPr>
                <a:t>ó</a:t>
              </a:r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a b</a:t>
              </a:r>
              <a:r>
                <a:rPr lang="en-US" sz="1600" i="1">
                  <a:cs typeface="Times New Roman" pitchFamily="18" charset="0"/>
                </a:rPr>
                <a:t>í</a:t>
              </a:r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 m</a:t>
              </a:r>
              <a:r>
                <a:rPr lang="en-US" sz="1600" i="1">
                  <a:cs typeface="Times New Roman" pitchFamily="18" charset="0"/>
                </a:rPr>
                <a:t>ậ</a:t>
              </a:r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t K</a:t>
              </a:r>
              <a:endParaRPr lang="en-US" sz="1600"/>
            </a:p>
          </p:txBody>
        </p:sp>
        <p:sp>
          <p:nvSpPr>
            <p:cNvPr id="8227" name="Text Box 5"/>
            <p:cNvSpPr txBox="1">
              <a:spLocks noChangeArrowheads="1"/>
            </p:cNvSpPr>
            <p:nvPr/>
          </p:nvSpPr>
          <p:spPr bwMode="auto">
            <a:xfrm>
              <a:off x="4589738" y="4398408"/>
              <a:ext cx="1052477" cy="813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Kh</a:t>
              </a:r>
              <a:r>
                <a:rPr lang="en-US" sz="1600" i="1">
                  <a:cs typeface="Times New Roman" pitchFamily="18" charset="0"/>
                </a:rPr>
                <a:t>ó</a:t>
              </a:r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a b</a:t>
              </a:r>
              <a:r>
                <a:rPr lang="en-US" sz="1600" i="1">
                  <a:cs typeface="Times New Roman" pitchFamily="18" charset="0"/>
                </a:rPr>
                <a:t>í</a:t>
              </a:r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 m</a:t>
              </a:r>
              <a:r>
                <a:rPr lang="en-US" sz="1600" i="1">
                  <a:cs typeface="Times New Roman" pitchFamily="18" charset="0"/>
                </a:rPr>
                <a:t>ậ</a:t>
              </a:r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t K</a:t>
              </a:r>
              <a:endParaRPr lang="en-US" sz="1600"/>
            </a:p>
          </p:txBody>
        </p:sp>
        <p:cxnSp>
          <p:nvCxnSpPr>
            <p:cNvPr id="8228" name="AutoShape 4"/>
            <p:cNvCxnSpPr>
              <a:cxnSpLocks noChangeShapeType="1"/>
            </p:cNvCxnSpPr>
            <p:nvPr/>
          </p:nvCxnSpPr>
          <p:spPr bwMode="auto">
            <a:xfrm>
              <a:off x="7581634" y="4285632"/>
              <a:ext cx="693817" cy="10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9" name="AutoShape 3"/>
            <p:cNvCxnSpPr>
              <a:cxnSpLocks noChangeShapeType="1"/>
            </p:cNvCxnSpPr>
            <p:nvPr/>
          </p:nvCxnSpPr>
          <p:spPr bwMode="auto">
            <a:xfrm>
              <a:off x="8508426" y="4452668"/>
              <a:ext cx="0" cy="2691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30" name="Text Box 2"/>
            <p:cNvSpPr txBox="1">
              <a:spLocks noChangeArrowheads="1"/>
            </p:cNvSpPr>
            <p:nvPr/>
          </p:nvSpPr>
          <p:spPr bwMode="auto">
            <a:xfrm>
              <a:off x="8275451" y="4162217"/>
              <a:ext cx="440405" cy="2861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1600" i="1">
                  <a:latin typeface="Cambria" pitchFamily="18" charset="0"/>
                  <a:cs typeface="Times New Roman" pitchFamily="18" charset="0"/>
                </a:rPr>
                <a:t>CS</a:t>
              </a:r>
              <a:r>
                <a:rPr lang="en-US" sz="1600" i="1" baseline="-30000">
                  <a:latin typeface="Cambria" pitchFamily="18" charset="0"/>
                  <a:cs typeface="Times New Roman" pitchFamily="18" charset="0"/>
                </a:rPr>
                <a:t>B</a:t>
              </a: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719329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381000" y="1371600"/>
            <a:ext cx="84582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MAC là dạng checksum của mã hóa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 i="1">
                <a:ea typeface="Arial-Rounded" pitchFamily="34" charset="0"/>
                <a:cs typeface="Tahoma" pitchFamily="34" charset="0"/>
              </a:rPr>
              <a:t>			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MAC</a:t>
            </a:r>
            <a:r>
              <a:rPr lang="en-US" sz="2400">
                <a:latin typeface="Cambria" pitchFamily="18" charset="0"/>
                <a:ea typeface="Arial-Rounded" pitchFamily="34" charset="0"/>
                <a:cs typeface="Tahoma" pitchFamily="34" charset="0"/>
              </a:rPr>
              <a:t> = E</a:t>
            </a:r>
            <a:r>
              <a:rPr lang="en-US" sz="2400">
                <a:latin typeface="Cambria Math" pitchFamily="18" charset="0"/>
                <a:ea typeface="Arial-Rounded" pitchFamily="34" charset="0"/>
                <a:cs typeface="Tahoma" pitchFamily="34" charset="0"/>
              </a:rPr>
              <a:t>(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M</a:t>
            </a:r>
            <a:r>
              <a:rPr lang="en-US" sz="2400">
                <a:latin typeface="Cambria" pitchFamily="18" charset="0"/>
                <a:ea typeface="Arial-Rounded" pitchFamily="34" charset="0"/>
                <a:cs typeface="Tahoma" pitchFamily="34" charset="0"/>
              </a:rPr>
              <a:t>, 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K</a:t>
            </a:r>
            <a:r>
              <a:rPr lang="en-US" sz="2400">
                <a:latin typeface="Cambria Math" pitchFamily="18" charset="0"/>
                <a:ea typeface="Arial-Rounded" pitchFamily="34" charset="0"/>
                <a:cs typeface="Tahoma" pitchFamily="34" charset="0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M: thông điệp cần tính MAC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K: khóa bí mật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E: hàm tính MAC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C7F344-41C6-4823-B87A-699C9AE9D2AF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</a:t>
            </a:r>
            <a:r>
              <a:rPr lang="vi-VN"/>
              <a:t>Mã chứng thực thông điệp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8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 txBox="1">
            <a:spLocks noChangeArrowheads="1"/>
          </p:cNvSpPr>
          <p:nvPr/>
        </p:nvSpPr>
        <p:spPr bwMode="auto">
          <a:xfrm>
            <a:off x="304800" y="152400"/>
            <a:ext cx="8458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indent="0" eaLnBrk="1" hangingPunct="1">
              <a:lnSpc>
                <a:spcPct val="130000"/>
              </a:lnSpc>
            </a:pPr>
            <a:r>
              <a:rPr lang="en-US" sz="2400" b="1">
                <a:solidFill>
                  <a:schemeClr val="bg1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Mô hình ứng dụng MAC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BCB00-6483-450D-935B-1D03CD9E0CD9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0244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10245" name="Group 1"/>
          <p:cNvGrpSpPr>
            <a:grpSpLocks/>
          </p:cNvGrpSpPr>
          <p:nvPr/>
        </p:nvGrpSpPr>
        <p:grpSpPr bwMode="auto">
          <a:xfrm>
            <a:off x="457200" y="1295400"/>
            <a:ext cx="8305800" cy="3352800"/>
            <a:chOff x="3239" y="2173"/>
            <a:chExt cx="7025" cy="2798"/>
          </a:xfrm>
        </p:grpSpPr>
        <p:sp>
          <p:nvSpPr>
            <p:cNvPr id="10247" name="Text Box 25"/>
            <p:cNvSpPr txBox="1">
              <a:spLocks noChangeArrowheads="1"/>
            </p:cNvSpPr>
            <p:nvPr/>
          </p:nvSpPr>
          <p:spPr bwMode="auto">
            <a:xfrm>
              <a:off x="3932" y="2173"/>
              <a:ext cx="1237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cs typeface="Times New Roman" pitchFamily="18" charset="0"/>
                </a:rPr>
                <a:t>Bên gửi</a:t>
              </a:r>
              <a:endParaRPr lang="en-US"/>
            </a:p>
          </p:txBody>
        </p:sp>
        <p:sp>
          <p:nvSpPr>
            <p:cNvPr id="10248" name="Text Box 24"/>
            <p:cNvSpPr txBox="1">
              <a:spLocks noChangeArrowheads="1"/>
            </p:cNvSpPr>
            <p:nvPr/>
          </p:nvSpPr>
          <p:spPr bwMode="auto">
            <a:xfrm>
              <a:off x="7704" y="2173"/>
              <a:ext cx="1237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cs typeface="Times New Roman" pitchFamily="18" charset="0"/>
                </a:rPr>
                <a:t>Bên nhận</a:t>
              </a:r>
              <a:endParaRPr lang="en-US"/>
            </a:p>
          </p:txBody>
        </p:sp>
        <p:sp>
          <p:nvSpPr>
            <p:cNvPr id="10249" name="Text Box 23"/>
            <p:cNvSpPr txBox="1">
              <a:spLocks noChangeArrowheads="1"/>
            </p:cNvSpPr>
            <p:nvPr/>
          </p:nvSpPr>
          <p:spPr bwMode="auto">
            <a:xfrm>
              <a:off x="3239" y="2885"/>
              <a:ext cx="349" cy="4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10250" name="AutoShape 22"/>
            <p:cNvCxnSpPr>
              <a:cxnSpLocks noChangeShapeType="1"/>
            </p:cNvCxnSpPr>
            <p:nvPr/>
          </p:nvCxnSpPr>
          <p:spPr bwMode="auto">
            <a:xfrm>
              <a:off x="3587" y="3111"/>
              <a:ext cx="241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51" name="AutoShape 21"/>
            <p:cNvSpPr>
              <a:spLocks noChangeArrowheads="1"/>
            </p:cNvSpPr>
            <p:nvPr/>
          </p:nvSpPr>
          <p:spPr bwMode="auto">
            <a:xfrm>
              <a:off x="4372" y="3550"/>
              <a:ext cx="902" cy="40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91440" rIns="0" bIns="18000"/>
            <a:lstStyle/>
            <a:p>
              <a:pPr algn="ctr" eaLnBrk="0" hangingPunct="0">
                <a:spcBef>
                  <a:spcPts val="600"/>
                </a:spcBef>
              </a:pPr>
              <a:r>
                <a:rPr lang="en-US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r>
                <a:rPr lang="en-US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nh MAC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  <a:p>
              <a:pPr eaLnBrk="0" hangingPunct="0"/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0252" name="Text Box 20"/>
            <p:cNvSpPr txBox="1">
              <a:spLocks noChangeArrowheads="1"/>
            </p:cNvSpPr>
            <p:nvPr/>
          </p:nvSpPr>
          <p:spPr bwMode="auto">
            <a:xfrm>
              <a:off x="6003" y="2852"/>
              <a:ext cx="496" cy="4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0253" name="Text Box 19"/>
            <p:cNvSpPr txBox="1">
              <a:spLocks noChangeArrowheads="1"/>
            </p:cNvSpPr>
            <p:nvPr/>
          </p:nvSpPr>
          <p:spPr bwMode="auto">
            <a:xfrm>
              <a:off x="6003" y="3314"/>
              <a:ext cx="496" cy="26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MAC</a:t>
              </a:r>
              <a:r>
                <a:rPr lang="en-US" i="1" baseline="-30000">
                  <a:latin typeface="Cambria" pitchFamily="18" charset="0"/>
                  <a:cs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10254" name="Freeform 18"/>
            <p:cNvSpPr>
              <a:spLocks/>
            </p:cNvSpPr>
            <p:nvPr/>
          </p:nvSpPr>
          <p:spPr bwMode="auto">
            <a:xfrm>
              <a:off x="4007" y="3112"/>
              <a:ext cx="365" cy="687"/>
            </a:xfrm>
            <a:custGeom>
              <a:avLst/>
              <a:gdLst>
                <a:gd name="T0" fmla="*/ 0 w 532"/>
                <a:gd name="T1" fmla="*/ 0 h 687"/>
                <a:gd name="T2" fmla="*/ 0 w 532"/>
                <a:gd name="T3" fmla="*/ 687 h 687"/>
                <a:gd name="T4" fmla="*/ 2 w 532"/>
                <a:gd name="T5" fmla="*/ 687 h 687"/>
                <a:gd name="T6" fmla="*/ 0 60000 65536"/>
                <a:gd name="T7" fmla="*/ 0 60000 65536"/>
                <a:gd name="T8" fmla="*/ 0 60000 65536"/>
                <a:gd name="T9" fmla="*/ 0 w 532"/>
                <a:gd name="T10" fmla="*/ 0 h 687"/>
                <a:gd name="T11" fmla="*/ 532 w 532"/>
                <a:gd name="T12" fmla="*/ 687 h 6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2" h="687">
                  <a:moveTo>
                    <a:pt x="0" y="0"/>
                  </a:moveTo>
                  <a:lnTo>
                    <a:pt x="0" y="687"/>
                  </a:lnTo>
                  <a:lnTo>
                    <a:pt x="532" y="68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0255" name="AutoShape 17"/>
            <p:cNvCxnSpPr>
              <a:cxnSpLocks noChangeShapeType="1"/>
            </p:cNvCxnSpPr>
            <p:nvPr/>
          </p:nvCxnSpPr>
          <p:spPr bwMode="auto">
            <a:xfrm flipV="1">
              <a:off x="6499" y="3111"/>
              <a:ext cx="28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56" name="Text Box 16"/>
            <p:cNvSpPr txBox="1">
              <a:spLocks noChangeArrowheads="1"/>
            </p:cNvSpPr>
            <p:nvPr/>
          </p:nvSpPr>
          <p:spPr bwMode="auto">
            <a:xfrm>
              <a:off x="9027" y="4304"/>
              <a:ext cx="1237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So s</a:t>
              </a:r>
              <a:r>
                <a:rPr lang="en-US">
                  <a:ea typeface="Times New Roman" pitchFamily="18" charset="0"/>
                  <a:cs typeface="Tahoma" pitchFamily="34" charset="0"/>
                </a:rPr>
                <a:t>á</a:t>
              </a:r>
              <a:r>
                <a:rPr lang="en-US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nh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10257" name="AutoShape 15"/>
            <p:cNvCxnSpPr>
              <a:cxnSpLocks noChangeShapeType="1"/>
            </p:cNvCxnSpPr>
            <p:nvPr/>
          </p:nvCxnSpPr>
          <p:spPr bwMode="auto">
            <a:xfrm>
              <a:off x="3239" y="2625"/>
              <a:ext cx="2519" cy="0"/>
            </a:xfrm>
            <a:prstGeom prst="straightConnector1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 type="arrow" w="sm" len="med"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8" name="AutoShape 14"/>
            <p:cNvCxnSpPr>
              <a:cxnSpLocks noChangeShapeType="1"/>
            </p:cNvCxnSpPr>
            <p:nvPr/>
          </p:nvCxnSpPr>
          <p:spPr bwMode="auto">
            <a:xfrm>
              <a:off x="6581" y="2625"/>
              <a:ext cx="3243" cy="2"/>
            </a:xfrm>
            <a:prstGeom prst="straightConnector1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 type="arrow" w="sm" len="med"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59" name="AutoShape 13"/>
            <p:cNvSpPr>
              <a:spLocks noChangeArrowheads="1"/>
            </p:cNvSpPr>
            <p:nvPr/>
          </p:nvSpPr>
          <p:spPr bwMode="auto">
            <a:xfrm>
              <a:off x="7119" y="3509"/>
              <a:ext cx="1032" cy="40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91440" rIns="18000" bIns="18000"/>
            <a:lstStyle/>
            <a:p>
              <a:pPr algn="ctr" eaLnBrk="0" hangingPunct="0"/>
              <a:r>
                <a:rPr lang="en-US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r>
                <a:rPr lang="en-US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nh </a:t>
              </a:r>
              <a:r>
                <a:rPr lang="en-US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MAC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  <a:p>
              <a:pPr eaLnBrk="0" hangingPunct="0"/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0260" name="Text Box 12"/>
            <p:cNvSpPr txBox="1">
              <a:spLocks noChangeArrowheads="1"/>
            </p:cNvSpPr>
            <p:nvPr/>
          </p:nvSpPr>
          <p:spPr bwMode="auto">
            <a:xfrm>
              <a:off x="9393" y="2885"/>
              <a:ext cx="496" cy="4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10261" name="AutoShape 11"/>
            <p:cNvCxnSpPr>
              <a:cxnSpLocks noChangeShapeType="1"/>
            </p:cNvCxnSpPr>
            <p:nvPr/>
          </p:nvCxnSpPr>
          <p:spPr bwMode="auto">
            <a:xfrm>
              <a:off x="7635" y="3111"/>
              <a:ext cx="0" cy="4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62" name="Freeform 10"/>
            <p:cNvSpPr>
              <a:spLocks/>
            </p:cNvSpPr>
            <p:nvPr/>
          </p:nvSpPr>
          <p:spPr bwMode="auto">
            <a:xfrm>
              <a:off x="6499" y="3464"/>
              <a:ext cx="3118" cy="1507"/>
            </a:xfrm>
            <a:custGeom>
              <a:avLst/>
              <a:gdLst>
                <a:gd name="T0" fmla="*/ 0 w 2224"/>
                <a:gd name="T1" fmla="*/ 0 h 1258"/>
                <a:gd name="T2" fmla="*/ 24521 w 2224"/>
                <a:gd name="T3" fmla="*/ 0 h 1258"/>
                <a:gd name="T4" fmla="*/ 24521 w 2224"/>
                <a:gd name="T5" fmla="*/ 15764 h 1258"/>
                <a:gd name="T6" fmla="*/ 252018 w 2224"/>
                <a:gd name="T7" fmla="*/ 15764 h 1258"/>
                <a:gd name="T8" fmla="*/ 252018 w 2224"/>
                <a:gd name="T9" fmla="*/ 11911 h 1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24"/>
                <a:gd name="T16" fmla="*/ 0 h 1258"/>
                <a:gd name="T17" fmla="*/ 2224 w 2224"/>
                <a:gd name="T18" fmla="*/ 1258 h 1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24" h="1258">
                  <a:moveTo>
                    <a:pt x="0" y="0"/>
                  </a:moveTo>
                  <a:lnTo>
                    <a:pt x="216" y="0"/>
                  </a:lnTo>
                  <a:lnTo>
                    <a:pt x="216" y="1258"/>
                  </a:lnTo>
                  <a:lnTo>
                    <a:pt x="2224" y="1258"/>
                  </a:lnTo>
                  <a:lnTo>
                    <a:pt x="2224" y="95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0263" name="AutoShape 9"/>
            <p:cNvCxnSpPr>
              <a:cxnSpLocks noChangeShapeType="1"/>
            </p:cNvCxnSpPr>
            <p:nvPr/>
          </p:nvCxnSpPr>
          <p:spPr bwMode="auto">
            <a:xfrm flipV="1">
              <a:off x="4834" y="3958"/>
              <a:ext cx="1" cy="3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4" name="AutoShape 8"/>
            <p:cNvCxnSpPr>
              <a:cxnSpLocks noChangeShapeType="1"/>
            </p:cNvCxnSpPr>
            <p:nvPr/>
          </p:nvCxnSpPr>
          <p:spPr bwMode="auto">
            <a:xfrm flipV="1">
              <a:off x="7634" y="3911"/>
              <a:ext cx="1" cy="3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65" name="Text Box 7"/>
            <p:cNvSpPr txBox="1">
              <a:spLocks noChangeArrowheads="1"/>
            </p:cNvSpPr>
            <p:nvPr/>
          </p:nvSpPr>
          <p:spPr bwMode="auto">
            <a:xfrm>
              <a:off x="4084" y="4348"/>
              <a:ext cx="1620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Kh</a:t>
              </a:r>
              <a:r>
                <a:rPr lang="en-US" i="1">
                  <a:cs typeface="Times New Roman" pitchFamily="18" charset="0"/>
                </a:rPr>
                <a:t>ó</a:t>
              </a:r>
              <a:r>
                <a:rPr lang="en-US" i="1">
                  <a:latin typeface="Cambria" pitchFamily="18" charset="0"/>
                  <a:cs typeface="Times New Roman" pitchFamily="18" charset="0"/>
                </a:rPr>
                <a:t>a b</a:t>
              </a:r>
              <a:r>
                <a:rPr lang="en-US" i="1">
                  <a:cs typeface="Times New Roman" pitchFamily="18" charset="0"/>
                </a:rPr>
                <a:t>í</a:t>
              </a:r>
              <a:r>
                <a:rPr lang="en-US" i="1">
                  <a:latin typeface="Cambria" pitchFamily="18" charset="0"/>
                  <a:cs typeface="Times New Roman" pitchFamily="18" charset="0"/>
                </a:rPr>
                <a:t> m</a:t>
              </a:r>
              <a:r>
                <a:rPr lang="en-US" i="1">
                  <a:cs typeface="Times New Roman" pitchFamily="18" charset="0"/>
                </a:rPr>
                <a:t>ậ</a:t>
              </a:r>
              <a:r>
                <a:rPr lang="en-US" i="1">
                  <a:latin typeface="Cambria" pitchFamily="18" charset="0"/>
                  <a:cs typeface="Times New Roman" pitchFamily="18" charset="0"/>
                </a:rPr>
                <a:t>t K</a:t>
              </a:r>
              <a:endParaRPr lang="en-US"/>
            </a:p>
          </p:txBody>
        </p:sp>
        <p:sp>
          <p:nvSpPr>
            <p:cNvPr id="10266" name="Text Box 6"/>
            <p:cNvSpPr txBox="1">
              <a:spLocks noChangeArrowheads="1"/>
            </p:cNvSpPr>
            <p:nvPr/>
          </p:nvSpPr>
          <p:spPr bwMode="auto">
            <a:xfrm>
              <a:off x="6822" y="4257"/>
              <a:ext cx="1762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Kh</a:t>
              </a:r>
              <a:r>
                <a:rPr lang="en-US" i="1">
                  <a:cs typeface="Times New Roman" pitchFamily="18" charset="0"/>
                </a:rPr>
                <a:t>ó</a:t>
              </a:r>
              <a:r>
                <a:rPr lang="en-US" i="1">
                  <a:latin typeface="Cambria" pitchFamily="18" charset="0"/>
                  <a:cs typeface="Times New Roman" pitchFamily="18" charset="0"/>
                </a:rPr>
                <a:t>a b</a:t>
              </a:r>
              <a:r>
                <a:rPr lang="en-US" i="1">
                  <a:cs typeface="Times New Roman" pitchFamily="18" charset="0"/>
                </a:rPr>
                <a:t>í</a:t>
              </a:r>
              <a:r>
                <a:rPr lang="en-US" i="1">
                  <a:latin typeface="Cambria" pitchFamily="18" charset="0"/>
                  <a:cs typeface="Times New Roman" pitchFamily="18" charset="0"/>
                </a:rPr>
                <a:t> m</a:t>
              </a:r>
              <a:r>
                <a:rPr lang="en-US" i="1">
                  <a:cs typeface="Times New Roman" pitchFamily="18" charset="0"/>
                </a:rPr>
                <a:t>ậ</a:t>
              </a:r>
              <a:r>
                <a:rPr lang="en-US" i="1">
                  <a:latin typeface="Cambria" pitchFamily="18" charset="0"/>
                  <a:cs typeface="Times New Roman" pitchFamily="18" charset="0"/>
                </a:rPr>
                <a:t>t K</a:t>
              </a:r>
              <a:endParaRPr lang="en-US"/>
            </a:p>
          </p:txBody>
        </p:sp>
        <p:sp>
          <p:nvSpPr>
            <p:cNvPr id="10267" name="Freeform 5"/>
            <p:cNvSpPr>
              <a:spLocks/>
            </p:cNvSpPr>
            <p:nvPr/>
          </p:nvSpPr>
          <p:spPr bwMode="auto">
            <a:xfrm>
              <a:off x="5274" y="3464"/>
              <a:ext cx="729" cy="335"/>
            </a:xfrm>
            <a:custGeom>
              <a:avLst/>
              <a:gdLst>
                <a:gd name="T0" fmla="*/ 0 w 729"/>
                <a:gd name="T1" fmla="*/ 335 h 335"/>
                <a:gd name="T2" fmla="*/ 334 w 729"/>
                <a:gd name="T3" fmla="*/ 335 h 335"/>
                <a:gd name="T4" fmla="*/ 334 w 729"/>
                <a:gd name="T5" fmla="*/ 0 h 335"/>
                <a:gd name="T6" fmla="*/ 729 w 729"/>
                <a:gd name="T7" fmla="*/ 0 h 3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9"/>
                <a:gd name="T13" fmla="*/ 0 h 335"/>
                <a:gd name="T14" fmla="*/ 729 w 729"/>
                <a:gd name="T15" fmla="*/ 335 h 3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9" h="335">
                  <a:moveTo>
                    <a:pt x="0" y="335"/>
                  </a:moveTo>
                  <a:lnTo>
                    <a:pt x="334" y="335"/>
                  </a:lnTo>
                  <a:lnTo>
                    <a:pt x="334" y="0"/>
                  </a:lnTo>
                  <a:lnTo>
                    <a:pt x="72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Text Box 4"/>
            <p:cNvSpPr txBox="1">
              <a:spLocks noChangeArrowheads="1"/>
            </p:cNvSpPr>
            <p:nvPr/>
          </p:nvSpPr>
          <p:spPr bwMode="auto">
            <a:xfrm>
              <a:off x="9393" y="3583"/>
              <a:ext cx="496" cy="26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MAC</a:t>
              </a:r>
              <a:r>
                <a:rPr lang="en-US" i="1" baseline="-30000">
                  <a:latin typeface="Cambria" pitchFamily="18" charset="0"/>
                  <a:cs typeface="Times New Roman" pitchFamily="18" charset="0"/>
                </a:rPr>
                <a:t>B</a:t>
              </a:r>
              <a:endParaRPr lang="en-US"/>
            </a:p>
          </p:txBody>
        </p:sp>
        <p:cxnSp>
          <p:nvCxnSpPr>
            <p:cNvPr id="10269" name="AutoShape 3"/>
            <p:cNvCxnSpPr>
              <a:cxnSpLocks noChangeShapeType="1"/>
            </p:cNvCxnSpPr>
            <p:nvPr/>
          </p:nvCxnSpPr>
          <p:spPr bwMode="auto">
            <a:xfrm>
              <a:off x="9629" y="3852"/>
              <a:ext cx="0" cy="4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0" name="AutoShape 2"/>
            <p:cNvCxnSpPr>
              <a:cxnSpLocks noChangeShapeType="1"/>
            </p:cNvCxnSpPr>
            <p:nvPr/>
          </p:nvCxnSpPr>
          <p:spPr bwMode="auto">
            <a:xfrm flipV="1">
              <a:off x="8151" y="3693"/>
              <a:ext cx="124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293427" y="5029200"/>
            <a:ext cx="8458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US" sz="2400">
                <a:latin typeface="Tahoma" pitchFamily="34" charset="0"/>
                <a:ea typeface="Cambria Math" pitchFamily="18" charset="0"/>
                <a:cs typeface="Tahoma" pitchFamily="34" charset="0"/>
              </a:rPr>
              <a:t>Nếu </a:t>
            </a:r>
            <a:r>
              <a:rPr lang="en-US" sz="2400" i="1">
                <a:latin typeface="Cambria" pitchFamily="18" charset="0"/>
                <a:ea typeface="Cambria Math" pitchFamily="18" charset="0"/>
                <a:cs typeface="Tahoma" pitchFamily="34" charset="0"/>
              </a:rPr>
              <a:t>MAC</a:t>
            </a:r>
            <a:r>
              <a:rPr lang="en-US" sz="2400" i="1" baseline="-25000">
                <a:latin typeface="Cambria" pitchFamily="18" charset="0"/>
                <a:ea typeface="Cambria Math" pitchFamily="18" charset="0"/>
                <a:cs typeface="Tahoma" pitchFamily="34" charset="0"/>
              </a:rPr>
              <a:t>A</a:t>
            </a:r>
            <a:r>
              <a:rPr lang="en-US" sz="2400">
                <a:latin typeface="Tahoma" pitchFamily="34" charset="0"/>
                <a:ea typeface="Cambria Math" pitchFamily="18" charset="0"/>
                <a:cs typeface="Tahoma" pitchFamily="34" charset="0"/>
              </a:rPr>
              <a:t> và </a:t>
            </a:r>
            <a:r>
              <a:rPr lang="en-US" sz="2400" i="1">
                <a:latin typeface="Cambria" pitchFamily="18" charset="0"/>
                <a:ea typeface="Cambria Math" pitchFamily="18" charset="0"/>
                <a:cs typeface="Tahoma" pitchFamily="34" charset="0"/>
              </a:rPr>
              <a:t>MAC</a:t>
            </a:r>
            <a:r>
              <a:rPr lang="en-US" sz="2400" i="1" baseline="-25000">
                <a:latin typeface="Cambria" pitchFamily="18" charset="0"/>
                <a:ea typeface="Cambria Math" pitchFamily="18" charset="0"/>
                <a:cs typeface="Tahoma" pitchFamily="34" charset="0"/>
              </a:rPr>
              <a:t>B</a:t>
            </a:r>
            <a:r>
              <a:rPr lang="en-US" sz="2400">
                <a:latin typeface="Tahoma" pitchFamily="34" charset="0"/>
                <a:ea typeface="Cambria Math" pitchFamily="18" charset="0"/>
                <a:cs typeface="Tahoma" pitchFamily="34" charset="0"/>
              </a:rPr>
              <a:t> không khớp </a:t>
            </a:r>
            <a:r>
              <a:rPr lang="en-US" sz="2400">
                <a:latin typeface="Tahoma" pitchFamily="34" charset="0"/>
                <a:ea typeface="Cambria Math" pitchFamily="18" charset="0"/>
                <a:cs typeface="Tahoma" pitchFamily="34" charset="0"/>
                <a:sym typeface="Wingdings" pitchFamily="2" charset="2"/>
              </a:rPr>
              <a:t> M đã bị sửa đổi trên đường truyền</a:t>
            </a:r>
            <a:endParaRPr lang="en-US" sz="2400">
              <a:latin typeface="Tahoma" pitchFamily="34" charset="0"/>
              <a:ea typeface="Cambria Math" pitchFamily="18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60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 txBox="1">
            <a:spLocks noChangeArrowheads="1"/>
          </p:cNvSpPr>
          <p:nvPr/>
        </p:nvSpPr>
        <p:spPr bwMode="auto">
          <a:xfrm>
            <a:off x="304800" y="106680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Hàm tính giá trị MAC: dùng mô hình CBC của mã khối</a:t>
            </a:r>
          </a:p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Khối mã cuối cùng C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n-1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được chọn làm giá trị MAC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8E3A0-8D1B-44B0-B2E8-47298ECEA86B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11268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26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11270" name="Group 1"/>
          <p:cNvGrpSpPr>
            <a:grpSpLocks/>
          </p:cNvGrpSpPr>
          <p:nvPr/>
        </p:nvGrpSpPr>
        <p:grpSpPr bwMode="auto">
          <a:xfrm>
            <a:off x="1066800" y="2667000"/>
            <a:ext cx="7010400" cy="2667000"/>
            <a:chOff x="3930" y="7516"/>
            <a:chExt cx="5634" cy="2295"/>
          </a:xfrm>
        </p:grpSpPr>
        <p:sp>
          <p:nvSpPr>
            <p:cNvPr id="11273" name="Rectangle 28"/>
            <p:cNvSpPr>
              <a:spLocks noChangeArrowheads="1"/>
            </p:cNvSpPr>
            <p:nvPr/>
          </p:nvSpPr>
          <p:spPr bwMode="auto">
            <a:xfrm>
              <a:off x="4969" y="7516"/>
              <a:ext cx="1039" cy="3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mbria" pitchFamily="18" charset="0"/>
                  <a:cs typeface="Times New Roman" pitchFamily="18" charset="0"/>
                </a:rPr>
                <a:t>p</a:t>
              </a:r>
              <a:r>
                <a:rPr lang="en-US" sz="2000" baseline="-30000">
                  <a:latin typeface="Cambria" pitchFamily="18" charset="0"/>
                  <a:cs typeface="Times New Roman" pitchFamily="18" charset="0"/>
                </a:rPr>
                <a:t>0</a:t>
              </a:r>
              <a:endParaRPr lang="en-US" sz="2000"/>
            </a:p>
          </p:txBody>
        </p:sp>
        <p:sp>
          <p:nvSpPr>
            <p:cNvPr id="11274" name="Rectangle 27"/>
            <p:cNvSpPr>
              <a:spLocks noChangeArrowheads="1"/>
            </p:cNvSpPr>
            <p:nvPr/>
          </p:nvSpPr>
          <p:spPr bwMode="auto">
            <a:xfrm>
              <a:off x="7047" y="7516"/>
              <a:ext cx="1478" cy="3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cs typeface="Times New Roman" pitchFamily="18" charset="0"/>
                </a:rPr>
                <a:t>…</a:t>
              </a:r>
              <a:endParaRPr lang="en-US" sz="2000"/>
            </a:p>
          </p:txBody>
        </p:sp>
        <p:sp>
          <p:nvSpPr>
            <p:cNvPr id="11275" name="Rectangle 26"/>
            <p:cNvSpPr>
              <a:spLocks noChangeArrowheads="1"/>
            </p:cNvSpPr>
            <p:nvPr/>
          </p:nvSpPr>
          <p:spPr bwMode="auto">
            <a:xfrm>
              <a:off x="6008" y="7516"/>
              <a:ext cx="1039" cy="3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mbria" pitchFamily="18" charset="0"/>
                  <a:cs typeface="Times New Roman" pitchFamily="18" charset="0"/>
                </a:rPr>
                <a:t>p</a:t>
              </a:r>
              <a:r>
                <a:rPr lang="en-US" sz="2000" baseline="-30000">
                  <a:latin typeface="Cambria" pitchFamily="18" charset="0"/>
                  <a:cs typeface="Times New Roman" pitchFamily="18" charset="0"/>
                </a:rPr>
                <a:t>1</a:t>
              </a:r>
              <a:endParaRPr lang="en-US" sz="2000"/>
            </a:p>
          </p:txBody>
        </p:sp>
        <p:sp>
          <p:nvSpPr>
            <p:cNvPr id="11276" name="Rectangle 25"/>
            <p:cNvSpPr>
              <a:spLocks noChangeArrowheads="1"/>
            </p:cNvSpPr>
            <p:nvPr/>
          </p:nvSpPr>
          <p:spPr bwMode="auto">
            <a:xfrm>
              <a:off x="8525" y="7516"/>
              <a:ext cx="1039" cy="3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mbria" pitchFamily="18" charset="0"/>
                  <a:cs typeface="Times New Roman" pitchFamily="18" charset="0"/>
                </a:rPr>
                <a:t>p</a:t>
              </a:r>
              <a:r>
                <a:rPr lang="en-US" sz="2000" baseline="-30000">
                  <a:latin typeface="Cambria" pitchFamily="18" charset="0"/>
                  <a:cs typeface="Times New Roman" pitchFamily="18" charset="0"/>
                </a:rPr>
                <a:t>n-1</a:t>
              </a:r>
              <a:endParaRPr lang="en-US" sz="2000"/>
            </a:p>
          </p:txBody>
        </p:sp>
        <p:sp>
          <p:nvSpPr>
            <p:cNvPr id="11277" name="Rectangle 24"/>
            <p:cNvSpPr>
              <a:spLocks noChangeArrowheads="1"/>
            </p:cNvSpPr>
            <p:nvPr/>
          </p:nvSpPr>
          <p:spPr bwMode="auto">
            <a:xfrm>
              <a:off x="4969" y="9473"/>
              <a:ext cx="1039" cy="3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mbria" pitchFamily="18" charset="0"/>
                  <a:cs typeface="Times New Roman" pitchFamily="18" charset="0"/>
                </a:rPr>
                <a:t>c</a:t>
              </a:r>
              <a:r>
                <a:rPr lang="en-US" sz="2000" baseline="-30000">
                  <a:latin typeface="Cambria" pitchFamily="18" charset="0"/>
                  <a:cs typeface="Times New Roman" pitchFamily="18" charset="0"/>
                </a:rPr>
                <a:t>0</a:t>
              </a:r>
              <a:endParaRPr lang="en-US" sz="2000"/>
            </a:p>
          </p:txBody>
        </p:sp>
        <p:sp>
          <p:nvSpPr>
            <p:cNvPr id="11278" name="Rectangle 23"/>
            <p:cNvSpPr>
              <a:spLocks noChangeArrowheads="1"/>
            </p:cNvSpPr>
            <p:nvPr/>
          </p:nvSpPr>
          <p:spPr bwMode="auto">
            <a:xfrm>
              <a:off x="7047" y="9473"/>
              <a:ext cx="1478" cy="3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cs typeface="Times New Roman" pitchFamily="18" charset="0"/>
                </a:rPr>
                <a:t>…</a:t>
              </a:r>
              <a:endParaRPr lang="en-US" sz="2000"/>
            </a:p>
          </p:txBody>
        </p:sp>
        <p:sp>
          <p:nvSpPr>
            <p:cNvPr id="11279" name="Rectangle 22"/>
            <p:cNvSpPr>
              <a:spLocks noChangeArrowheads="1"/>
            </p:cNvSpPr>
            <p:nvPr/>
          </p:nvSpPr>
          <p:spPr bwMode="auto">
            <a:xfrm>
              <a:off x="6008" y="9473"/>
              <a:ext cx="1039" cy="3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mbria" pitchFamily="18" charset="0"/>
                  <a:cs typeface="Times New Roman" pitchFamily="18" charset="0"/>
                </a:rPr>
                <a:t>c</a:t>
              </a:r>
              <a:r>
                <a:rPr lang="en-US" sz="2000" baseline="-30000">
                  <a:latin typeface="Cambria" pitchFamily="18" charset="0"/>
                  <a:cs typeface="Times New Roman" pitchFamily="18" charset="0"/>
                </a:rPr>
                <a:t>1</a:t>
              </a:r>
              <a:endParaRPr lang="en-US" sz="2000"/>
            </a:p>
          </p:txBody>
        </p:sp>
        <p:sp>
          <p:nvSpPr>
            <p:cNvPr id="11280" name="Rectangle 21"/>
            <p:cNvSpPr>
              <a:spLocks noChangeArrowheads="1"/>
            </p:cNvSpPr>
            <p:nvPr/>
          </p:nvSpPr>
          <p:spPr bwMode="auto">
            <a:xfrm>
              <a:off x="8525" y="9473"/>
              <a:ext cx="1039" cy="3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mbria" pitchFamily="18" charset="0"/>
                  <a:cs typeface="Times New Roman" pitchFamily="18" charset="0"/>
                </a:rPr>
                <a:t>c</a:t>
              </a:r>
              <a:r>
                <a:rPr lang="en-US" sz="2000" baseline="-30000">
                  <a:latin typeface="Cambria" pitchFamily="18" charset="0"/>
                  <a:cs typeface="Times New Roman" pitchFamily="18" charset="0"/>
                </a:rPr>
                <a:t>n-1</a:t>
              </a:r>
              <a:endParaRPr lang="en-US" sz="2000"/>
            </a:p>
          </p:txBody>
        </p:sp>
        <p:cxnSp>
          <p:nvCxnSpPr>
            <p:cNvPr id="11281" name="AutoShape 20"/>
            <p:cNvCxnSpPr>
              <a:cxnSpLocks noChangeShapeType="1"/>
            </p:cNvCxnSpPr>
            <p:nvPr/>
          </p:nvCxnSpPr>
          <p:spPr bwMode="auto">
            <a:xfrm flipH="1">
              <a:off x="5165" y="7854"/>
              <a:ext cx="174" cy="4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2" name="AutoShape 19"/>
            <p:cNvCxnSpPr>
              <a:cxnSpLocks noChangeShapeType="1"/>
            </p:cNvCxnSpPr>
            <p:nvPr/>
          </p:nvCxnSpPr>
          <p:spPr bwMode="auto">
            <a:xfrm>
              <a:off x="5470" y="9105"/>
              <a:ext cx="1" cy="36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3" name="AutoShape 18"/>
            <p:cNvSpPr>
              <a:spLocks noChangeArrowheads="1"/>
            </p:cNvSpPr>
            <p:nvPr/>
          </p:nvSpPr>
          <p:spPr bwMode="auto">
            <a:xfrm>
              <a:off x="5303" y="8775"/>
              <a:ext cx="328" cy="300"/>
            </a:xfrm>
            <a:prstGeom prst="roundRect">
              <a:avLst>
                <a:gd name="adj" fmla="val 29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libri" pitchFamily="34" charset="0"/>
                  <a:cs typeface="Times New Roman" pitchFamily="18" charset="0"/>
                </a:rPr>
                <a:t>E</a:t>
              </a:r>
              <a:endParaRPr lang="en-US" sz="2000"/>
            </a:p>
          </p:txBody>
        </p:sp>
        <p:sp>
          <p:nvSpPr>
            <p:cNvPr id="11284" name="AutoShape 17"/>
            <p:cNvSpPr>
              <a:spLocks noChangeArrowheads="1"/>
            </p:cNvSpPr>
            <p:nvPr/>
          </p:nvSpPr>
          <p:spPr bwMode="auto">
            <a:xfrm>
              <a:off x="4967" y="8203"/>
              <a:ext cx="328" cy="376"/>
            </a:xfrm>
            <a:prstGeom prst="roundRect">
              <a:avLst>
                <a:gd name="adj" fmla="val 29333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libri" pitchFamily="34" charset="0"/>
                  <a:cs typeface="Times New Roman" pitchFamily="18" charset="0"/>
                  <a:sym typeface="Symbol" pitchFamily="18" charset="2"/>
                </a:rPr>
                <a:t></a:t>
              </a:r>
            </a:p>
          </p:txBody>
        </p:sp>
        <p:sp>
          <p:nvSpPr>
            <p:cNvPr id="11285" name="Rectangle 16"/>
            <p:cNvSpPr>
              <a:spLocks noChangeArrowheads="1"/>
            </p:cNvSpPr>
            <p:nvPr/>
          </p:nvSpPr>
          <p:spPr bwMode="auto">
            <a:xfrm>
              <a:off x="3930" y="9473"/>
              <a:ext cx="1039" cy="3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mbria" pitchFamily="18" charset="0"/>
                  <a:cs typeface="Times New Roman" pitchFamily="18" charset="0"/>
                </a:rPr>
                <a:t>IV</a:t>
              </a:r>
              <a:endParaRPr lang="en-US" sz="2000"/>
            </a:p>
          </p:txBody>
        </p:sp>
        <p:cxnSp>
          <p:nvCxnSpPr>
            <p:cNvPr id="11286" name="AutoShape 15"/>
            <p:cNvCxnSpPr>
              <a:cxnSpLocks noChangeShapeType="1"/>
            </p:cNvCxnSpPr>
            <p:nvPr/>
          </p:nvCxnSpPr>
          <p:spPr bwMode="auto">
            <a:xfrm flipV="1">
              <a:off x="4664" y="8462"/>
              <a:ext cx="415" cy="10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7" name="Arc 14"/>
            <p:cNvSpPr>
              <a:spLocks/>
            </p:cNvSpPr>
            <p:nvPr/>
          </p:nvSpPr>
          <p:spPr bwMode="auto">
            <a:xfrm>
              <a:off x="5216" y="8384"/>
              <a:ext cx="254" cy="3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88" name="AutoShape 13"/>
            <p:cNvCxnSpPr>
              <a:cxnSpLocks noChangeShapeType="1"/>
            </p:cNvCxnSpPr>
            <p:nvPr/>
          </p:nvCxnSpPr>
          <p:spPr bwMode="auto">
            <a:xfrm flipH="1">
              <a:off x="6212" y="7854"/>
              <a:ext cx="174" cy="4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9" name="AutoShape 12"/>
            <p:cNvCxnSpPr>
              <a:cxnSpLocks noChangeShapeType="1"/>
            </p:cNvCxnSpPr>
            <p:nvPr/>
          </p:nvCxnSpPr>
          <p:spPr bwMode="auto">
            <a:xfrm>
              <a:off x="6517" y="9105"/>
              <a:ext cx="1" cy="36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90" name="AutoShape 11"/>
            <p:cNvSpPr>
              <a:spLocks noChangeArrowheads="1"/>
            </p:cNvSpPr>
            <p:nvPr/>
          </p:nvSpPr>
          <p:spPr bwMode="auto">
            <a:xfrm>
              <a:off x="6350" y="8775"/>
              <a:ext cx="328" cy="300"/>
            </a:xfrm>
            <a:prstGeom prst="roundRect">
              <a:avLst>
                <a:gd name="adj" fmla="val 29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libri" pitchFamily="34" charset="0"/>
                  <a:cs typeface="Times New Roman" pitchFamily="18" charset="0"/>
                </a:rPr>
                <a:t>E</a:t>
              </a:r>
              <a:endParaRPr lang="en-US" sz="2000"/>
            </a:p>
          </p:txBody>
        </p:sp>
        <p:sp>
          <p:nvSpPr>
            <p:cNvPr id="11291" name="AutoShape 10"/>
            <p:cNvSpPr>
              <a:spLocks noChangeArrowheads="1"/>
            </p:cNvSpPr>
            <p:nvPr/>
          </p:nvSpPr>
          <p:spPr bwMode="auto">
            <a:xfrm>
              <a:off x="6014" y="8203"/>
              <a:ext cx="328" cy="376"/>
            </a:xfrm>
            <a:prstGeom prst="roundRect">
              <a:avLst>
                <a:gd name="adj" fmla="val 29333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libri" pitchFamily="34" charset="0"/>
                  <a:cs typeface="Times New Roman" pitchFamily="18" charset="0"/>
                  <a:sym typeface="Symbol" pitchFamily="18" charset="2"/>
                </a:rPr>
                <a:t></a:t>
              </a:r>
            </a:p>
          </p:txBody>
        </p:sp>
        <p:cxnSp>
          <p:nvCxnSpPr>
            <p:cNvPr id="11292" name="AutoShape 9"/>
            <p:cNvCxnSpPr>
              <a:cxnSpLocks noChangeShapeType="1"/>
            </p:cNvCxnSpPr>
            <p:nvPr/>
          </p:nvCxnSpPr>
          <p:spPr bwMode="auto">
            <a:xfrm flipV="1">
              <a:off x="5711" y="8462"/>
              <a:ext cx="415" cy="10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93" name="Arc 8"/>
            <p:cNvSpPr>
              <a:spLocks/>
            </p:cNvSpPr>
            <p:nvPr/>
          </p:nvSpPr>
          <p:spPr bwMode="auto">
            <a:xfrm>
              <a:off x="6263" y="8384"/>
              <a:ext cx="254" cy="3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94" name="AutoShape 7"/>
            <p:cNvCxnSpPr>
              <a:cxnSpLocks noChangeShapeType="1"/>
            </p:cNvCxnSpPr>
            <p:nvPr/>
          </p:nvCxnSpPr>
          <p:spPr bwMode="auto">
            <a:xfrm flipH="1">
              <a:off x="8711" y="7854"/>
              <a:ext cx="174" cy="4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5" name="AutoShape 6"/>
            <p:cNvCxnSpPr>
              <a:cxnSpLocks noChangeShapeType="1"/>
            </p:cNvCxnSpPr>
            <p:nvPr/>
          </p:nvCxnSpPr>
          <p:spPr bwMode="auto">
            <a:xfrm>
              <a:off x="9016" y="9105"/>
              <a:ext cx="1" cy="36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96" name="AutoShape 5"/>
            <p:cNvSpPr>
              <a:spLocks noChangeArrowheads="1"/>
            </p:cNvSpPr>
            <p:nvPr/>
          </p:nvSpPr>
          <p:spPr bwMode="auto">
            <a:xfrm>
              <a:off x="8849" y="8775"/>
              <a:ext cx="328" cy="300"/>
            </a:xfrm>
            <a:prstGeom prst="roundRect">
              <a:avLst>
                <a:gd name="adj" fmla="val 29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libri" pitchFamily="34" charset="0"/>
                  <a:cs typeface="Times New Roman" pitchFamily="18" charset="0"/>
                </a:rPr>
                <a:t>E</a:t>
              </a:r>
              <a:endParaRPr lang="en-US" sz="2000"/>
            </a:p>
          </p:txBody>
        </p:sp>
        <p:sp>
          <p:nvSpPr>
            <p:cNvPr id="11297" name="AutoShape 4"/>
            <p:cNvSpPr>
              <a:spLocks noChangeArrowheads="1"/>
            </p:cNvSpPr>
            <p:nvPr/>
          </p:nvSpPr>
          <p:spPr bwMode="auto">
            <a:xfrm>
              <a:off x="8513" y="8203"/>
              <a:ext cx="328" cy="376"/>
            </a:xfrm>
            <a:prstGeom prst="roundRect">
              <a:avLst>
                <a:gd name="adj" fmla="val 29333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0" hangingPunct="0"/>
              <a:r>
                <a:rPr lang="en-US" sz="2000">
                  <a:latin typeface="Calibri" pitchFamily="34" charset="0"/>
                  <a:cs typeface="Times New Roman" pitchFamily="18" charset="0"/>
                  <a:sym typeface="Symbol" pitchFamily="18" charset="2"/>
                </a:rPr>
                <a:t></a:t>
              </a:r>
            </a:p>
          </p:txBody>
        </p:sp>
        <p:cxnSp>
          <p:nvCxnSpPr>
            <p:cNvPr id="11298" name="AutoShape 3"/>
            <p:cNvCxnSpPr>
              <a:cxnSpLocks noChangeShapeType="1"/>
            </p:cNvCxnSpPr>
            <p:nvPr/>
          </p:nvCxnSpPr>
          <p:spPr bwMode="auto">
            <a:xfrm flipV="1">
              <a:off x="8210" y="8462"/>
              <a:ext cx="415" cy="10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99" name="Arc 2"/>
            <p:cNvSpPr>
              <a:spLocks/>
            </p:cNvSpPr>
            <p:nvPr/>
          </p:nvSpPr>
          <p:spPr bwMode="auto">
            <a:xfrm>
              <a:off x="8762" y="8384"/>
              <a:ext cx="254" cy="3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1" name="Rectangle 3"/>
          <p:cNvSpPr txBox="1">
            <a:spLocks noChangeArrowheads="1"/>
          </p:cNvSpPr>
          <p:nvPr/>
        </p:nvSpPr>
        <p:spPr bwMode="auto">
          <a:xfrm>
            <a:off x="6553200" y="60198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MAC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 rot="5400000">
            <a:off x="7240588" y="5638800"/>
            <a:ext cx="455612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259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381000" y="1371600"/>
            <a:ext cx="8534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sz="2800" b="1">
                <a:latin typeface="Tahoma" pitchFamily="34" charset="0"/>
                <a:ea typeface="Arial-Rounded" pitchFamily="34" charset="0"/>
                <a:cs typeface="Tahoma" pitchFamily="34" charset="0"/>
              </a:rPr>
              <a:t>Hàm băm H(x) là </a:t>
            </a:r>
            <a:r>
              <a:rPr lang="en-US" sz="2800" b="1" i="1">
                <a:latin typeface="Tahoma" pitchFamily="34" charset="0"/>
                <a:ea typeface="Arial-Rounded" pitchFamily="34" charset="0"/>
                <a:cs typeface="Tahoma" pitchFamily="34" charset="0"/>
              </a:rPr>
              <a:t>dấu vân tay</a:t>
            </a:r>
            <a:r>
              <a:rPr lang="en-US" sz="2800" b="1">
                <a:latin typeface="Tahoma" pitchFamily="34" charset="0"/>
                <a:ea typeface="Arial-Rounded" pitchFamily="34" charset="0"/>
                <a:cs typeface="Tahoma" pitchFamily="34" charset="0"/>
              </a:rPr>
              <a:t> của x.</a:t>
            </a:r>
          </a:p>
          <a:p>
            <a:pPr>
              <a:lnSpc>
                <a:spcPct val="130000"/>
              </a:lnSpc>
              <a:defRPr/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Các tính chất của hàm băm:</a:t>
            </a:r>
          </a:p>
          <a:p>
            <a:pPr marL="457200" indent="-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H(x) có thể áp dụng với các x có chiều dài bít khác nhau</a:t>
            </a:r>
          </a:p>
          <a:p>
            <a:pPr marL="457200" indent="-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Kích thước của output h = H(x) cố định và nhỏ</a:t>
            </a:r>
          </a:p>
          <a:p>
            <a:pPr marL="457200" indent="-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Từ h không thể tìm lại được x</a:t>
            </a:r>
          </a:p>
          <a:p>
            <a:pPr marL="457200" indent="-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Tính chống trùng: không tìm được x≠ y bất kỳ sao cho H(x) = H(y)</a:t>
            </a: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02A382-80BF-4132-832A-8B910E33EFDE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III. Hàm băm</a:t>
            </a:r>
          </a:p>
        </p:txBody>
      </p:sp>
    </p:spTree>
    <p:extLst>
      <p:ext uri="{BB962C8B-B14F-4D97-AF65-F5344CB8AC3E}">
        <p14:creationId xmlns:p14="http://schemas.microsoft.com/office/powerpoint/2010/main" val="101003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381000" y="1066800"/>
            <a:ext cx="8534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sz="2400" u="sng">
                <a:latin typeface="Tahoma" pitchFamily="34" charset="0"/>
                <a:ea typeface="Arial-Rounded" pitchFamily="34" charset="0"/>
                <a:cs typeface="Tahoma" pitchFamily="34" charset="0"/>
              </a:rPr>
              <a:t>Vấn đề trùng giá trị hash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:</a:t>
            </a:r>
          </a:p>
          <a:p>
            <a:pPr indent="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Về lý thuyết không thể loại bỏ việc trùng giá trị Hash.</a:t>
            </a:r>
          </a:p>
          <a:p>
            <a:pPr indent="457200">
              <a:lnSpc>
                <a:spcPct val="130000"/>
              </a:lnSpc>
              <a:buFont typeface="Arial" pitchFamily="34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3713E4-3D53-4652-833B-3840C04CC1F2}" type="slidenum">
              <a:rPr lang="en-US"/>
              <a:pPr>
                <a:defRPr/>
              </a:pPr>
              <a:t>11</a:t>
            </a:fld>
            <a:endParaRPr lang="en-US"/>
          </a:p>
        </p:txBody>
      </p:sp>
      <p:grpSp>
        <p:nvGrpSpPr>
          <p:cNvPr id="13316" name="Group 2"/>
          <p:cNvGrpSpPr>
            <a:grpSpLocks/>
          </p:cNvGrpSpPr>
          <p:nvPr/>
        </p:nvGrpSpPr>
        <p:grpSpPr bwMode="auto">
          <a:xfrm>
            <a:off x="1828800" y="2362200"/>
            <a:ext cx="5181600" cy="2362200"/>
            <a:chOff x="3932" y="3969"/>
            <a:chExt cx="4397" cy="1979"/>
          </a:xfrm>
        </p:grpSpPr>
        <p:sp>
          <p:nvSpPr>
            <p:cNvPr id="13318" name="Oval 3"/>
            <p:cNvSpPr>
              <a:spLocks noChangeArrowheads="1"/>
            </p:cNvSpPr>
            <p:nvPr/>
          </p:nvSpPr>
          <p:spPr bwMode="auto">
            <a:xfrm>
              <a:off x="3932" y="4207"/>
              <a:ext cx="1478" cy="174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9" name="Oval 4"/>
            <p:cNvSpPr>
              <a:spLocks noChangeArrowheads="1"/>
            </p:cNvSpPr>
            <p:nvPr/>
          </p:nvSpPr>
          <p:spPr bwMode="auto">
            <a:xfrm>
              <a:off x="6828" y="4582"/>
              <a:ext cx="998" cy="10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0" name="Oval 5"/>
            <p:cNvSpPr>
              <a:spLocks noChangeArrowheads="1"/>
            </p:cNvSpPr>
            <p:nvPr/>
          </p:nvSpPr>
          <p:spPr bwMode="auto">
            <a:xfrm>
              <a:off x="4430" y="4725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1" name="Oval 6"/>
            <p:cNvSpPr>
              <a:spLocks noChangeArrowheads="1"/>
            </p:cNvSpPr>
            <p:nvPr/>
          </p:nvSpPr>
          <p:spPr bwMode="auto">
            <a:xfrm>
              <a:off x="4722" y="4965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Oval 7"/>
            <p:cNvSpPr>
              <a:spLocks noChangeArrowheads="1"/>
            </p:cNvSpPr>
            <p:nvPr/>
          </p:nvSpPr>
          <p:spPr bwMode="auto">
            <a:xfrm>
              <a:off x="4377" y="5218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Oval 8"/>
            <p:cNvSpPr>
              <a:spLocks noChangeArrowheads="1"/>
            </p:cNvSpPr>
            <p:nvPr/>
          </p:nvSpPr>
          <p:spPr bwMode="auto">
            <a:xfrm>
              <a:off x="4962" y="5205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Oval 9"/>
            <p:cNvSpPr>
              <a:spLocks noChangeArrowheads="1"/>
            </p:cNvSpPr>
            <p:nvPr/>
          </p:nvSpPr>
          <p:spPr bwMode="auto">
            <a:xfrm>
              <a:off x="4669" y="5614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Oval 10"/>
            <p:cNvSpPr>
              <a:spLocks noChangeArrowheads="1"/>
            </p:cNvSpPr>
            <p:nvPr/>
          </p:nvSpPr>
          <p:spPr bwMode="auto">
            <a:xfrm>
              <a:off x="4786" y="4613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Oval 11"/>
            <p:cNvSpPr>
              <a:spLocks noChangeArrowheads="1"/>
            </p:cNvSpPr>
            <p:nvPr/>
          </p:nvSpPr>
          <p:spPr bwMode="auto">
            <a:xfrm>
              <a:off x="7088" y="5022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Oval 12"/>
            <p:cNvSpPr>
              <a:spLocks noChangeArrowheads="1"/>
            </p:cNvSpPr>
            <p:nvPr/>
          </p:nvSpPr>
          <p:spPr bwMode="auto">
            <a:xfrm>
              <a:off x="7380" y="5262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Oval 13"/>
            <p:cNvSpPr>
              <a:spLocks noChangeArrowheads="1"/>
            </p:cNvSpPr>
            <p:nvPr/>
          </p:nvSpPr>
          <p:spPr bwMode="auto">
            <a:xfrm>
              <a:off x="7444" y="4910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Rectangle 14"/>
            <p:cNvSpPr>
              <a:spLocks noChangeArrowheads="1"/>
            </p:cNvSpPr>
            <p:nvPr/>
          </p:nvSpPr>
          <p:spPr bwMode="auto">
            <a:xfrm>
              <a:off x="4551" y="4230"/>
              <a:ext cx="46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>
                <a:spcBef>
                  <a:spcPts val="300"/>
                </a:spcBef>
              </a:pPr>
              <a:r>
                <a:rPr lang="en-US">
                  <a:latin typeface="Tahoma" pitchFamily="34" charset="0"/>
                </a:rPr>
                <a:t>x</a:t>
              </a:r>
              <a:r>
                <a:rPr lang="en-US" baseline="-25000">
                  <a:latin typeface="Tahoma" pitchFamily="34" charset="0"/>
                </a:rPr>
                <a:t>1</a:t>
              </a:r>
              <a:endParaRPr lang="en-US"/>
            </a:p>
          </p:txBody>
        </p:sp>
        <p:sp>
          <p:nvSpPr>
            <p:cNvPr id="13330" name="Rectangle 15"/>
            <p:cNvSpPr>
              <a:spLocks noChangeArrowheads="1"/>
            </p:cNvSpPr>
            <p:nvPr/>
          </p:nvSpPr>
          <p:spPr bwMode="auto">
            <a:xfrm>
              <a:off x="4024" y="4670"/>
              <a:ext cx="46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>
                <a:spcBef>
                  <a:spcPts val="300"/>
                </a:spcBef>
              </a:pPr>
              <a:r>
                <a:rPr lang="en-US">
                  <a:latin typeface="Tahoma" pitchFamily="34" charset="0"/>
                </a:rPr>
                <a:t>x</a:t>
              </a:r>
              <a:r>
                <a:rPr lang="en-US" baseline="-25000">
                  <a:latin typeface="Tahoma" pitchFamily="34" charset="0"/>
                </a:rPr>
                <a:t>2</a:t>
              </a:r>
              <a:endParaRPr lang="en-US"/>
            </a:p>
          </p:txBody>
        </p:sp>
        <p:sp>
          <p:nvSpPr>
            <p:cNvPr id="13331" name="Rectangle 16"/>
            <p:cNvSpPr>
              <a:spLocks noChangeArrowheads="1"/>
            </p:cNvSpPr>
            <p:nvPr/>
          </p:nvSpPr>
          <p:spPr bwMode="auto">
            <a:xfrm>
              <a:off x="7088" y="4582"/>
              <a:ext cx="46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>
                <a:spcBef>
                  <a:spcPts val="300"/>
                </a:spcBef>
              </a:pPr>
              <a:r>
                <a:rPr lang="en-US">
                  <a:latin typeface="Tahoma" pitchFamily="34" charset="0"/>
                </a:rPr>
                <a:t>h</a:t>
              </a:r>
              <a:r>
                <a:rPr lang="en-US" baseline="-25000">
                  <a:latin typeface="Tahoma" pitchFamily="34" charset="0"/>
                </a:rPr>
                <a:t>1</a:t>
              </a:r>
              <a:endParaRPr lang="en-US"/>
            </a:p>
          </p:txBody>
        </p:sp>
        <p:sp>
          <p:nvSpPr>
            <p:cNvPr id="13332" name="Rectangle 17"/>
            <p:cNvSpPr>
              <a:spLocks noChangeArrowheads="1"/>
            </p:cNvSpPr>
            <p:nvPr/>
          </p:nvSpPr>
          <p:spPr bwMode="auto">
            <a:xfrm>
              <a:off x="7328" y="5022"/>
              <a:ext cx="463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>
                <a:spcBef>
                  <a:spcPts val="300"/>
                </a:spcBef>
              </a:pPr>
              <a:r>
                <a:rPr lang="en-US">
                  <a:latin typeface="Tahoma" pitchFamily="34" charset="0"/>
                </a:rPr>
                <a:t>h</a:t>
              </a:r>
              <a:r>
                <a:rPr lang="en-US" baseline="-25000">
                  <a:latin typeface="Tahoma" pitchFamily="34" charset="0"/>
                </a:rPr>
                <a:t>2</a:t>
              </a:r>
              <a:endParaRPr lang="en-US"/>
            </a:p>
          </p:txBody>
        </p:sp>
        <p:cxnSp>
          <p:nvCxnSpPr>
            <p:cNvPr id="13333" name="AutoShape 18"/>
            <p:cNvCxnSpPr>
              <a:cxnSpLocks noChangeShapeType="1"/>
            </p:cNvCxnSpPr>
            <p:nvPr/>
          </p:nvCxnSpPr>
          <p:spPr bwMode="auto">
            <a:xfrm>
              <a:off x="4843" y="4670"/>
              <a:ext cx="2245" cy="3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4" name="AutoShape 19"/>
            <p:cNvCxnSpPr>
              <a:cxnSpLocks noChangeShapeType="1"/>
            </p:cNvCxnSpPr>
            <p:nvPr/>
          </p:nvCxnSpPr>
          <p:spPr bwMode="auto">
            <a:xfrm flipV="1">
              <a:off x="5083" y="5079"/>
              <a:ext cx="2005" cy="1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5" name="AutoShape 20"/>
            <p:cNvCxnSpPr>
              <a:cxnSpLocks noChangeShapeType="1"/>
            </p:cNvCxnSpPr>
            <p:nvPr/>
          </p:nvCxnSpPr>
          <p:spPr bwMode="auto">
            <a:xfrm flipV="1">
              <a:off x="4823" y="5319"/>
              <a:ext cx="2505" cy="3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36" name="Rectangle 21"/>
            <p:cNvSpPr>
              <a:spLocks noChangeArrowheads="1"/>
            </p:cNvSpPr>
            <p:nvPr/>
          </p:nvSpPr>
          <p:spPr bwMode="auto">
            <a:xfrm>
              <a:off x="5083" y="3969"/>
              <a:ext cx="1341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>
                <a:spcBef>
                  <a:spcPts val="300"/>
                </a:spcBef>
              </a:pPr>
              <a:r>
                <a:rPr lang="en-US">
                  <a:latin typeface="Tahoma" pitchFamily="34" charset="0"/>
                </a:rPr>
                <a:t>Không gian thông điệp</a:t>
              </a:r>
              <a:endParaRPr lang="en-US"/>
            </a:p>
          </p:txBody>
        </p:sp>
        <p:sp>
          <p:nvSpPr>
            <p:cNvPr id="13337" name="Rectangle 22"/>
            <p:cNvSpPr>
              <a:spLocks noChangeArrowheads="1"/>
            </p:cNvSpPr>
            <p:nvPr/>
          </p:nvSpPr>
          <p:spPr bwMode="auto">
            <a:xfrm>
              <a:off x="6988" y="4000"/>
              <a:ext cx="1341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>
                <a:spcBef>
                  <a:spcPts val="300"/>
                </a:spcBef>
              </a:pPr>
              <a:r>
                <a:rPr lang="en-US">
                  <a:latin typeface="Tahoma" pitchFamily="34" charset="0"/>
                </a:rPr>
                <a:t>Không gian giá trị hash</a:t>
              </a:r>
              <a:endParaRPr lang="en-US"/>
            </a:p>
          </p:txBody>
        </p:sp>
      </p:grpSp>
      <p:sp>
        <p:nvSpPr>
          <p:cNvPr id="14341" name="Rectangle 3"/>
          <p:cNvSpPr txBox="1">
            <a:spLocks noChangeArrowheads="1"/>
          </p:cNvSpPr>
          <p:nvPr/>
        </p:nvSpPr>
        <p:spPr bwMode="auto">
          <a:xfrm>
            <a:off x="304800" y="5105400"/>
            <a:ext cx="8534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Yêu cầu của tính chống trùng: Về mặt thời gian, không thể tìm được hai giá trị x, y có cùng giá trị hash.</a:t>
            </a:r>
          </a:p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04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 txBox="1">
            <a:spLocks noChangeArrowheads="1"/>
          </p:cNvSpPr>
          <p:nvPr/>
        </p:nvSpPr>
        <p:spPr bwMode="auto">
          <a:xfrm>
            <a:off x="381000" y="1219200"/>
            <a:ext cx="8534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Kích thước của giá hash cần lớn để đảm bảo tính chống trùng.</a:t>
            </a:r>
          </a:p>
          <a:p>
            <a:pPr lvl="1"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Nếu kích thước của hash là 8 bít. Chỉ cần thử 256+1 trường hợp là có thể tìm ra 2 giá trị x,y cùng giá trị hash</a:t>
            </a:r>
          </a:p>
          <a:p>
            <a:pPr lvl="1"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Dùng bài toán “Ngày sinh nhật”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Kích thước của Hash phải từ 128 bít trở lên để bảo đảm an toàn.</a:t>
            </a:r>
          </a:p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C9DDC-89D7-46DF-A8AE-9FE93E442867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381000" y="1371600"/>
            <a:ext cx="85344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sz="2400" u="sng">
                <a:latin typeface="Tahoma" pitchFamily="34" charset="0"/>
                <a:ea typeface="Arial-Rounded" pitchFamily="34" charset="0"/>
                <a:cs typeface="Tahoma" pitchFamily="34" charset="0"/>
              </a:rPr>
              <a:t>Các hàm băm phổ biến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:</a:t>
            </a:r>
          </a:p>
          <a:p>
            <a:pPr indent="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MD5: kích thước 128 bít, do Ron Rivest xây dựng</a:t>
            </a:r>
          </a:p>
          <a:p>
            <a:pPr marL="914400" indent="-457200">
              <a:lnSpc>
                <a:spcPct val="130000"/>
              </a:lnSpc>
              <a:buFont typeface="Courier New" pitchFamily="49" charset="0"/>
              <a:buChar char="o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Năm 1998 đã tìm thấy 2 thông điệp có cùng giá trị băm MD5.</a:t>
            </a:r>
          </a:p>
          <a:p>
            <a:pPr indent="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SHA-1: kích thước 161 bít, chuẩn quốc gia Hoa Kỳ</a:t>
            </a:r>
          </a:p>
          <a:p>
            <a:pPr indent="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SHA-256: kích thước 256 bít</a:t>
            </a:r>
          </a:p>
          <a:p>
            <a:pPr indent="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SHA-512: kích thước 512 bít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C52C00-055D-4BCD-A4E5-C964DDF620D5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06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F407E4-00E1-4F04-B321-A1EBB3BA4365}" type="slidenum">
              <a:rPr lang="en-US"/>
              <a:pPr>
                <a:defRPr/>
              </a:pPr>
              <a:t>14</a:t>
            </a:fld>
            <a:endParaRPr lang="en-US"/>
          </a:p>
        </p:txBody>
      </p:sp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7" y="1371600"/>
            <a:ext cx="910805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3"/>
          <p:cNvSpPr txBox="1">
            <a:spLocks noChangeArrowheads="1"/>
          </p:cNvSpPr>
          <p:nvPr/>
        </p:nvSpPr>
        <p:spPr bwMode="auto">
          <a:xfrm>
            <a:off x="381000" y="228600"/>
            <a:ext cx="853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indent="0" eaLnBrk="1" hangingPunct="1">
              <a:lnSpc>
                <a:spcPct val="130000"/>
              </a:lnSpc>
            </a:pPr>
            <a:r>
              <a:rPr lang="en-US" sz="2400" b="1">
                <a:solidFill>
                  <a:schemeClr val="bg1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Ví dụ về tính MD5:</a:t>
            </a:r>
          </a:p>
        </p:txBody>
      </p:sp>
    </p:spTree>
    <p:extLst>
      <p:ext uri="{BB962C8B-B14F-4D97-AF65-F5344CB8AC3E}">
        <p14:creationId xmlns:p14="http://schemas.microsoft.com/office/powerpoint/2010/main" val="2313450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5C75D-6EFA-4D55-AFE6-9A922076262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1741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17412" name="Group 1"/>
          <p:cNvGrpSpPr>
            <a:grpSpLocks/>
          </p:cNvGrpSpPr>
          <p:nvPr/>
        </p:nvGrpSpPr>
        <p:grpSpPr bwMode="auto">
          <a:xfrm>
            <a:off x="0" y="1752600"/>
            <a:ext cx="9144000" cy="3657600"/>
            <a:chOff x="1985" y="4221"/>
            <a:chExt cx="9006" cy="3910"/>
          </a:xfrm>
        </p:grpSpPr>
        <p:sp>
          <p:nvSpPr>
            <p:cNvPr id="17414" name="Rectangle 56"/>
            <p:cNvSpPr>
              <a:spLocks noChangeArrowheads="1"/>
            </p:cNvSpPr>
            <p:nvPr/>
          </p:nvSpPr>
          <p:spPr bwMode="auto">
            <a:xfrm>
              <a:off x="2326" y="5104"/>
              <a:ext cx="4946" cy="3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73152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Message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15" name="Rectangle 55"/>
            <p:cNvSpPr>
              <a:spLocks noChangeArrowheads="1"/>
            </p:cNvSpPr>
            <p:nvPr/>
          </p:nvSpPr>
          <p:spPr bwMode="auto">
            <a:xfrm>
              <a:off x="7280" y="5104"/>
              <a:ext cx="1265" cy="3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73152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100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…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00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16" name="Rectangle 54"/>
            <p:cNvSpPr>
              <a:spLocks noChangeArrowheads="1"/>
            </p:cNvSpPr>
            <p:nvPr/>
          </p:nvSpPr>
          <p:spPr bwMode="auto">
            <a:xfrm>
              <a:off x="8545" y="5104"/>
              <a:ext cx="1143" cy="3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73152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Length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17417" name="AutoShape 53"/>
            <p:cNvCxnSpPr>
              <a:cxnSpLocks noChangeShapeType="1"/>
            </p:cNvCxnSpPr>
            <p:nvPr/>
          </p:nvCxnSpPr>
          <p:spPr bwMode="auto">
            <a:xfrm>
              <a:off x="2326" y="4554"/>
              <a:ext cx="736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18" name="AutoShape 52"/>
            <p:cNvCxnSpPr>
              <a:cxnSpLocks noChangeShapeType="1"/>
            </p:cNvCxnSpPr>
            <p:nvPr/>
          </p:nvCxnSpPr>
          <p:spPr bwMode="auto">
            <a:xfrm>
              <a:off x="8545" y="4924"/>
              <a:ext cx="114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19" name="Rectangle 51"/>
            <p:cNvSpPr>
              <a:spLocks noChangeArrowheads="1"/>
            </p:cNvSpPr>
            <p:nvPr/>
          </p:nvSpPr>
          <p:spPr bwMode="auto">
            <a:xfrm>
              <a:off x="4994" y="4221"/>
              <a:ext cx="209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 x 512 b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20" name="Rectangle 50"/>
            <p:cNvSpPr>
              <a:spLocks noChangeArrowheads="1"/>
            </p:cNvSpPr>
            <p:nvPr/>
          </p:nvSpPr>
          <p:spPr bwMode="auto">
            <a:xfrm>
              <a:off x="8610" y="4593"/>
              <a:ext cx="9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64 b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21" name="Rectangle 49"/>
            <p:cNvSpPr>
              <a:spLocks noChangeArrowheads="1"/>
            </p:cNvSpPr>
            <p:nvPr/>
          </p:nvSpPr>
          <p:spPr bwMode="auto">
            <a:xfrm>
              <a:off x="2326" y="6385"/>
              <a:ext cx="1701" cy="3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73152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M</a:t>
              </a:r>
              <a:r>
                <a:rPr lang="en-US" sz="1600" baseline="-30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1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22" name="Rectangle 48"/>
            <p:cNvSpPr>
              <a:spLocks noChangeArrowheads="1"/>
            </p:cNvSpPr>
            <p:nvPr/>
          </p:nvSpPr>
          <p:spPr bwMode="auto">
            <a:xfrm>
              <a:off x="4021" y="6385"/>
              <a:ext cx="1701" cy="3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73152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M</a:t>
              </a:r>
              <a:r>
                <a:rPr lang="en-US" sz="1600" baseline="-30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2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23" name="Rectangle 47"/>
            <p:cNvSpPr>
              <a:spLocks noChangeArrowheads="1"/>
            </p:cNvSpPr>
            <p:nvPr/>
          </p:nvSpPr>
          <p:spPr bwMode="auto">
            <a:xfrm>
              <a:off x="7990" y="6385"/>
              <a:ext cx="1701" cy="3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73152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M</a:t>
              </a:r>
              <a:r>
                <a:rPr lang="en-US" sz="1600" baseline="-30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17424" name="AutoShape 46"/>
            <p:cNvCxnSpPr>
              <a:cxnSpLocks noChangeShapeType="1"/>
            </p:cNvCxnSpPr>
            <p:nvPr/>
          </p:nvCxnSpPr>
          <p:spPr bwMode="auto">
            <a:xfrm>
              <a:off x="2326" y="5541"/>
              <a:ext cx="0" cy="8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5" name="AutoShape 45"/>
            <p:cNvCxnSpPr>
              <a:cxnSpLocks noChangeShapeType="1"/>
            </p:cNvCxnSpPr>
            <p:nvPr/>
          </p:nvCxnSpPr>
          <p:spPr bwMode="auto">
            <a:xfrm>
              <a:off x="4021" y="5541"/>
              <a:ext cx="0" cy="8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6" name="AutoShape 44"/>
            <p:cNvCxnSpPr>
              <a:cxnSpLocks noChangeShapeType="1"/>
            </p:cNvCxnSpPr>
            <p:nvPr/>
          </p:nvCxnSpPr>
          <p:spPr bwMode="auto">
            <a:xfrm>
              <a:off x="5722" y="5541"/>
              <a:ext cx="0" cy="8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7" name="AutoShape 43"/>
            <p:cNvCxnSpPr>
              <a:cxnSpLocks noChangeShapeType="1"/>
            </p:cNvCxnSpPr>
            <p:nvPr/>
          </p:nvCxnSpPr>
          <p:spPr bwMode="auto">
            <a:xfrm>
              <a:off x="7987" y="5528"/>
              <a:ext cx="0" cy="8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8" name="AutoShape 42"/>
            <p:cNvCxnSpPr>
              <a:cxnSpLocks noChangeShapeType="1"/>
            </p:cNvCxnSpPr>
            <p:nvPr/>
          </p:nvCxnSpPr>
          <p:spPr bwMode="auto">
            <a:xfrm>
              <a:off x="9688" y="5541"/>
              <a:ext cx="0" cy="8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9" name="Rectangle 41"/>
            <p:cNvSpPr>
              <a:spLocks noChangeArrowheads="1"/>
            </p:cNvSpPr>
            <p:nvPr/>
          </p:nvSpPr>
          <p:spPr bwMode="auto">
            <a:xfrm>
              <a:off x="2401" y="6057"/>
              <a:ext cx="128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512 b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30" name="Rectangle 40"/>
            <p:cNvSpPr>
              <a:spLocks noChangeArrowheads="1"/>
            </p:cNvSpPr>
            <p:nvPr/>
          </p:nvSpPr>
          <p:spPr bwMode="auto">
            <a:xfrm>
              <a:off x="4050" y="6057"/>
              <a:ext cx="128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512 b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31" name="Rectangle 39"/>
            <p:cNvSpPr>
              <a:spLocks noChangeArrowheads="1"/>
            </p:cNvSpPr>
            <p:nvPr/>
          </p:nvSpPr>
          <p:spPr bwMode="auto">
            <a:xfrm>
              <a:off x="8367" y="6070"/>
              <a:ext cx="128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512 b</a:t>
              </a:r>
              <a:r>
                <a:rPr lang="en-US" sz="1600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32" name="Rectangle 38"/>
            <p:cNvSpPr>
              <a:spLocks noChangeArrowheads="1"/>
            </p:cNvSpPr>
            <p:nvPr/>
          </p:nvSpPr>
          <p:spPr bwMode="auto">
            <a:xfrm>
              <a:off x="5830" y="6395"/>
              <a:ext cx="594" cy="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400">
                  <a:ea typeface="Times New Roman" pitchFamily="18" charset="0"/>
                  <a:cs typeface="Tahoma" pitchFamily="34" charset="0"/>
                </a:rPr>
                <a:t>…</a:t>
              </a:r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.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33" name="Rectangle 37"/>
            <p:cNvSpPr>
              <a:spLocks noChangeArrowheads="1"/>
            </p:cNvSpPr>
            <p:nvPr/>
          </p:nvSpPr>
          <p:spPr bwMode="auto">
            <a:xfrm>
              <a:off x="7178" y="6382"/>
              <a:ext cx="744" cy="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400">
                  <a:ea typeface="Times New Roman" pitchFamily="18" charset="0"/>
                  <a:cs typeface="Tahoma" pitchFamily="34" charset="0"/>
                </a:rPr>
                <a:t>…</a:t>
              </a:r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.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34" name="AutoShape 36"/>
            <p:cNvSpPr>
              <a:spLocks noChangeArrowheads="1"/>
            </p:cNvSpPr>
            <p:nvPr/>
          </p:nvSpPr>
          <p:spPr bwMode="auto">
            <a:xfrm>
              <a:off x="3005" y="7544"/>
              <a:ext cx="338" cy="33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F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35" name="AutoShape 35"/>
            <p:cNvSpPr>
              <a:spLocks noChangeArrowheads="1"/>
            </p:cNvSpPr>
            <p:nvPr/>
          </p:nvSpPr>
          <p:spPr bwMode="auto">
            <a:xfrm>
              <a:off x="3738" y="7505"/>
              <a:ext cx="309" cy="338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/>
            <a:p>
              <a:pPr algn="ctr" eaLnBrk="0" hangingPunct="0"/>
              <a:r>
                <a:rPr lang="en-US" sz="2000">
                  <a:latin typeface="Tahoma" pitchFamily="34" charset="0"/>
                  <a:cs typeface="Times New Roman" pitchFamily="18" charset="0"/>
                  <a:sym typeface="Symbol" pitchFamily="18" charset="2"/>
                </a:rPr>
                <a:t></a:t>
              </a:r>
            </a:p>
          </p:txBody>
        </p:sp>
        <p:cxnSp>
          <p:nvCxnSpPr>
            <p:cNvPr id="17436" name="AutoShape 34"/>
            <p:cNvCxnSpPr>
              <a:cxnSpLocks noChangeShapeType="1"/>
            </p:cNvCxnSpPr>
            <p:nvPr/>
          </p:nvCxnSpPr>
          <p:spPr bwMode="auto">
            <a:xfrm>
              <a:off x="2238" y="7705"/>
              <a:ext cx="76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37" name="AutoShape 33"/>
            <p:cNvCxnSpPr>
              <a:cxnSpLocks noChangeShapeType="1"/>
            </p:cNvCxnSpPr>
            <p:nvPr/>
          </p:nvCxnSpPr>
          <p:spPr bwMode="auto">
            <a:xfrm>
              <a:off x="3343" y="7705"/>
              <a:ext cx="46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38" name="Freeform 32"/>
            <p:cNvSpPr>
              <a:spLocks/>
            </p:cNvSpPr>
            <p:nvPr/>
          </p:nvSpPr>
          <p:spPr bwMode="auto">
            <a:xfrm>
              <a:off x="2677" y="7705"/>
              <a:ext cx="1214" cy="426"/>
            </a:xfrm>
            <a:custGeom>
              <a:avLst/>
              <a:gdLst>
                <a:gd name="T0" fmla="*/ 0 w 1214"/>
                <a:gd name="T1" fmla="*/ 0 h 465"/>
                <a:gd name="T2" fmla="*/ 0 w 1214"/>
                <a:gd name="T3" fmla="*/ 137 h 465"/>
                <a:gd name="T4" fmla="*/ 1214 w 1214"/>
                <a:gd name="T5" fmla="*/ 137 h 465"/>
                <a:gd name="T6" fmla="*/ 1214 w 1214"/>
                <a:gd name="T7" fmla="*/ 40 h 4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14"/>
                <a:gd name="T13" fmla="*/ 0 h 465"/>
                <a:gd name="T14" fmla="*/ 1214 w 1214"/>
                <a:gd name="T15" fmla="*/ 465 h 4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14" h="465">
                  <a:moveTo>
                    <a:pt x="0" y="0"/>
                  </a:moveTo>
                  <a:lnTo>
                    <a:pt x="0" y="465"/>
                  </a:lnTo>
                  <a:lnTo>
                    <a:pt x="1214" y="465"/>
                  </a:lnTo>
                  <a:lnTo>
                    <a:pt x="1214" y="1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Rectangle 31"/>
            <p:cNvSpPr>
              <a:spLocks noChangeArrowheads="1"/>
            </p:cNvSpPr>
            <p:nvPr/>
          </p:nvSpPr>
          <p:spPr bwMode="auto">
            <a:xfrm>
              <a:off x="1985" y="7380"/>
              <a:ext cx="789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IV (H</a:t>
              </a:r>
              <a:r>
                <a:rPr lang="en-US" sz="1400" baseline="-30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0</a:t>
              </a:r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)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40" name="Rectangle 30"/>
            <p:cNvSpPr>
              <a:spLocks noChangeArrowheads="1"/>
            </p:cNvSpPr>
            <p:nvPr/>
          </p:nvSpPr>
          <p:spPr bwMode="auto">
            <a:xfrm>
              <a:off x="2238" y="7732"/>
              <a:ext cx="53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128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41" name="Rectangle 29"/>
            <p:cNvSpPr>
              <a:spLocks noChangeArrowheads="1"/>
            </p:cNvSpPr>
            <p:nvPr/>
          </p:nvSpPr>
          <p:spPr bwMode="auto">
            <a:xfrm>
              <a:off x="3252" y="7432"/>
              <a:ext cx="53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128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42" name="Rectangle 28"/>
            <p:cNvSpPr>
              <a:spLocks noChangeArrowheads="1"/>
            </p:cNvSpPr>
            <p:nvPr/>
          </p:nvSpPr>
          <p:spPr bwMode="auto">
            <a:xfrm>
              <a:off x="3956" y="7407"/>
              <a:ext cx="3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H</a:t>
              </a:r>
              <a:r>
                <a:rPr lang="en-US" sz="1400" baseline="-30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1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43" name="AutoShape 27"/>
            <p:cNvSpPr>
              <a:spLocks noChangeArrowheads="1"/>
            </p:cNvSpPr>
            <p:nvPr/>
          </p:nvSpPr>
          <p:spPr bwMode="auto">
            <a:xfrm>
              <a:off x="4693" y="7535"/>
              <a:ext cx="338" cy="33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F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44" name="AutoShape 26"/>
            <p:cNvSpPr>
              <a:spLocks noChangeArrowheads="1"/>
            </p:cNvSpPr>
            <p:nvPr/>
          </p:nvSpPr>
          <p:spPr bwMode="auto">
            <a:xfrm>
              <a:off x="5426" y="7496"/>
              <a:ext cx="309" cy="338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/>
            <a:p>
              <a:pPr algn="ctr" eaLnBrk="0" hangingPunct="0"/>
              <a:r>
                <a:rPr lang="en-US" sz="2000">
                  <a:latin typeface="Tahoma" pitchFamily="34" charset="0"/>
                  <a:cs typeface="Times New Roman" pitchFamily="18" charset="0"/>
                  <a:sym typeface="Symbol" pitchFamily="18" charset="2"/>
                </a:rPr>
                <a:t></a:t>
              </a:r>
            </a:p>
          </p:txBody>
        </p:sp>
        <p:cxnSp>
          <p:nvCxnSpPr>
            <p:cNvPr id="17445" name="AutoShape 25"/>
            <p:cNvCxnSpPr>
              <a:cxnSpLocks noChangeShapeType="1"/>
            </p:cNvCxnSpPr>
            <p:nvPr/>
          </p:nvCxnSpPr>
          <p:spPr bwMode="auto">
            <a:xfrm>
              <a:off x="3995" y="7697"/>
              <a:ext cx="69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6" name="AutoShape 24"/>
            <p:cNvCxnSpPr>
              <a:cxnSpLocks noChangeShapeType="1"/>
            </p:cNvCxnSpPr>
            <p:nvPr/>
          </p:nvCxnSpPr>
          <p:spPr bwMode="auto">
            <a:xfrm>
              <a:off x="5031" y="7696"/>
              <a:ext cx="46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47" name="Freeform 23"/>
            <p:cNvSpPr>
              <a:spLocks/>
            </p:cNvSpPr>
            <p:nvPr/>
          </p:nvSpPr>
          <p:spPr bwMode="auto">
            <a:xfrm>
              <a:off x="4365" y="7696"/>
              <a:ext cx="1214" cy="426"/>
            </a:xfrm>
            <a:custGeom>
              <a:avLst/>
              <a:gdLst>
                <a:gd name="T0" fmla="*/ 0 w 1214"/>
                <a:gd name="T1" fmla="*/ 0 h 465"/>
                <a:gd name="T2" fmla="*/ 0 w 1214"/>
                <a:gd name="T3" fmla="*/ 137 h 465"/>
                <a:gd name="T4" fmla="*/ 1214 w 1214"/>
                <a:gd name="T5" fmla="*/ 137 h 465"/>
                <a:gd name="T6" fmla="*/ 1214 w 1214"/>
                <a:gd name="T7" fmla="*/ 40 h 4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14"/>
                <a:gd name="T13" fmla="*/ 0 h 465"/>
                <a:gd name="T14" fmla="*/ 1214 w 1214"/>
                <a:gd name="T15" fmla="*/ 465 h 4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14" h="465">
                  <a:moveTo>
                    <a:pt x="0" y="0"/>
                  </a:moveTo>
                  <a:lnTo>
                    <a:pt x="0" y="465"/>
                  </a:lnTo>
                  <a:lnTo>
                    <a:pt x="1214" y="465"/>
                  </a:lnTo>
                  <a:lnTo>
                    <a:pt x="1214" y="1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8" name="Rectangle 22"/>
            <p:cNvSpPr>
              <a:spLocks noChangeArrowheads="1"/>
            </p:cNvSpPr>
            <p:nvPr/>
          </p:nvSpPr>
          <p:spPr bwMode="auto">
            <a:xfrm>
              <a:off x="4940" y="7423"/>
              <a:ext cx="53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128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17449" name="AutoShape 21"/>
            <p:cNvCxnSpPr>
              <a:cxnSpLocks noChangeShapeType="1"/>
            </p:cNvCxnSpPr>
            <p:nvPr/>
          </p:nvCxnSpPr>
          <p:spPr bwMode="auto">
            <a:xfrm>
              <a:off x="5657" y="7706"/>
              <a:ext cx="57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50" name="Rectangle 20"/>
            <p:cNvSpPr>
              <a:spLocks noChangeArrowheads="1"/>
            </p:cNvSpPr>
            <p:nvPr/>
          </p:nvSpPr>
          <p:spPr bwMode="auto">
            <a:xfrm>
              <a:off x="5683" y="7406"/>
              <a:ext cx="3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H</a:t>
              </a:r>
              <a:r>
                <a:rPr lang="en-US" sz="1400" baseline="-30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2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51" name="Rectangle 19"/>
            <p:cNvSpPr>
              <a:spLocks noChangeArrowheads="1"/>
            </p:cNvSpPr>
            <p:nvPr/>
          </p:nvSpPr>
          <p:spPr bwMode="auto">
            <a:xfrm>
              <a:off x="7892" y="7387"/>
              <a:ext cx="3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H</a:t>
              </a:r>
              <a:r>
                <a:rPr lang="en-US" sz="1400" baseline="-30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N-1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52" name="AutoShape 18"/>
            <p:cNvSpPr>
              <a:spLocks noChangeArrowheads="1"/>
            </p:cNvSpPr>
            <p:nvPr/>
          </p:nvSpPr>
          <p:spPr bwMode="auto">
            <a:xfrm>
              <a:off x="8629" y="7515"/>
              <a:ext cx="338" cy="33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F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53" name="AutoShape 17"/>
            <p:cNvSpPr>
              <a:spLocks noChangeArrowheads="1"/>
            </p:cNvSpPr>
            <p:nvPr/>
          </p:nvSpPr>
          <p:spPr bwMode="auto">
            <a:xfrm>
              <a:off x="9362" y="7476"/>
              <a:ext cx="309" cy="338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/>
            <a:p>
              <a:pPr algn="ctr" eaLnBrk="0" hangingPunct="0"/>
              <a:r>
                <a:rPr lang="en-US" sz="2000">
                  <a:latin typeface="Tahoma" pitchFamily="34" charset="0"/>
                  <a:cs typeface="Times New Roman" pitchFamily="18" charset="0"/>
                  <a:sym typeface="Symbol" pitchFamily="18" charset="2"/>
                </a:rPr>
                <a:t></a:t>
              </a:r>
            </a:p>
          </p:txBody>
        </p:sp>
        <p:cxnSp>
          <p:nvCxnSpPr>
            <p:cNvPr id="17454" name="AutoShape 16"/>
            <p:cNvCxnSpPr>
              <a:cxnSpLocks noChangeShapeType="1"/>
            </p:cNvCxnSpPr>
            <p:nvPr/>
          </p:nvCxnSpPr>
          <p:spPr bwMode="auto">
            <a:xfrm>
              <a:off x="7931" y="7677"/>
              <a:ext cx="69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5" name="AutoShape 15"/>
            <p:cNvCxnSpPr>
              <a:cxnSpLocks noChangeShapeType="1"/>
            </p:cNvCxnSpPr>
            <p:nvPr/>
          </p:nvCxnSpPr>
          <p:spPr bwMode="auto">
            <a:xfrm>
              <a:off x="8967" y="7676"/>
              <a:ext cx="46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56" name="Freeform 14"/>
            <p:cNvSpPr>
              <a:spLocks/>
            </p:cNvSpPr>
            <p:nvPr/>
          </p:nvSpPr>
          <p:spPr bwMode="auto">
            <a:xfrm>
              <a:off x="8301" y="7676"/>
              <a:ext cx="1214" cy="426"/>
            </a:xfrm>
            <a:custGeom>
              <a:avLst/>
              <a:gdLst>
                <a:gd name="T0" fmla="*/ 0 w 1214"/>
                <a:gd name="T1" fmla="*/ 0 h 465"/>
                <a:gd name="T2" fmla="*/ 0 w 1214"/>
                <a:gd name="T3" fmla="*/ 137 h 465"/>
                <a:gd name="T4" fmla="*/ 1214 w 1214"/>
                <a:gd name="T5" fmla="*/ 137 h 465"/>
                <a:gd name="T6" fmla="*/ 1214 w 1214"/>
                <a:gd name="T7" fmla="*/ 40 h 4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14"/>
                <a:gd name="T13" fmla="*/ 0 h 465"/>
                <a:gd name="T14" fmla="*/ 1214 w 1214"/>
                <a:gd name="T15" fmla="*/ 465 h 4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14" h="465">
                  <a:moveTo>
                    <a:pt x="0" y="0"/>
                  </a:moveTo>
                  <a:lnTo>
                    <a:pt x="0" y="465"/>
                  </a:lnTo>
                  <a:lnTo>
                    <a:pt x="1214" y="465"/>
                  </a:lnTo>
                  <a:lnTo>
                    <a:pt x="1214" y="1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Rectangle 13"/>
            <p:cNvSpPr>
              <a:spLocks noChangeArrowheads="1"/>
            </p:cNvSpPr>
            <p:nvPr/>
          </p:nvSpPr>
          <p:spPr bwMode="auto">
            <a:xfrm>
              <a:off x="8876" y="7403"/>
              <a:ext cx="53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128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17458" name="AutoShape 12"/>
            <p:cNvCxnSpPr>
              <a:cxnSpLocks noChangeShapeType="1"/>
            </p:cNvCxnSpPr>
            <p:nvPr/>
          </p:nvCxnSpPr>
          <p:spPr bwMode="auto">
            <a:xfrm>
              <a:off x="9593" y="7686"/>
              <a:ext cx="57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59" name="Rectangle 11"/>
            <p:cNvSpPr>
              <a:spLocks noChangeArrowheads="1"/>
            </p:cNvSpPr>
            <p:nvPr/>
          </p:nvSpPr>
          <p:spPr bwMode="auto">
            <a:xfrm>
              <a:off x="9619" y="7386"/>
              <a:ext cx="3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H</a:t>
              </a:r>
              <a:r>
                <a:rPr lang="en-US" sz="1400" baseline="-30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60" name="Rectangle 10"/>
            <p:cNvSpPr>
              <a:spLocks noChangeArrowheads="1"/>
            </p:cNvSpPr>
            <p:nvPr/>
          </p:nvSpPr>
          <p:spPr bwMode="auto">
            <a:xfrm>
              <a:off x="6793" y="7403"/>
              <a:ext cx="594" cy="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400">
                  <a:ea typeface="Times New Roman" pitchFamily="18" charset="0"/>
                  <a:cs typeface="Tahoma" pitchFamily="34" charset="0"/>
                </a:rPr>
                <a:t>…</a:t>
              </a:r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.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61" name="Rectangle 9"/>
            <p:cNvSpPr>
              <a:spLocks noChangeArrowheads="1"/>
            </p:cNvSpPr>
            <p:nvPr/>
          </p:nvSpPr>
          <p:spPr bwMode="auto">
            <a:xfrm>
              <a:off x="9995" y="7712"/>
              <a:ext cx="97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Hash value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62" name="Rectangle 8"/>
            <p:cNvSpPr>
              <a:spLocks noChangeArrowheads="1"/>
            </p:cNvSpPr>
            <p:nvPr/>
          </p:nvSpPr>
          <p:spPr bwMode="auto">
            <a:xfrm>
              <a:off x="10017" y="6520"/>
              <a:ext cx="97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ctr" eaLnBrk="0" hangingPunct="0"/>
              <a:r>
                <a:rPr lang="en-US" sz="16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 block</a:t>
              </a:r>
              <a:endParaRPr lang="en-US" sz="1600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17463" name="AutoShape 7"/>
            <p:cNvCxnSpPr>
              <a:cxnSpLocks noChangeShapeType="1"/>
            </p:cNvCxnSpPr>
            <p:nvPr/>
          </p:nvCxnSpPr>
          <p:spPr bwMode="auto">
            <a:xfrm>
              <a:off x="3163" y="6805"/>
              <a:ext cx="0" cy="7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4" name="AutoShape 6"/>
            <p:cNvCxnSpPr>
              <a:cxnSpLocks noChangeShapeType="1"/>
            </p:cNvCxnSpPr>
            <p:nvPr/>
          </p:nvCxnSpPr>
          <p:spPr bwMode="auto">
            <a:xfrm>
              <a:off x="4868" y="6793"/>
              <a:ext cx="0" cy="7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5" name="AutoShape 5"/>
            <p:cNvCxnSpPr>
              <a:cxnSpLocks noChangeShapeType="1"/>
            </p:cNvCxnSpPr>
            <p:nvPr/>
          </p:nvCxnSpPr>
          <p:spPr bwMode="auto">
            <a:xfrm>
              <a:off x="8802" y="6795"/>
              <a:ext cx="0" cy="7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66" name="Rectangle 4"/>
            <p:cNvSpPr>
              <a:spLocks noChangeArrowheads="1"/>
            </p:cNvSpPr>
            <p:nvPr/>
          </p:nvSpPr>
          <p:spPr bwMode="auto">
            <a:xfrm>
              <a:off x="2994" y="6854"/>
              <a:ext cx="793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512 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67" name="Rectangle 3"/>
            <p:cNvSpPr>
              <a:spLocks noChangeArrowheads="1"/>
            </p:cNvSpPr>
            <p:nvPr/>
          </p:nvSpPr>
          <p:spPr bwMode="auto">
            <a:xfrm>
              <a:off x="4725" y="6855"/>
              <a:ext cx="793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512 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17468" name="Rectangle 2"/>
            <p:cNvSpPr>
              <a:spLocks noChangeArrowheads="1"/>
            </p:cNvSpPr>
            <p:nvPr/>
          </p:nvSpPr>
          <p:spPr bwMode="auto">
            <a:xfrm>
              <a:off x="8649" y="6845"/>
              <a:ext cx="793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sz="14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512 </a:t>
              </a:r>
              <a:endParaRPr lang="en-US" sz="1400">
                <a:ea typeface="Times New Roman" pitchFamily="18" charset="0"/>
                <a:cs typeface="Tahoma" pitchFamily="34" charset="0"/>
              </a:endParaRPr>
            </a:p>
          </p:txBody>
        </p:sp>
      </p:grpSp>
      <p:sp>
        <p:nvSpPr>
          <p:cNvPr id="17413" name="Rectangle 3"/>
          <p:cNvSpPr txBox="1">
            <a:spLocks noChangeArrowheads="1"/>
          </p:cNvSpPr>
          <p:nvPr/>
        </p:nvSpPr>
        <p:spPr bwMode="auto">
          <a:xfrm>
            <a:off x="381000" y="172872"/>
            <a:ext cx="853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indent="0" eaLnBrk="1" hangingPunct="1">
              <a:lnSpc>
                <a:spcPct val="130000"/>
              </a:lnSpc>
            </a:pPr>
            <a:r>
              <a:rPr lang="en-US" sz="2400" b="1">
                <a:solidFill>
                  <a:schemeClr val="bg1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Sơ đồ tính giá trị Hash MD5-128:</a:t>
            </a:r>
          </a:p>
        </p:txBody>
      </p:sp>
    </p:spTree>
    <p:extLst>
      <p:ext uri="{BB962C8B-B14F-4D97-AF65-F5344CB8AC3E}">
        <p14:creationId xmlns:p14="http://schemas.microsoft.com/office/powerpoint/2010/main" val="3211216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381000" y="1371600"/>
            <a:ext cx="8534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130000"/>
              </a:lnSpc>
              <a:buFont typeface="+mj-lt"/>
              <a:buAutoNum type="arabicParenR"/>
              <a:defRPr/>
            </a:pPr>
            <a:r>
              <a:rPr lang="en-US" sz="2800" b="1">
                <a:latin typeface="Tahoma" pitchFamily="34" charset="0"/>
                <a:ea typeface="Arial-Rounded" pitchFamily="34" charset="0"/>
                <a:cs typeface="Tahoma" pitchFamily="34" charset="0"/>
              </a:rPr>
              <a:t>Download file </a:t>
            </a: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562CFE-6650-4B10-91F4-0F856E8BE3E1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1031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32" name="Text Box 6"/>
          <p:cNvSpPr txBox="1">
            <a:spLocks noChangeArrowheads="1"/>
          </p:cNvSpPr>
          <p:nvPr/>
        </p:nvSpPr>
        <p:spPr bwMode="auto">
          <a:xfrm>
            <a:off x="2066925" y="4525963"/>
            <a:ext cx="7239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033" name="Text Box 7"/>
          <p:cNvSpPr txBox="1">
            <a:spLocks noChangeArrowheads="1"/>
          </p:cNvSpPr>
          <p:nvPr/>
        </p:nvSpPr>
        <p:spPr bwMode="auto">
          <a:xfrm>
            <a:off x="4889500" y="4637088"/>
            <a:ext cx="7318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1034" name="Group 14"/>
          <p:cNvGrpSpPr>
            <a:grpSpLocks/>
          </p:cNvGrpSpPr>
          <p:nvPr/>
        </p:nvGrpSpPr>
        <p:grpSpPr bwMode="auto">
          <a:xfrm>
            <a:off x="2819400" y="2057400"/>
            <a:ext cx="3705225" cy="1404938"/>
            <a:chOff x="2695575" y="4462463"/>
            <a:chExt cx="2501900" cy="874712"/>
          </a:xfrm>
        </p:grpSpPr>
        <p:cxnSp>
          <p:nvCxnSpPr>
            <p:cNvPr id="1038" name="AutoShape 8"/>
            <p:cNvCxnSpPr>
              <a:cxnSpLocks noChangeShapeType="1"/>
            </p:cNvCxnSpPr>
            <p:nvPr/>
          </p:nvCxnSpPr>
          <p:spPr bwMode="auto">
            <a:xfrm>
              <a:off x="2695575" y="5041900"/>
              <a:ext cx="228917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39" name="AutoShape 9"/>
            <p:cNvSpPr>
              <a:spLocks noChangeArrowheads="1"/>
            </p:cNvSpPr>
            <p:nvPr/>
          </p:nvSpPr>
          <p:spPr bwMode="auto">
            <a:xfrm>
              <a:off x="3268663" y="4645025"/>
              <a:ext cx="1223962" cy="692150"/>
            </a:xfrm>
            <a:prstGeom prst="star16">
              <a:avLst>
                <a:gd name="adj" fmla="val 375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>
                  <a:latin typeface="Calibri" pitchFamily="34" charset="0"/>
                </a:rPr>
                <a:t>Internet</a:t>
              </a:r>
              <a:endParaRPr lang="en-US"/>
            </a:p>
          </p:txBody>
        </p:sp>
        <p:sp>
          <p:nvSpPr>
            <p:cNvPr id="1040" name="Text Box 10"/>
            <p:cNvSpPr txBox="1">
              <a:spLocks noChangeArrowheads="1"/>
            </p:cNvSpPr>
            <p:nvPr/>
          </p:nvSpPr>
          <p:spPr bwMode="auto">
            <a:xfrm>
              <a:off x="4210050" y="4462463"/>
              <a:ext cx="9874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Aft>
                  <a:spcPts val="1000"/>
                </a:spcAft>
              </a:pPr>
              <a:r>
                <a:rPr lang="en-US">
                  <a:latin typeface="Calibri" pitchFamily="34" charset="0"/>
                </a:rPr>
                <a:t>download</a:t>
              </a:r>
              <a:endParaRPr lang="en-US"/>
            </a:p>
          </p:txBody>
        </p:sp>
      </p:grpSp>
      <p:sp>
        <p:nvSpPr>
          <p:cNvPr id="1035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6" name="Object 11"/>
          <p:cNvGraphicFramePr>
            <a:graphicFrameLocks noChangeAspect="1"/>
          </p:cNvGraphicFramePr>
          <p:nvPr/>
        </p:nvGraphicFramePr>
        <p:xfrm>
          <a:off x="6189663" y="2590800"/>
          <a:ext cx="82073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66651" imgH="1111431" progId="Visio.Drawing.11">
                  <p:embed/>
                </p:oleObj>
              </mc:Choice>
              <mc:Fallback>
                <p:oleObj name="Visio" r:id="rId3" imgW="966651" imgH="1111431" progId="Visio.Drawing.11">
                  <p:embed/>
                  <p:pic>
                    <p:nvPicPr>
                      <p:cNvPr id="102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9663" y="2590800"/>
                        <a:ext cx="820737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7" name="Object 13"/>
          <p:cNvGraphicFramePr>
            <a:graphicFrameLocks noChangeAspect="1"/>
          </p:cNvGraphicFramePr>
          <p:nvPr/>
        </p:nvGraphicFramePr>
        <p:xfrm>
          <a:off x="1981200" y="2514600"/>
          <a:ext cx="77152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702129" imgH="1225731" progId="Visio.Drawing.11">
                  <p:embed/>
                </p:oleObj>
              </mc:Choice>
              <mc:Fallback>
                <p:oleObj name="Visio" r:id="rId5" imgW="702129" imgH="1225731" progId="Visio.Drawing.11">
                  <p:embed/>
                  <p:pic>
                    <p:nvPicPr>
                      <p:cNvPr id="102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514600"/>
                        <a:ext cx="771525" cy="1327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609600" y="3886200"/>
            <a:ext cx="8001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-457200">
              <a:lnSpc>
                <a:spcPct val="13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Nếu chất lượng đường truyền không tốt, file download về máy client có thể bị sai so với file gốc trên máy chủ </a:t>
            </a:r>
          </a:p>
          <a:p>
            <a:pPr indent="-457200">
              <a:lnSpc>
                <a:spcPct val="130000"/>
              </a:lnSpc>
              <a:buFont typeface="Wingdings" pitchFamily="2" charset="2"/>
              <a:buChar char="à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Làm sao người download biết file đã bị hỏng?</a:t>
            </a:r>
          </a:p>
          <a:p>
            <a:pPr indent="-457200">
              <a:lnSpc>
                <a:spcPct val="130000"/>
              </a:lnSpc>
              <a:buFont typeface="Wingdings" pitchFamily="2" charset="2"/>
              <a:buChar char="à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Dùng hàm băm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924800" cy="563563"/>
          </a:xfrm>
        </p:spPr>
        <p:txBody>
          <a:bodyPr/>
          <a:lstStyle/>
          <a:p>
            <a:r>
              <a:rPr lang="en-US"/>
              <a:t>IV. </a:t>
            </a:r>
            <a:r>
              <a:rPr lang="vi-VN"/>
              <a:t>Ứng dụng của hàm băm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51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77ABC4-A5E8-4764-9A52-C36008C405F7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25603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2066925" y="4525963"/>
            <a:ext cx="7239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5605" name="Text Box 7"/>
          <p:cNvSpPr txBox="1">
            <a:spLocks noChangeArrowheads="1"/>
          </p:cNvSpPr>
          <p:nvPr/>
        </p:nvSpPr>
        <p:spPr bwMode="auto">
          <a:xfrm>
            <a:off x="4889500" y="4637088"/>
            <a:ext cx="7318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560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07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560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400"/>
            <a:ext cx="8839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124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68E6D1-387E-4885-AF8F-B2B0C5C5FCA8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26627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628" name="Text Box 6"/>
          <p:cNvSpPr txBox="1">
            <a:spLocks noChangeArrowheads="1"/>
          </p:cNvSpPr>
          <p:nvPr/>
        </p:nvSpPr>
        <p:spPr bwMode="auto">
          <a:xfrm>
            <a:off x="2066925" y="4525963"/>
            <a:ext cx="7239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6629" name="Text Box 7"/>
          <p:cNvSpPr txBox="1">
            <a:spLocks noChangeArrowheads="1"/>
          </p:cNvSpPr>
          <p:nvPr/>
        </p:nvSpPr>
        <p:spPr bwMode="auto">
          <a:xfrm>
            <a:off x="4078288" y="2125662"/>
            <a:ext cx="1435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download</a:t>
            </a:r>
          </a:p>
        </p:txBody>
      </p:sp>
      <p:sp>
        <p:nvSpPr>
          <p:cNvPr id="2663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631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249488" y="2354262"/>
            <a:ext cx="1295400" cy="5334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File 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3288" y="2354262"/>
            <a:ext cx="1295400" cy="5334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File 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8263" y="3733800"/>
            <a:ext cx="609600" cy="5334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H</a:t>
            </a:r>
            <a:r>
              <a:rPr lang="en-US" sz="2400" baseline="-25000"/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88" y="3725862"/>
            <a:ext cx="609600" cy="5334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H</a:t>
            </a:r>
            <a:r>
              <a:rPr lang="en-US" sz="2400" baseline="-25000"/>
              <a:t>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88" y="1287462"/>
            <a:ext cx="1295400" cy="5334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3288" y="1287462"/>
            <a:ext cx="1295400" cy="5334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/>
              <a:t>Client</a:t>
            </a:r>
          </a:p>
        </p:txBody>
      </p:sp>
      <p:cxnSp>
        <p:nvCxnSpPr>
          <p:cNvPr id="17" name="Straight Arrow Connector 16"/>
          <p:cNvCxnSpPr>
            <a:stCxn id="10" idx="3"/>
            <a:endCxn id="11" idx="1"/>
          </p:cNvCxnSpPr>
          <p:nvPr/>
        </p:nvCxnSpPr>
        <p:spPr>
          <a:xfrm>
            <a:off x="3544888" y="2620962"/>
            <a:ext cx="24384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3"/>
            <a:endCxn id="13" idx="1"/>
          </p:cNvCxnSpPr>
          <p:nvPr/>
        </p:nvCxnSpPr>
        <p:spPr>
          <a:xfrm flipV="1">
            <a:off x="3217863" y="3992562"/>
            <a:ext cx="3146425" cy="7938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40" name="Text Box 7"/>
          <p:cNvSpPr txBox="1">
            <a:spLocks noChangeArrowheads="1"/>
          </p:cNvSpPr>
          <p:nvPr/>
        </p:nvSpPr>
        <p:spPr bwMode="auto">
          <a:xfrm>
            <a:off x="3697288" y="3573462"/>
            <a:ext cx="2209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so sánh bằng mắt</a:t>
            </a:r>
          </a:p>
        </p:txBody>
      </p:sp>
      <p:sp>
        <p:nvSpPr>
          <p:cNvPr id="23" name="Freeform 22"/>
          <p:cNvSpPr/>
          <p:nvPr/>
        </p:nvSpPr>
        <p:spPr>
          <a:xfrm>
            <a:off x="1905000" y="2705100"/>
            <a:ext cx="700088" cy="1158875"/>
          </a:xfrm>
          <a:custGeom>
            <a:avLst/>
            <a:gdLst>
              <a:gd name="connsiteX0" fmla="*/ 345743 w 700585"/>
              <a:gd name="connsiteY0" fmla="*/ 0 h 1160059"/>
              <a:gd name="connsiteX1" fmla="*/ 59140 w 700585"/>
              <a:gd name="connsiteY1" fmla="*/ 573206 h 1160059"/>
              <a:gd name="connsiteX2" fmla="*/ 700585 w 700585"/>
              <a:gd name="connsiteY2" fmla="*/ 1160059 h 1160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585" h="1160059">
                <a:moveTo>
                  <a:pt x="345743" y="0"/>
                </a:moveTo>
                <a:cubicBezTo>
                  <a:pt x="172871" y="189931"/>
                  <a:pt x="0" y="379863"/>
                  <a:pt x="59140" y="573206"/>
                </a:cubicBezTo>
                <a:cubicBezTo>
                  <a:pt x="118280" y="766549"/>
                  <a:pt x="409432" y="963304"/>
                  <a:pt x="700585" y="1160059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6972300" y="2676525"/>
            <a:ext cx="692150" cy="1255712"/>
          </a:xfrm>
          <a:custGeom>
            <a:avLst/>
            <a:gdLst>
              <a:gd name="connsiteX0" fmla="*/ 300250 w 691486"/>
              <a:gd name="connsiteY0" fmla="*/ 0 h 1255594"/>
              <a:gd name="connsiteX1" fmla="*/ 641444 w 691486"/>
              <a:gd name="connsiteY1" fmla="*/ 682388 h 1255594"/>
              <a:gd name="connsiteX2" fmla="*/ 0 w 691486"/>
              <a:gd name="connsiteY2" fmla="*/ 1255594 h 1255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1486" h="1255594">
                <a:moveTo>
                  <a:pt x="300250" y="0"/>
                </a:moveTo>
                <a:cubicBezTo>
                  <a:pt x="495868" y="236561"/>
                  <a:pt x="691486" y="473123"/>
                  <a:pt x="641444" y="682388"/>
                </a:cubicBezTo>
                <a:cubicBezTo>
                  <a:pt x="591402" y="891653"/>
                  <a:pt x="295701" y="1073623"/>
                  <a:pt x="0" y="1255594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85800" y="4876800"/>
            <a:ext cx="7848600" cy="9906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sz="2400">
                <a:latin typeface="Tahoma" pitchFamily="34" charset="0"/>
                <a:cs typeface="Tahoma" pitchFamily="34" charset="0"/>
              </a:rPr>
              <a:t>Nếu H</a:t>
            </a:r>
            <a:r>
              <a:rPr lang="en-US" sz="2400" baseline="-25000">
                <a:latin typeface="Tahoma" pitchFamily="34" charset="0"/>
                <a:cs typeface="Tahoma" pitchFamily="34" charset="0"/>
              </a:rPr>
              <a:t>X</a:t>
            </a:r>
            <a:r>
              <a:rPr lang="en-US" sz="2400">
                <a:latin typeface="Tahoma" pitchFamily="34" charset="0"/>
                <a:cs typeface="Tahoma" pitchFamily="34" charset="0"/>
              </a:rPr>
              <a:t> = H</a:t>
            </a:r>
            <a:r>
              <a:rPr lang="en-US" sz="2400" baseline="-25000">
                <a:latin typeface="Tahoma" pitchFamily="34" charset="0"/>
                <a:cs typeface="Tahoma" pitchFamily="34" charset="0"/>
              </a:rPr>
              <a:t>Y</a:t>
            </a:r>
            <a:r>
              <a:rPr lang="en-US" sz="2400">
                <a:latin typeface="Tahoma" pitchFamily="34" charset="0"/>
                <a:cs typeface="Tahoma" pitchFamily="34" charset="0"/>
              </a:rPr>
              <a:t>  </a:t>
            </a:r>
            <a:r>
              <a:rPr lang="en-US" sz="2400">
                <a:latin typeface="Tahoma" pitchFamily="34" charset="0"/>
                <a:cs typeface="Tahoma" pitchFamily="34" charset="0"/>
                <a:sym typeface="Wingdings" pitchFamily="2" charset="2"/>
              </a:rPr>
              <a:t> theo tính chất hàm hash: File X = File Y  quá trình download không xảy ra lỗi</a:t>
            </a:r>
            <a:endParaRPr lang="en-US" sz="240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481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304800" y="304800"/>
            <a:ext cx="853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>
              <a:lnSpc>
                <a:spcPct val="130000"/>
              </a:lnSpc>
              <a:buFont typeface="+mj-lt"/>
              <a:buAutoNum type="arabicParenR" startAt="2"/>
              <a:defRPr/>
            </a:pPr>
            <a:r>
              <a:rPr lang="en-US" sz="2800" b="1">
                <a:solidFill>
                  <a:schemeClr val="bg1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Lưu trữ mật khẩu trong database </a:t>
            </a:r>
          </a:p>
          <a:p>
            <a:pPr indent="457200">
              <a:lnSpc>
                <a:spcPct val="130000"/>
              </a:lnSpc>
              <a:defRPr/>
            </a:pPr>
            <a:endParaRPr lang="en-US" sz="2400" b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 b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4B7A83-9817-4F7D-8FD4-D5FB85829854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27652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53" name="Text Box 6"/>
          <p:cNvSpPr txBox="1">
            <a:spLocks noChangeArrowheads="1"/>
          </p:cNvSpPr>
          <p:nvPr/>
        </p:nvSpPr>
        <p:spPr bwMode="auto">
          <a:xfrm>
            <a:off x="2066925" y="4525963"/>
            <a:ext cx="7239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7654" name="Text Box 7"/>
          <p:cNvSpPr txBox="1">
            <a:spLocks noChangeArrowheads="1"/>
          </p:cNvSpPr>
          <p:nvPr/>
        </p:nvSpPr>
        <p:spPr bwMode="auto">
          <a:xfrm>
            <a:off x="4889500" y="4637088"/>
            <a:ext cx="7318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7655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5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762000" y="1143000"/>
            <a:ext cx="8001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-457200">
              <a:lnSpc>
                <a:spcPct val="13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Các phần mềm thường lưu trữ mật khẩu người sử dụng trong database.</a:t>
            </a: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pic>
        <p:nvPicPr>
          <p:cNvPr id="2765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362200"/>
            <a:ext cx="56388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762000" y="4114800"/>
            <a:ext cx="8001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-457200">
              <a:lnSpc>
                <a:spcPct val="13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Nếu mật khẩu không được mã hóa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có thể lộ mật khẩu do hacker hay do administrator.</a:t>
            </a:r>
          </a:p>
          <a:p>
            <a:pPr indent="-457200">
              <a:lnSpc>
                <a:spcPct val="13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Chỉ cần lưu trữ giá trị hash của mật khẩu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199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A608E0-74E8-4B90-A21F-0F31822E62CE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28675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6" name="Text Box 7"/>
          <p:cNvSpPr txBox="1">
            <a:spLocks noChangeArrowheads="1"/>
          </p:cNvSpPr>
          <p:nvPr/>
        </p:nvSpPr>
        <p:spPr bwMode="auto">
          <a:xfrm>
            <a:off x="4889500" y="4637088"/>
            <a:ext cx="7318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8677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381000" y="1143000"/>
            <a:ext cx="8382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-457200">
              <a:lnSpc>
                <a:spcPct val="13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Chỉ cần lưu trữ giá trị hash của mật khẩu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28680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81" name="Text Box 21"/>
          <p:cNvSpPr txBox="1">
            <a:spLocks noChangeArrowheads="1"/>
          </p:cNvSpPr>
          <p:nvPr/>
        </p:nvSpPr>
        <p:spPr bwMode="auto">
          <a:xfrm>
            <a:off x="1524000" y="2387600"/>
            <a:ext cx="465138" cy="4841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9144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i="1">
                <a:latin typeface="Cambria" pitchFamily="18" charset="0"/>
                <a:ea typeface="Times New Roman" pitchFamily="18" charset="0"/>
                <a:cs typeface="Tahoma" pitchFamily="34" charset="0"/>
              </a:rPr>
              <a:t>m</a:t>
            </a:r>
            <a:endParaRPr lang="en-US" sz="2400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28682" name="AutoShape 20"/>
          <p:cNvCxnSpPr>
            <a:cxnSpLocks noChangeShapeType="1"/>
          </p:cNvCxnSpPr>
          <p:nvPr/>
        </p:nvCxnSpPr>
        <p:spPr bwMode="auto">
          <a:xfrm flipV="1">
            <a:off x="5491163" y="2606675"/>
            <a:ext cx="866775" cy="31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3" name="AutoShape 19"/>
          <p:cNvSpPr>
            <a:spLocks noChangeArrowheads="1"/>
          </p:cNvSpPr>
          <p:nvPr/>
        </p:nvSpPr>
        <p:spPr bwMode="auto">
          <a:xfrm>
            <a:off x="2724150" y="2387600"/>
            <a:ext cx="1558925" cy="46037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91440" rIns="18000" bIns="18000"/>
          <a:lstStyle/>
          <a:p>
            <a:pPr algn="ctr" eaLnBrk="0" hangingPunct="0"/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T</a:t>
            </a:r>
            <a:r>
              <a:rPr lang="en-US">
                <a:ea typeface="Times New Roman" pitchFamily="18" charset="0"/>
                <a:cs typeface="Tahoma" pitchFamily="34" charset="0"/>
              </a:rPr>
              <a:t>í</a:t>
            </a:r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nh Hash</a:t>
            </a:r>
            <a:endParaRPr lang="en-US">
              <a:ea typeface="Times New Roman" pitchFamily="18" charset="0"/>
              <a:cs typeface="Tahoma" pitchFamily="34" charset="0"/>
            </a:endParaRPr>
          </a:p>
          <a:p>
            <a:pPr eaLnBrk="0" hangingPunct="0"/>
            <a:endParaRPr lang="en-US">
              <a:ea typeface="Times New Roman" pitchFamily="18" charset="0"/>
              <a:cs typeface="Tahoma" pitchFamily="34" charset="0"/>
            </a:endParaRPr>
          </a:p>
        </p:txBody>
      </p:sp>
      <p:sp>
        <p:nvSpPr>
          <p:cNvPr id="28684" name="Text Box 18"/>
          <p:cNvSpPr txBox="1">
            <a:spLocks noChangeArrowheads="1"/>
          </p:cNvSpPr>
          <p:nvPr/>
        </p:nvSpPr>
        <p:spPr bwMode="auto">
          <a:xfrm>
            <a:off x="4989513" y="2351088"/>
            <a:ext cx="501650" cy="520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9144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i="1">
                <a:latin typeface="Cambria" pitchFamily="18" charset="0"/>
                <a:ea typeface="Times New Roman" pitchFamily="18" charset="0"/>
                <a:cs typeface="Tahoma" pitchFamily="34" charset="0"/>
              </a:rPr>
              <a:t>h</a:t>
            </a:r>
            <a:endParaRPr lang="en-US" sz="2400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28685" name="AutoShape 15"/>
          <p:cNvCxnSpPr>
            <a:cxnSpLocks noChangeShapeType="1"/>
          </p:cNvCxnSpPr>
          <p:nvPr/>
        </p:nvCxnSpPr>
        <p:spPr bwMode="auto">
          <a:xfrm flipV="1">
            <a:off x="4283075" y="2606675"/>
            <a:ext cx="70643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6" name="AutoShape 14"/>
          <p:cNvCxnSpPr>
            <a:cxnSpLocks noChangeShapeType="1"/>
          </p:cNvCxnSpPr>
          <p:nvPr/>
        </p:nvCxnSpPr>
        <p:spPr bwMode="auto">
          <a:xfrm>
            <a:off x="1989138" y="2606675"/>
            <a:ext cx="73501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7" name="AutoShape 13"/>
          <p:cNvSpPr>
            <a:spLocks noChangeArrowheads="1"/>
          </p:cNvSpPr>
          <p:nvPr/>
        </p:nvSpPr>
        <p:spPr bwMode="auto">
          <a:xfrm>
            <a:off x="6357938" y="2243138"/>
            <a:ext cx="1160462" cy="728662"/>
          </a:xfrm>
          <a:prstGeom prst="can">
            <a:avLst>
              <a:gd name="adj" fmla="val 25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91440" rIns="18000" bIns="18000"/>
          <a:lstStyle/>
          <a:p>
            <a:pPr algn="ctr" eaLnBrk="0" hangingPunct="0"/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L</a:t>
            </a:r>
            <a:r>
              <a:rPr lang="vi-VN">
                <a:latin typeface="Tahoma" pitchFamily="34" charset="0"/>
                <a:ea typeface="Times New Roman" pitchFamily="18" charset="0"/>
                <a:cs typeface="Tahoma" pitchFamily="34" charset="0"/>
              </a:rPr>
              <a:t>ưu trữ</a:t>
            </a:r>
            <a:endParaRPr lang="vi-VN">
              <a:ea typeface="Times New Roman" pitchFamily="18" charset="0"/>
              <a:cs typeface="Tahoma" pitchFamily="34" charset="0"/>
            </a:endParaRPr>
          </a:p>
        </p:txBody>
      </p:sp>
      <p:pic>
        <p:nvPicPr>
          <p:cNvPr id="28688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962400"/>
            <a:ext cx="8763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8814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DC5C9E-48E1-43D9-9707-08E13D95BCF0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29699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1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381000" y="1066800"/>
            <a:ext cx="8382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-457200">
              <a:lnSpc>
                <a:spcPct val="13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Để chứng thực mật khẩu khi đăng nhập: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29703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4" name="Text Box 16"/>
          <p:cNvSpPr txBox="1">
            <a:spLocks noChangeArrowheads="1"/>
          </p:cNvSpPr>
          <p:nvPr/>
        </p:nvSpPr>
        <p:spPr bwMode="auto">
          <a:xfrm>
            <a:off x="6283325" y="3313113"/>
            <a:ext cx="1260475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So s</a:t>
            </a:r>
            <a:r>
              <a:rPr lang="en-US">
                <a:ea typeface="Times New Roman" pitchFamily="18" charset="0"/>
                <a:cs typeface="Tahoma" pitchFamily="34" charset="0"/>
              </a:rPr>
              <a:t>á</a:t>
            </a:r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nh</a:t>
            </a:r>
            <a:endParaRPr lang="en-US">
              <a:ea typeface="Times New Roman" pitchFamily="18" charset="0"/>
              <a:cs typeface="Tahoma" pitchFamily="34" charset="0"/>
            </a:endParaRPr>
          </a:p>
        </p:txBody>
      </p:sp>
      <p:sp>
        <p:nvSpPr>
          <p:cNvPr id="29705" name="Text Box 12"/>
          <p:cNvSpPr txBox="1">
            <a:spLocks noChangeArrowheads="1"/>
          </p:cNvSpPr>
          <p:nvPr/>
        </p:nvSpPr>
        <p:spPr bwMode="auto">
          <a:xfrm>
            <a:off x="1524000" y="3265488"/>
            <a:ext cx="465138" cy="484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i="1">
                <a:latin typeface="Cambria" pitchFamily="18" charset="0"/>
                <a:ea typeface="Times New Roman" pitchFamily="18" charset="0"/>
                <a:cs typeface="Tahoma" pitchFamily="34" charset="0"/>
              </a:rPr>
              <a:t>m'</a:t>
            </a:r>
            <a:endParaRPr lang="en-US" sz="2400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29706" name="AutoShape 11"/>
          <p:cNvCxnSpPr>
            <a:cxnSpLocks noChangeShapeType="1"/>
          </p:cNvCxnSpPr>
          <p:nvPr/>
        </p:nvCxnSpPr>
        <p:spPr bwMode="auto">
          <a:xfrm>
            <a:off x="5491163" y="3487738"/>
            <a:ext cx="81756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7" name="AutoShape 10"/>
          <p:cNvSpPr>
            <a:spLocks noChangeArrowheads="1"/>
          </p:cNvSpPr>
          <p:nvPr/>
        </p:nvSpPr>
        <p:spPr bwMode="auto">
          <a:xfrm>
            <a:off x="2724150" y="3265488"/>
            <a:ext cx="1558925" cy="46037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91440" rIns="18000" bIns="18000"/>
          <a:lstStyle/>
          <a:p>
            <a:pPr algn="ctr" eaLnBrk="0" hangingPunct="0"/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T</a:t>
            </a:r>
            <a:r>
              <a:rPr lang="en-US">
                <a:ea typeface="Times New Roman" pitchFamily="18" charset="0"/>
                <a:cs typeface="Tahoma" pitchFamily="34" charset="0"/>
              </a:rPr>
              <a:t>í</a:t>
            </a:r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nh Hash</a:t>
            </a:r>
            <a:endParaRPr lang="en-US">
              <a:ea typeface="Times New Roman" pitchFamily="18" charset="0"/>
              <a:cs typeface="Tahoma" pitchFamily="34" charset="0"/>
            </a:endParaRPr>
          </a:p>
          <a:p>
            <a:pPr eaLnBrk="0" hangingPunct="0"/>
            <a:endParaRPr lang="en-US">
              <a:ea typeface="Times New Roman" pitchFamily="18" charset="0"/>
              <a:cs typeface="Tahoma" pitchFamily="34" charset="0"/>
            </a:endParaRPr>
          </a:p>
        </p:txBody>
      </p:sp>
      <p:sp>
        <p:nvSpPr>
          <p:cNvPr id="29708" name="Text Box 9"/>
          <p:cNvSpPr txBox="1">
            <a:spLocks noChangeArrowheads="1"/>
          </p:cNvSpPr>
          <p:nvPr/>
        </p:nvSpPr>
        <p:spPr bwMode="auto">
          <a:xfrm>
            <a:off x="4989513" y="3228975"/>
            <a:ext cx="501650" cy="520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i="1">
                <a:latin typeface="Cambria" pitchFamily="18" charset="0"/>
                <a:ea typeface="Times New Roman" pitchFamily="18" charset="0"/>
                <a:cs typeface="Tahoma" pitchFamily="34" charset="0"/>
              </a:rPr>
              <a:t>h'</a:t>
            </a:r>
            <a:endParaRPr lang="en-US" sz="2400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29709" name="AutoShape 8"/>
          <p:cNvCxnSpPr>
            <a:cxnSpLocks noChangeShapeType="1"/>
          </p:cNvCxnSpPr>
          <p:nvPr/>
        </p:nvCxnSpPr>
        <p:spPr bwMode="auto">
          <a:xfrm flipV="1">
            <a:off x="4283075" y="3482975"/>
            <a:ext cx="706438" cy="15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0" name="AutoShape 7"/>
          <p:cNvCxnSpPr>
            <a:cxnSpLocks noChangeShapeType="1"/>
          </p:cNvCxnSpPr>
          <p:nvPr/>
        </p:nvCxnSpPr>
        <p:spPr bwMode="auto">
          <a:xfrm>
            <a:off x="1989138" y="3482975"/>
            <a:ext cx="735012" cy="15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1" name="AutoShape 6"/>
          <p:cNvSpPr>
            <a:spLocks noChangeArrowheads="1"/>
          </p:cNvSpPr>
          <p:nvPr/>
        </p:nvSpPr>
        <p:spPr bwMode="auto">
          <a:xfrm>
            <a:off x="6383338" y="1447800"/>
            <a:ext cx="1160462" cy="728663"/>
          </a:xfrm>
          <a:prstGeom prst="can">
            <a:avLst>
              <a:gd name="adj" fmla="val 25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91440" rIns="18000" bIns="18000"/>
          <a:lstStyle/>
          <a:p>
            <a:pPr algn="ctr" eaLnBrk="0" hangingPunct="0"/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L</a:t>
            </a:r>
            <a:r>
              <a:rPr lang="vi-VN">
                <a:latin typeface="Tahoma" pitchFamily="34" charset="0"/>
                <a:ea typeface="Times New Roman" pitchFamily="18" charset="0"/>
                <a:cs typeface="Tahoma" pitchFamily="34" charset="0"/>
              </a:rPr>
              <a:t>ưu trữ</a:t>
            </a:r>
            <a:endParaRPr lang="vi-VN">
              <a:ea typeface="Times New Roman" pitchFamily="18" charset="0"/>
              <a:cs typeface="Tahoma" pitchFamily="34" charset="0"/>
            </a:endParaRPr>
          </a:p>
        </p:txBody>
      </p:sp>
      <p:sp>
        <p:nvSpPr>
          <p:cNvPr id="29712" name="Text Box 5"/>
          <p:cNvSpPr txBox="1">
            <a:spLocks noChangeArrowheads="1"/>
          </p:cNvSpPr>
          <p:nvPr/>
        </p:nvSpPr>
        <p:spPr bwMode="auto">
          <a:xfrm>
            <a:off x="6694488" y="2501900"/>
            <a:ext cx="501650" cy="425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400" i="1">
                <a:latin typeface="Cambria" pitchFamily="18" charset="0"/>
                <a:ea typeface="Times New Roman" pitchFamily="18" charset="0"/>
                <a:cs typeface="Tahoma" pitchFamily="34" charset="0"/>
              </a:rPr>
              <a:t>h</a:t>
            </a:r>
            <a:endParaRPr lang="en-US" sz="2400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29713" name="AutoShape 4"/>
          <p:cNvCxnSpPr>
            <a:cxnSpLocks noChangeShapeType="1"/>
          </p:cNvCxnSpPr>
          <p:nvPr/>
        </p:nvCxnSpPr>
        <p:spPr bwMode="auto">
          <a:xfrm>
            <a:off x="6942138" y="2176463"/>
            <a:ext cx="0" cy="3254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4" name="AutoShape 3"/>
          <p:cNvCxnSpPr>
            <a:cxnSpLocks noChangeShapeType="1"/>
          </p:cNvCxnSpPr>
          <p:nvPr/>
        </p:nvCxnSpPr>
        <p:spPr bwMode="auto">
          <a:xfrm>
            <a:off x="6942138" y="2927350"/>
            <a:ext cx="0" cy="3254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304800" y="4191000"/>
            <a:ext cx="8382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-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Do tính một chiều, từ giá trị hash không suy ra lại được mật khẩu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mật khẩu được bảo mật</a:t>
            </a:r>
          </a:p>
          <a:p>
            <a:pPr indent="-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Do tính chống trùng, phải nhập đúng mật khẩu thì mới tạo được giá trị hash giống với giá trị đang lưu trong database  đáp ứng tính năng đăng nhập.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81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6400800" y="1371600"/>
            <a:ext cx="2514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Chữ ký: Người gửi chịu trách nhiệm đã gửi văn bản</a:t>
            </a:r>
          </a:p>
          <a:p>
            <a:pPr>
              <a:lnSpc>
                <a:spcPct val="13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- Văn bản không bị sửa đổi sau khi ký.</a:t>
            </a: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794EF9-4EB5-404D-93DA-8931EF3DBA17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20485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04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5715000" cy="54340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V. </a:t>
            </a:r>
            <a:r>
              <a:rPr lang="vi-VN"/>
              <a:t>Hàm băm và chữ ký điện tử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7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381000" y="1371600"/>
            <a:ext cx="85344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sz="3200" u="sng">
                <a:latin typeface="Tahoma" pitchFamily="34" charset="0"/>
                <a:ea typeface="Arial-Rounded" pitchFamily="34" charset="0"/>
                <a:cs typeface="Tahoma" pitchFamily="34" charset="0"/>
              </a:rPr>
              <a:t>Chữ ký điện tử: </a:t>
            </a:r>
          </a:p>
          <a:p>
            <a:pPr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457200" indent="-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Tính không từ chối: Người gửi chịu trách nhiệm đã gửi văn bản.</a:t>
            </a:r>
          </a:p>
          <a:p>
            <a:pPr marL="457200" indent="-457200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Tính chứng thực: Người nhận được đảm bảo là bản tin nhận được không bị sửa đổi</a:t>
            </a: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9F5BC6-6933-490D-AB2A-821716856FB5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21508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509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6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793475" y="2349932"/>
            <a:ext cx="349525" cy="4105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i="1">
                <a:latin typeface="Cambria" pitchFamily="18" charset="0"/>
                <a:ea typeface="Times New Roman" pitchFamily="18" charset="0"/>
                <a:cs typeface="Tahoma" pitchFamily="34" charset="0"/>
              </a:rPr>
              <a:t>M</a:t>
            </a:r>
            <a:endParaRPr lang="en-US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29" name="AutoShape 35"/>
          <p:cNvCxnSpPr>
            <a:cxnSpLocks noChangeShapeType="1"/>
          </p:cNvCxnSpPr>
          <p:nvPr/>
        </p:nvCxnSpPr>
        <p:spPr bwMode="auto">
          <a:xfrm>
            <a:off x="1143000" y="2555230"/>
            <a:ext cx="295842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AutoShape 34"/>
          <p:cNvSpPr>
            <a:spLocks noChangeArrowheads="1"/>
          </p:cNvSpPr>
          <p:nvPr/>
        </p:nvSpPr>
        <p:spPr bwMode="auto">
          <a:xfrm>
            <a:off x="2276909" y="3017507"/>
            <a:ext cx="954400" cy="39049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64008" rIns="0" bIns="18000"/>
          <a:lstStyle/>
          <a:p>
            <a:pPr algn="ctr" eaLnBrk="0" hangingPunct="0"/>
            <a:r>
              <a:rPr lang="en-US" sz="1500">
                <a:latin typeface="Tahoma" pitchFamily="34" charset="0"/>
                <a:ea typeface="Times New Roman" pitchFamily="18" charset="0"/>
                <a:cs typeface="Tahoma" pitchFamily="34" charset="0"/>
              </a:rPr>
              <a:t>T</a:t>
            </a:r>
            <a:r>
              <a:rPr lang="en-US" sz="1500">
                <a:ea typeface="Times New Roman" pitchFamily="18" charset="0"/>
                <a:cs typeface="Tahoma" pitchFamily="34" charset="0"/>
              </a:rPr>
              <a:t>í</a:t>
            </a:r>
            <a:r>
              <a:rPr lang="en-US" sz="1500">
                <a:latin typeface="Tahoma" pitchFamily="34" charset="0"/>
                <a:ea typeface="Times New Roman" pitchFamily="18" charset="0"/>
                <a:cs typeface="Tahoma" pitchFamily="34" charset="0"/>
              </a:rPr>
              <a:t>nh Hash</a:t>
            </a:r>
            <a:endParaRPr lang="en-US" sz="1500">
              <a:ea typeface="Times New Roman" pitchFamily="18" charset="0"/>
              <a:cs typeface="Tahoma" pitchFamily="34" charset="0"/>
            </a:endParaRPr>
          </a:p>
          <a:p>
            <a:pPr eaLnBrk="0" hangingPunct="0"/>
            <a:endParaRPr lang="en-US" sz="1500">
              <a:ea typeface="Times New Roman" pitchFamily="18" charset="0"/>
              <a:cs typeface="Tahoma" pitchFamily="34" charset="0"/>
            </a:endParaRPr>
          </a:p>
        </p:txBody>
      </p:sp>
      <p:sp>
        <p:nvSpPr>
          <p:cNvPr id="31" name="Text Box 33"/>
          <p:cNvSpPr txBox="1">
            <a:spLocks noChangeArrowheads="1"/>
          </p:cNvSpPr>
          <p:nvPr/>
        </p:nvSpPr>
        <p:spPr bwMode="auto">
          <a:xfrm>
            <a:off x="4101421" y="2306386"/>
            <a:ext cx="431649" cy="44217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i="1">
                <a:latin typeface="Cambria" pitchFamily="18" charset="0"/>
                <a:ea typeface="Times New Roman" pitchFamily="18" charset="0"/>
                <a:cs typeface="Tahoma" pitchFamily="34" charset="0"/>
              </a:rPr>
              <a:t>M</a:t>
            </a:r>
            <a:endParaRPr lang="en-US">
              <a:ea typeface="Times New Roman" pitchFamily="18" charset="0"/>
              <a:cs typeface="Tahoma" pitchFamily="34" charset="0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4054911" y="3048000"/>
            <a:ext cx="536807" cy="32637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18000" rIns="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i="1">
                <a:latin typeface="Cambria" pitchFamily="18" charset="0"/>
                <a:cs typeface="Times New Roman" pitchFamily="18" charset="0"/>
              </a:rPr>
              <a:t>H</a:t>
            </a:r>
            <a:r>
              <a:rPr lang="en-US" i="1" baseline="-30000">
                <a:latin typeface="Cambria" pitchFamily="18" charset="0"/>
                <a:cs typeface="Times New Roman" pitchFamily="18" charset="0"/>
              </a:rPr>
              <a:t>A</a:t>
            </a:r>
            <a:endParaRPr lang="en-US"/>
          </a:p>
        </p:txBody>
      </p:sp>
      <p:sp>
        <p:nvSpPr>
          <p:cNvPr id="33" name="Freeform 31"/>
          <p:cNvSpPr>
            <a:spLocks/>
          </p:cNvSpPr>
          <p:nvPr/>
        </p:nvSpPr>
        <p:spPr bwMode="auto">
          <a:xfrm>
            <a:off x="1557598" y="2555230"/>
            <a:ext cx="748056" cy="657525"/>
          </a:xfrm>
          <a:custGeom>
            <a:avLst/>
            <a:gdLst>
              <a:gd name="T0" fmla="*/ 0 w 532"/>
              <a:gd name="T1" fmla="*/ 0 h 687"/>
              <a:gd name="T2" fmla="*/ 0 w 532"/>
              <a:gd name="T3" fmla="*/ 2147483647 h 687"/>
              <a:gd name="T4" fmla="*/ 2147483647 w 532"/>
              <a:gd name="T5" fmla="*/ 2147483647 h 687"/>
              <a:gd name="T6" fmla="*/ 0 60000 65536"/>
              <a:gd name="T7" fmla="*/ 0 60000 65536"/>
              <a:gd name="T8" fmla="*/ 0 60000 65536"/>
              <a:gd name="T9" fmla="*/ 0 w 532"/>
              <a:gd name="T10" fmla="*/ 0 h 687"/>
              <a:gd name="T11" fmla="*/ 532 w 532"/>
              <a:gd name="T12" fmla="*/ 687 h 6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32" h="687">
                <a:moveTo>
                  <a:pt x="0" y="0"/>
                </a:moveTo>
                <a:lnTo>
                  <a:pt x="0" y="687"/>
                </a:lnTo>
                <a:lnTo>
                  <a:pt x="532" y="687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4" name="AutoShape 30"/>
          <p:cNvCxnSpPr>
            <a:cxnSpLocks noChangeShapeType="1"/>
            <a:endCxn id="46" idx="1"/>
          </p:cNvCxnSpPr>
          <p:nvPr/>
        </p:nvCxnSpPr>
        <p:spPr bwMode="auto">
          <a:xfrm flipV="1">
            <a:off x="4533070" y="2527476"/>
            <a:ext cx="3001922" cy="1396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Freeform 29"/>
          <p:cNvSpPr>
            <a:spLocks/>
          </p:cNvSpPr>
          <p:nvPr/>
        </p:nvSpPr>
        <p:spPr bwMode="auto">
          <a:xfrm>
            <a:off x="7534992" y="3083808"/>
            <a:ext cx="241679" cy="241884"/>
          </a:xfrm>
          <a:custGeom>
            <a:avLst/>
            <a:gdLst>
              <a:gd name="T0" fmla="*/ 0 w 775"/>
              <a:gd name="T1" fmla="*/ 0 h 300"/>
              <a:gd name="T2" fmla="*/ 2147483647 w 775"/>
              <a:gd name="T3" fmla="*/ 0 h 300"/>
              <a:gd name="T4" fmla="*/ 2147483647 w 775"/>
              <a:gd name="T5" fmla="*/ 2147483647 h 300"/>
              <a:gd name="T6" fmla="*/ 0 60000 65536"/>
              <a:gd name="T7" fmla="*/ 0 60000 65536"/>
              <a:gd name="T8" fmla="*/ 0 60000 65536"/>
              <a:gd name="T9" fmla="*/ 0 w 775"/>
              <a:gd name="T10" fmla="*/ 0 h 300"/>
              <a:gd name="T11" fmla="*/ 775 w 775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75" h="300">
                <a:moveTo>
                  <a:pt x="0" y="0"/>
                </a:moveTo>
                <a:lnTo>
                  <a:pt x="775" y="0"/>
                </a:lnTo>
                <a:lnTo>
                  <a:pt x="775" y="30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Text Box 28"/>
          <p:cNvSpPr txBox="1">
            <a:spLocks noChangeArrowheads="1"/>
          </p:cNvSpPr>
          <p:nvPr/>
        </p:nvSpPr>
        <p:spPr bwMode="auto">
          <a:xfrm>
            <a:off x="7162800" y="3325693"/>
            <a:ext cx="1238862" cy="370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So s</a:t>
            </a:r>
            <a:r>
              <a:rPr lang="en-US">
                <a:ea typeface="Times New Roman" pitchFamily="18" charset="0"/>
                <a:cs typeface="Tahoma" pitchFamily="34" charset="0"/>
              </a:rPr>
              <a:t>á</a:t>
            </a:r>
            <a:r>
              <a:rPr lang="en-US">
                <a:latin typeface="Tahoma" pitchFamily="34" charset="0"/>
                <a:ea typeface="Times New Roman" pitchFamily="18" charset="0"/>
                <a:cs typeface="Tahoma" pitchFamily="34" charset="0"/>
              </a:rPr>
              <a:t>nh</a:t>
            </a:r>
            <a:endParaRPr lang="en-US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37" name="AutoShape 27"/>
          <p:cNvCxnSpPr>
            <a:cxnSpLocks noChangeShapeType="1"/>
          </p:cNvCxnSpPr>
          <p:nvPr/>
        </p:nvCxnSpPr>
        <p:spPr bwMode="auto">
          <a:xfrm>
            <a:off x="1143000" y="1968531"/>
            <a:ext cx="2804189" cy="0"/>
          </a:xfrm>
          <a:prstGeom prst="straightConnector1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 type="arrow" w="sm" len="med"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AutoShape 26"/>
          <p:cNvCxnSpPr>
            <a:cxnSpLocks noChangeShapeType="1"/>
          </p:cNvCxnSpPr>
          <p:nvPr/>
        </p:nvCxnSpPr>
        <p:spPr bwMode="auto">
          <a:xfrm>
            <a:off x="4680291" y="1966617"/>
            <a:ext cx="3840773" cy="1914"/>
          </a:xfrm>
          <a:prstGeom prst="straightConnector1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 type="arrow" w="sm" len="med"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1885338" y="1559851"/>
            <a:ext cx="1238862" cy="370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i="1">
                <a:cs typeface="Times New Roman" pitchFamily="18" charset="0"/>
              </a:rPr>
              <a:t>Bên gửi</a:t>
            </a:r>
            <a:endParaRPr lang="en-US"/>
          </a:p>
        </p:txBody>
      </p:sp>
      <p:sp>
        <p:nvSpPr>
          <p:cNvPr id="40" name="Text Box 24"/>
          <p:cNvSpPr txBox="1">
            <a:spLocks noChangeArrowheads="1"/>
          </p:cNvSpPr>
          <p:nvPr/>
        </p:nvSpPr>
        <p:spPr bwMode="auto">
          <a:xfrm>
            <a:off x="5998272" y="1559851"/>
            <a:ext cx="1238862" cy="370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i="1">
                <a:cs typeface="Times New Roman" pitchFamily="18" charset="0"/>
              </a:rPr>
              <a:t>Bên nhận</a:t>
            </a:r>
            <a:endParaRPr lang="en-US"/>
          </a:p>
        </p:txBody>
      </p:sp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7534992" y="2306386"/>
            <a:ext cx="431649" cy="44217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i="1">
                <a:latin typeface="Cambria" pitchFamily="18" charset="0"/>
                <a:ea typeface="Times New Roman" pitchFamily="18" charset="0"/>
                <a:cs typeface="Tahoma" pitchFamily="34" charset="0"/>
              </a:rPr>
              <a:t>M</a:t>
            </a:r>
            <a:endParaRPr lang="en-US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47" name="AutoShape 17"/>
          <p:cNvCxnSpPr>
            <a:cxnSpLocks noChangeShapeType="1"/>
          </p:cNvCxnSpPr>
          <p:nvPr/>
        </p:nvCxnSpPr>
        <p:spPr bwMode="auto">
          <a:xfrm>
            <a:off x="6147650" y="2540875"/>
            <a:ext cx="1002" cy="33976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Freeform 16"/>
          <p:cNvSpPr>
            <a:spLocks/>
          </p:cNvSpPr>
          <p:nvPr/>
        </p:nvSpPr>
        <p:spPr bwMode="auto">
          <a:xfrm>
            <a:off x="4572000" y="3237640"/>
            <a:ext cx="3210231" cy="675709"/>
          </a:xfrm>
          <a:custGeom>
            <a:avLst/>
            <a:gdLst>
              <a:gd name="T0" fmla="*/ 0 w 2224"/>
              <a:gd name="T1" fmla="*/ 0 h 1258"/>
              <a:gd name="T2" fmla="*/ 2147483647 w 2224"/>
              <a:gd name="T3" fmla="*/ 0 h 1258"/>
              <a:gd name="T4" fmla="*/ 2147483647 w 2224"/>
              <a:gd name="T5" fmla="*/ 2147483647 h 1258"/>
              <a:gd name="T6" fmla="*/ 2147483647 w 2224"/>
              <a:gd name="T7" fmla="*/ 2147483647 h 1258"/>
              <a:gd name="T8" fmla="*/ 2147483647 w 2224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24"/>
              <a:gd name="T16" fmla="*/ 0 h 1258"/>
              <a:gd name="T17" fmla="*/ 2224 w 2224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24" h="1258">
                <a:moveTo>
                  <a:pt x="0" y="0"/>
                </a:moveTo>
                <a:lnTo>
                  <a:pt x="216" y="0"/>
                </a:lnTo>
                <a:lnTo>
                  <a:pt x="216" y="1258"/>
                </a:lnTo>
                <a:lnTo>
                  <a:pt x="2224" y="1258"/>
                </a:lnTo>
                <a:lnTo>
                  <a:pt x="2224" y="951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5" name="AutoShape 9"/>
          <p:cNvCxnSpPr>
            <a:cxnSpLocks noChangeShapeType="1"/>
            <a:stCxn id="30" idx="3"/>
            <a:endCxn id="32" idx="1"/>
          </p:cNvCxnSpPr>
          <p:nvPr/>
        </p:nvCxnSpPr>
        <p:spPr bwMode="auto">
          <a:xfrm flipV="1">
            <a:off x="3231309" y="3211185"/>
            <a:ext cx="823602" cy="157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AutoShape 5"/>
          <p:cNvSpPr>
            <a:spLocks noChangeArrowheads="1"/>
          </p:cNvSpPr>
          <p:nvPr/>
        </p:nvSpPr>
        <p:spPr bwMode="auto">
          <a:xfrm>
            <a:off x="5715000" y="2891950"/>
            <a:ext cx="918380" cy="390495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64008" rIns="0" bIns="18000"/>
          <a:lstStyle/>
          <a:p>
            <a:pPr algn="ctr" eaLnBrk="0" hangingPunct="0"/>
            <a:r>
              <a:rPr lang="en-US" sz="1500">
                <a:latin typeface="Tahoma" pitchFamily="34" charset="0"/>
                <a:ea typeface="Times New Roman" pitchFamily="18" charset="0"/>
                <a:cs typeface="Tahoma" pitchFamily="34" charset="0"/>
              </a:rPr>
              <a:t>T</a:t>
            </a:r>
            <a:r>
              <a:rPr lang="en-US" sz="1500">
                <a:ea typeface="Times New Roman" pitchFamily="18" charset="0"/>
                <a:cs typeface="Tahoma" pitchFamily="34" charset="0"/>
              </a:rPr>
              <a:t>í</a:t>
            </a:r>
            <a:r>
              <a:rPr lang="en-US" sz="1500">
                <a:latin typeface="Tahoma" pitchFamily="34" charset="0"/>
                <a:ea typeface="Times New Roman" pitchFamily="18" charset="0"/>
                <a:cs typeface="Tahoma" pitchFamily="34" charset="0"/>
              </a:rPr>
              <a:t>nh Hash</a:t>
            </a:r>
            <a:endParaRPr lang="en-US" sz="1500">
              <a:ea typeface="Times New Roman" pitchFamily="18" charset="0"/>
              <a:cs typeface="Tahoma" pitchFamily="34" charset="0"/>
            </a:endParaRPr>
          </a:p>
          <a:p>
            <a:pPr eaLnBrk="0" hangingPunct="0"/>
            <a:endParaRPr lang="en-US" sz="1500">
              <a:ea typeface="Times New Roman" pitchFamily="18" charset="0"/>
              <a:cs typeface="Tahoma" pitchFamily="34" charset="0"/>
            </a:endParaRPr>
          </a:p>
        </p:txBody>
      </p:sp>
      <p:sp>
        <p:nvSpPr>
          <p:cNvPr id="60" name="Text Box 4"/>
          <p:cNvSpPr txBox="1">
            <a:spLocks noChangeArrowheads="1"/>
          </p:cNvSpPr>
          <p:nvPr/>
        </p:nvSpPr>
        <p:spPr bwMode="auto">
          <a:xfrm>
            <a:off x="7120368" y="2920841"/>
            <a:ext cx="414623" cy="32637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18000" rIns="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i="1">
                <a:latin typeface="Cambria" pitchFamily="18" charset="0"/>
                <a:cs typeface="Times New Roman" pitchFamily="18" charset="0"/>
              </a:rPr>
              <a:t>H</a:t>
            </a:r>
            <a:r>
              <a:rPr lang="en-US" i="1" baseline="-30000">
                <a:latin typeface="Cambria" pitchFamily="18" charset="0"/>
                <a:cs typeface="Times New Roman" pitchFamily="18" charset="0"/>
              </a:rPr>
              <a:t>B</a:t>
            </a:r>
            <a:endParaRPr lang="en-US"/>
          </a:p>
        </p:txBody>
      </p:sp>
      <p:cxnSp>
        <p:nvCxnSpPr>
          <p:cNvPr id="61" name="AutoShape 3"/>
          <p:cNvCxnSpPr>
            <a:cxnSpLocks noChangeShapeType="1"/>
            <a:stCxn id="59" idx="3"/>
          </p:cNvCxnSpPr>
          <p:nvPr/>
        </p:nvCxnSpPr>
        <p:spPr bwMode="auto">
          <a:xfrm flipV="1">
            <a:off x="6633380" y="3082023"/>
            <a:ext cx="460239" cy="51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" name="Rectangle 3"/>
          <p:cNvSpPr txBox="1">
            <a:spLocks noChangeArrowheads="1"/>
          </p:cNvSpPr>
          <p:nvPr/>
        </p:nvSpPr>
        <p:spPr bwMode="auto">
          <a:xfrm>
            <a:off x="457200" y="4267200"/>
            <a:ext cx="8382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Nếu H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B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= H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A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M không bị thay đổi</a:t>
            </a:r>
          </a:p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Tuy nhiên Trudy có thể sửa vừa M vừa H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A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cho phù hợp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70" name="Rectangle 3"/>
          <p:cNvSpPr txBox="1">
            <a:spLocks noChangeArrowheads="1"/>
          </p:cNvSpPr>
          <p:nvPr/>
        </p:nvSpPr>
        <p:spPr bwMode="auto">
          <a:xfrm>
            <a:off x="304799" y="228600"/>
            <a:ext cx="4614851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sz="2400" b="1">
                <a:solidFill>
                  <a:schemeClr val="bg1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Mô hình đơn giản:</a:t>
            </a:r>
          </a:p>
          <a:p>
            <a:pPr indent="457200">
              <a:lnSpc>
                <a:spcPct val="130000"/>
              </a:lnSpc>
              <a:defRPr/>
            </a:pPr>
            <a:endParaRPr lang="en-US" sz="2400" b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 b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71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304799" y="152400"/>
            <a:ext cx="4614851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sz="2400" b="1">
                <a:solidFill>
                  <a:schemeClr val="bg1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Mô hình chữ ký điện tử:</a:t>
            </a:r>
          </a:p>
          <a:p>
            <a:pPr indent="457200">
              <a:lnSpc>
                <a:spcPct val="130000"/>
              </a:lnSpc>
              <a:defRPr/>
            </a:pPr>
            <a:endParaRPr lang="en-US" sz="2400" b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 b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B09340-6F50-4030-90B1-CBE9796BE6DA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22532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2533" name="Group 43"/>
          <p:cNvGrpSpPr>
            <a:grpSpLocks/>
          </p:cNvGrpSpPr>
          <p:nvPr/>
        </p:nvGrpSpPr>
        <p:grpSpPr bwMode="auto">
          <a:xfrm>
            <a:off x="228600" y="1301750"/>
            <a:ext cx="8915400" cy="3041650"/>
            <a:chOff x="228600" y="990600"/>
            <a:chExt cx="8915400" cy="3041735"/>
          </a:xfrm>
        </p:grpSpPr>
        <p:sp>
          <p:nvSpPr>
            <p:cNvPr id="22535" name="Text Box 36"/>
            <p:cNvSpPr txBox="1">
              <a:spLocks noChangeArrowheads="1"/>
            </p:cNvSpPr>
            <p:nvPr/>
          </p:nvSpPr>
          <p:spPr bwMode="auto">
            <a:xfrm>
              <a:off x="228600" y="1768741"/>
              <a:ext cx="349525" cy="41060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22536" name="AutoShape 35"/>
            <p:cNvCxnSpPr>
              <a:cxnSpLocks noChangeShapeType="1"/>
            </p:cNvCxnSpPr>
            <p:nvPr/>
          </p:nvCxnSpPr>
          <p:spPr bwMode="auto">
            <a:xfrm>
              <a:off x="578125" y="1985050"/>
              <a:ext cx="3523296" cy="9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37" name="AutoShape 34"/>
            <p:cNvSpPr>
              <a:spLocks noChangeArrowheads="1"/>
            </p:cNvSpPr>
            <p:nvPr/>
          </p:nvSpPr>
          <p:spPr bwMode="auto">
            <a:xfrm>
              <a:off x="953777" y="2469354"/>
              <a:ext cx="954400" cy="39050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64008" rIns="0" bIns="18000"/>
            <a:lstStyle/>
            <a:p>
              <a:pPr algn="ctr" eaLnBrk="0" hangingPunct="0"/>
              <a:r>
                <a:rPr lang="en-US" sz="15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r>
                <a:rPr lang="en-US" sz="1500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 sz="15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nh Hash</a:t>
              </a:r>
              <a:endParaRPr lang="en-US" sz="1500">
                <a:ea typeface="Times New Roman" pitchFamily="18" charset="0"/>
                <a:cs typeface="Tahoma" pitchFamily="34" charset="0"/>
              </a:endParaRPr>
            </a:p>
            <a:p>
              <a:pPr eaLnBrk="0" hangingPunct="0"/>
              <a:endParaRPr lang="en-US" sz="15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22538" name="Text Box 33"/>
            <p:cNvSpPr txBox="1">
              <a:spLocks noChangeArrowheads="1"/>
            </p:cNvSpPr>
            <p:nvPr/>
          </p:nvSpPr>
          <p:spPr bwMode="auto">
            <a:xfrm>
              <a:off x="4101421" y="1737156"/>
              <a:ext cx="431649" cy="44219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22539" name="Text Box 32"/>
            <p:cNvSpPr txBox="1">
              <a:spLocks noChangeArrowheads="1"/>
            </p:cNvSpPr>
            <p:nvPr/>
          </p:nvSpPr>
          <p:spPr bwMode="auto">
            <a:xfrm>
              <a:off x="2171520" y="2500939"/>
              <a:ext cx="536807" cy="32637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8000" rIns="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H</a:t>
              </a:r>
              <a:r>
                <a:rPr lang="en-US" i="1" baseline="-30000">
                  <a:latin typeface="Cambria" pitchFamily="18" charset="0"/>
                  <a:cs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22540" name="Freeform 31"/>
            <p:cNvSpPr>
              <a:spLocks/>
            </p:cNvSpPr>
            <p:nvPr/>
          </p:nvSpPr>
          <p:spPr bwMode="auto">
            <a:xfrm>
              <a:off x="762832" y="1986007"/>
              <a:ext cx="192143" cy="657543"/>
            </a:xfrm>
            <a:custGeom>
              <a:avLst/>
              <a:gdLst>
                <a:gd name="T0" fmla="*/ 0 w 532"/>
                <a:gd name="T1" fmla="*/ 0 h 687"/>
                <a:gd name="T2" fmla="*/ 0 w 532"/>
                <a:gd name="T3" fmla="*/ 2147483647 h 687"/>
                <a:gd name="T4" fmla="*/ 2147483647 w 532"/>
                <a:gd name="T5" fmla="*/ 2147483647 h 687"/>
                <a:gd name="T6" fmla="*/ 0 60000 65536"/>
                <a:gd name="T7" fmla="*/ 0 60000 65536"/>
                <a:gd name="T8" fmla="*/ 0 60000 65536"/>
                <a:gd name="T9" fmla="*/ 0 w 532"/>
                <a:gd name="T10" fmla="*/ 0 h 687"/>
                <a:gd name="T11" fmla="*/ 532 w 532"/>
                <a:gd name="T12" fmla="*/ 687 h 6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2" h="687">
                  <a:moveTo>
                    <a:pt x="0" y="0"/>
                  </a:moveTo>
                  <a:lnTo>
                    <a:pt x="0" y="687"/>
                  </a:lnTo>
                  <a:lnTo>
                    <a:pt x="532" y="68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22541" name="AutoShape 30"/>
            <p:cNvCxnSpPr>
              <a:cxnSpLocks noChangeShapeType="1"/>
            </p:cNvCxnSpPr>
            <p:nvPr/>
          </p:nvCxnSpPr>
          <p:spPr bwMode="auto">
            <a:xfrm>
              <a:off x="4533070" y="1972218"/>
              <a:ext cx="3759651" cy="9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2" name="Freeform 29"/>
            <p:cNvSpPr>
              <a:spLocks/>
            </p:cNvSpPr>
            <p:nvPr/>
          </p:nvSpPr>
          <p:spPr bwMode="auto">
            <a:xfrm>
              <a:off x="8292721" y="2514600"/>
              <a:ext cx="241679" cy="241891"/>
            </a:xfrm>
            <a:custGeom>
              <a:avLst/>
              <a:gdLst>
                <a:gd name="T0" fmla="*/ 0 w 775"/>
                <a:gd name="T1" fmla="*/ 0 h 300"/>
                <a:gd name="T2" fmla="*/ 2147483647 w 775"/>
                <a:gd name="T3" fmla="*/ 0 h 300"/>
                <a:gd name="T4" fmla="*/ 2147483647 w 775"/>
                <a:gd name="T5" fmla="*/ 2147483647 h 300"/>
                <a:gd name="T6" fmla="*/ 0 60000 65536"/>
                <a:gd name="T7" fmla="*/ 0 60000 65536"/>
                <a:gd name="T8" fmla="*/ 0 60000 65536"/>
                <a:gd name="T9" fmla="*/ 0 w 775"/>
                <a:gd name="T10" fmla="*/ 0 h 300"/>
                <a:gd name="T11" fmla="*/ 775 w 775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75" h="300">
                  <a:moveTo>
                    <a:pt x="0" y="0"/>
                  </a:moveTo>
                  <a:lnTo>
                    <a:pt x="775" y="0"/>
                  </a:lnTo>
                  <a:lnTo>
                    <a:pt x="775" y="3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Text Box 28"/>
            <p:cNvSpPr txBox="1">
              <a:spLocks noChangeArrowheads="1"/>
            </p:cNvSpPr>
            <p:nvPr/>
          </p:nvSpPr>
          <p:spPr bwMode="auto">
            <a:xfrm>
              <a:off x="7905138" y="2756491"/>
              <a:ext cx="1238862" cy="370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So s</a:t>
              </a:r>
              <a:r>
                <a:rPr lang="en-US">
                  <a:ea typeface="Times New Roman" pitchFamily="18" charset="0"/>
                  <a:cs typeface="Tahoma" pitchFamily="34" charset="0"/>
                </a:rPr>
                <a:t>á</a:t>
              </a:r>
              <a:r>
                <a:rPr lang="en-US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nh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22544" name="AutoShape 27"/>
            <p:cNvCxnSpPr>
              <a:cxnSpLocks noChangeShapeType="1"/>
            </p:cNvCxnSpPr>
            <p:nvPr/>
          </p:nvCxnSpPr>
          <p:spPr bwMode="auto">
            <a:xfrm>
              <a:off x="578125" y="1398334"/>
              <a:ext cx="3369064" cy="957"/>
            </a:xfrm>
            <a:prstGeom prst="straightConnector1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 type="arrow" w="sm" len="med"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5" name="AutoShape 26"/>
            <p:cNvCxnSpPr>
              <a:cxnSpLocks noChangeShapeType="1"/>
            </p:cNvCxnSpPr>
            <p:nvPr/>
          </p:nvCxnSpPr>
          <p:spPr bwMode="auto">
            <a:xfrm>
              <a:off x="4680291" y="1397377"/>
              <a:ext cx="3840773" cy="1914"/>
            </a:xfrm>
            <a:prstGeom prst="straightConnector1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 type="arrow" w="sm" len="med"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6" name="Text Box 25"/>
            <p:cNvSpPr txBox="1">
              <a:spLocks noChangeArrowheads="1"/>
            </p:cNvSpPr>
            <p:nvPr/>
          </p:nvSpPr>
          <p:spPr bwMode="auto">
            <a:xfrm>
              <a:off x="1557598" y="990600"/>
              <a:ext cx="1238862" cy="370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cs typeface="Times New Roman" pitchFamily="18" charset="0"/>
                </a:rPr>
                <a:t>Bên gửi</a:t>
              </a:r>
              <a:endParaRPr lang="en-US"/>
            </a:p>
          </p:txBody>
        </p:sp>
        <p:sp>
          <p:nvSpPr>
            <p:cNvPr id="22547" name="Text Box 24"/>
            <p:cNvSpPr txBox="1">
              <a:spLocks noChangeArrowheads="1"/>
            </p:cNvSpPr>
            <p:nvPr/>
          </p:nvSpPr>
          <p:spPr bwMode="auto">
            <a:xfrm>
              <a:off x="5998272" y="990600"/>
              <a:ext cx="1238862" cy="370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cs typeface="Times New Roman" pitchFamily="18" charset="0"/>
                </a:rPr>
                <a:t>Bên nhận</a:t>
              </a:r>
              <a:endParaRPr lang="en-US"/>
            </a:p>
          </p:txBody>
        </p:sp>
        <p:sp>
          <p:nvSpPr>
            <p:cNvPr id="22548" name="AutoShape 23"/>
            <p:cNvSpPr>
              <a:spLocks noChangeArrowheads="1"/>
            </p:cNvSpPr>
            <p:nvPr/>
          </p:nvSpPr>
          <p:spPr bwMode="auto">
            <a:xfrm>
              <a:off x="2939675" y="2469354"/>
              <a:ext cx="775165" cy="39050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64008" rIns="0" bIns="18000"/>
            <a:lstStyle/>
            <a:p>
              <a:pPr algn="ctr" eaLnBrk="0" hangingPunct="0"/>
              <a:r>
                <a:rPr lang="en-US" sz="1500">
                  <a:latin typeface="Tahoma" pitchFamily="34" charset="0"/>
                  <a:cs typeface="Times New Roman" pitchFamily="18" charset="0"/>
                </a:rPr>
                <a:t>M</a:t>
              </a:r>
              <a:r>
                <a:rPr lang="en-US" sz="15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ã h</a:t>
              </a:r>
              <a:r>
                <a:rPr lang="en-US" sz="1500">
                  <a:ea typeface="Times New Roman" pitchFamily="18" charset="0"/>
                  <a:cs typeface="Tahoma" pitchFamily="34" charset="0"/>
                </a:rPr>
                <a:t>ó</a:t>
              </a:r>
              <a:r>
                <a:rPr lang="en-US" sz="15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a</a:t>
              </a:r>
              <a:endParaRPr lang="en-US" sz="1500"/>
            </a:p>
            <a:p>
              <a:pPr eaLnBrk="0" hangingPunct="0"/>
              <a:endParaRPr lang="en-US" sz="1500"/>
            </a:p>
          </p:txBody>
        </p:sp>
        <p:sp>
          <p:nvSpPr>
            <p:cNvPr id="22549" name="Text Box 22"/>
            <p:cNvSpPr txBox="1">
              <a:spLocks noChangeArrowheads="1"/>
            </p:cNvSpPr>
            <p:nvPr/>
          </p:nvSpPr>
          <p:spPr bwMode="auto">
            <a:xfrm>
              <a:off x="4101421" y="2179346"/>
              <a:ext cx="431649" cy="25842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0" rIns="18000" bIns="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DS</a:t>
              </a:r>
              <a:endParaRPr lang="en-US"/>
            </a:p>
          </p:txBody>
        </p:sp>
        <p:cxnSp>
          <p:nvCxnSpPr>
            <p:cNvPr id="22550" name="AutoShape 21"/>
            <p:cNvCxnSpPr>
              <a:cxnSpLocks noChangeShapeType="1"/>
            </p:cNvCxnSpPr>
            <p:nvPr/>
          </p:nvCxnSpPr>
          <p:spPr bwMode="auto">
            <a:xfrm flipV="1">
              <a:off x="2708327" y="2675915"/>
              <a:ext cx="231348" cy="9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1" name="AutoShape 20"/>
            <p:cNvSpPr>
              <a:spLocks noChangeArrowheads="1"/>
            </p:cNvSpPr>
            <p:nvPr/>
          </p:nvSpPr>
          <p:spPr bwMode="auto">
            <a:xfrm>
              <a:off x="4919651" y="2469354"/>
              <a:ext cx="744118" cy="39050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64008" rIns="18000" bIns="18000"/>
            <a:lstStyle/>
            <a:p>
              <a:pPr algn="ctr" eaLnBrk="0" hangingPunct="0"/>
              <a:r>
                <a:rPr lang="en-US" sz="1500">
                  <a:latin typeface="Tahoma" pitchFamily="34" charset="0"/>
                  <a:cs typeface="Times New Roman" pitchFamily="18" charset="0"/>
                </a:rPr>
                <a:t>Giả</a:t>
              </a:r>
              <a:r>
                <a:rPr lang="en-US" sz="15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i </a:t>
              </a:r>
              <a:r>
                <a:rPr lang="en-US" sz="1500">
                  <a:latin typeface="Tahoma" pitchFamily="34" charset="0"/>
                  <a:cs typeface="Times New Roman" pitchFamily="18" charset="0"/>
                </a:rPr>
                <a:t>mã</a:t>
              </a:r>
              <a:endParaRPr lang="en-US" sz="1500"/>
            </a:p>
          </p:txBody>
        </p:sp>
        <p:cxnSp>
          <p:nvCxnSpPr>
            <p:cNvPr id="22552" name="AutoShape 19"/>
            <p:cNvCxnSpPr>
              <a:cxnSpLocks noChangeShapeType="1"/>
            </p:cNvCxnSpPr>
            <p:nvPr/>
          </p:nvCxnSpPr>
          <p:spPr bwMode="auto">
            <a:xfrm>
              <a:off x="5663769" y="2666521"/>
              <a:ext cx="292440" cy="9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3" name="Text Box 18"/>
            <p:cNvSpPr txBox="1">
              <a:spLocks noChangeArrowheads="1"/>
            </p:cNvSpPr>
            <p:nvPr/>
          </p:nvSpPr>
          <p:spPr bwMode="auto">
            <a:xfrm>
              <a:off x="8292721" y="1737156"/>
              <a:ext cx="431649" cy="44219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ea typeface="Times New Roman" pitchFamily="18" charset="0"/>
                  <a:cs typeface="Tahoma" pitchFamily="34" charset="0"/>
                </a:rPr>
                <a:t>M</a:t>
              </a:r>
              <a:endParaRPr lang="en-US"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22554" name="AutoShape 17"/>
            <p:cNvCxnSpPr>
              <a:cxnSpLocks noChangeShapeType="1"/>
            </p:cNvCxnSpPr>
            <p:nvPr/>
          </p:nvCxnSpPr>
          <p:spPr bwMode="auto">
            <a:xfrm>
              <a:off x="7133979" y="1971651"/>
              <a:ext cx="1002" cy="3397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5" name="Freeform 16"/>
            <p:cNvSpPr>
              <a:spLocks/>
            </p:cNvSpPr>
            <p:nvPr/>
          </p:nvSpPr>
          <p:spPr bwMode="auto">
            <a:xfrm>
              <a:off x="6370832" y="2668436"/>
              <a:ext cx="2150232" cy="675728"/>
            </a:xfrm>
            <a:custGeom>
              <a:avLst/>
              <a:gdLst>
                <a:gd name="T0" fmla="*/ 0 w 2224"/>
                <a:gd name="T1" fmla="*/ 0 h 1258"/>
                <a:gd name="T2" fmla="*/ 2147483647 w 2224"/>
                <a:gd name="T3" fmla="*/ 0 h 1258"/>
                <a:gd name="T4" fmla="*/ 2147483647 w 2224"/>
                <a:gd name="T5" fmla="*/ 2147483647 h 1258"/>
                <a:gd name="T6" fmla="*/ 2147483647 w 2224"/>
                <a:gd name="T7" fmla="*/ 2147483647 h 1258"/>
                <a:gd name="T8" fmla="*/ 2147483647 w 2224"/>
                <a:gd name="T9" fmla="*/ 2147483647 h 1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24"/>
                <a:gd name="T16" fmla="*/ 0 h 1258"/>
                <a:gd name="T17" fmla="*/ 2224 w 2224"/>
                <a:gd name="T18" fmla="*/ 1258 h 1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24" h="1258">
                  <a:moveTo>
                    <a:pt x="0" y="0"/>
                  </a:moveTo>
                  <a:lnTo>
                    <a:pt x="216" y="0"/>
                  </a:lnTo>
                  <a:lnTo>
                    <a:pt x="216" y="1258"/>
                  </a:lnTo>
                  <a:lnTo>
                    <a:pt x="2224" y="1258"/>
                  </a:lnTo>
                  <a:lnTo>
                    <a:pt x="2224" y="95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22556" name="AutoShape 15"/>
            <p:cNvCxnSpPr>
              <a:cxnSpLocks noChangeShapeType="1"/>
            </p:cNvCxnSpPr>
            <p:nvPr/>
          </p:nvCxnSpPr>
          <p:spPr bwMode="auto">
            <a:xfrm flipV="1">
              <a:off x="5219101" y="2859860"/>
              <a:ext cx="1002" cy="3732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7" name="AutoShape 14"/>
            <p:cNvCxnSpPr>
              <a:cxnSpLocks noChangeShapeType="1"/>
            </p:cNvCxnSpPr>
            <p:nvPr/>
          </p:nvCxnSpPr>
          <p:spPr bwMode="auto">
            <a:xfrm flipV="1">
              <a:off x="3381339" y="2880917"/>
              <a:ext cx="1002" cy="7704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8" name="Text Box 13"/>
            <p:cNvSpPr txBox="1">
              <a:spLocks noChangeArrowheads="1"/>
            </p:cNvSpPr>
            <p:nvPr/>
          </p:nvSpPr>
          <p:spPr bwMode="auto">
            <a:xfrm>
              <a:off x="2857551" y="2963229"/>
              <a:ext cx="453682" cy="379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K</a:t>
              </a:r>
              <a:r>
                <a:rPr lang="en-US" baseline="-30000">
                  <a:latin typeface="Cambria" pitchFamily="18" charset="0"/>
                  <a:cs typeface="Times New Roman" pitchFamily="18" charset="0"/>
                </a:rPr>
                <a:t>RA</a:t>
              </a:r>
              <a:endParaRPr lang="en-US"/>
            </a:p>
          </p:txBody>
        </p:sp>
        <p:sp>
          <p:nvSpPr>
            <p:cNvPr id="22559" name="Text Box 12"/>
            <p:cNvSpPr txBox="1">
              <a:spLocks noChangeArrowheads="1"/>
            </p:cNvSpPr>
            <p:nvPr/>
          </p:nvSpPr>
          <p:spPr bwMode="auto">
            <a:xfrm>
              <a:off x="4746390" y="3248452"/>
              <a:ext cx="449676" cy="409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K</a:t>
              </a:r>
              <a:r>
                <a:rPr lang="en-US" baseline="-30000">
                  <a:latin typeface="Cambria" pitchFamily="18" charset="0"/>
                  <a:cs typeface="Times New Roman" pitchFamily="18" charset="0"/>
                </a:rPr>
                <a:t>UA</a:t>
              </a:r>
              <a:endParaRPr lang="en-US"/>
            </a:p>
          </p:txBody>
        </p:sp>
        <p:cxnSp>
          <p:nvCxnSpPr>
            <p:cNvPr id="22560" name="AutoShape 11"/>
            <p:cNvCxnSpPr>
              <a:cxnSpLocks noChangeShapeType="1"/>
            </p:cNvCxnSpPr>
            <p:nvPr/>
          </p:nvCxnSpPr>
          <p:spPr bwMode="auto">
            <a:xfrm>
              <a:off x="3381339" y="3231791"/>
              <a:ext cx="1836761" cy="9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1" name="Text Box 10"/>
            <p:cNvSpPr txBox="1">
              <a:spLocks noChangeArrowheads="1"/>
            </p:cNvSpPr>
            <p:nvPr/>
          </p:nvSpPr>
          <p:spPr bwMode="auto">
            <a:xfrm>
              <a:off x="2798463" y="3622687"/>
              <a:ext cx="1518282" cy="409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Bộ sinh kh</a:t>
              </a:r>
              <a:r>
                <a:rPr lang="en-US" i="1">
                  <a:cs typeface="Times New Roman" pitchFamily="18" charset="0"/>
                </a:rPr>
                <a:t>ó</a:t>
              </a:r>
              <a:r>
                <a:rPr lang="en-US" i="1">
                  <a:latin typeface="Cambria" pitchFamily="18" charset="0"/>
                  <a:cs typeface="Times New Roman" pitchFamily="18" charset="0"/>
                </a:rPr>
                <a:t>a</a:t>
              </a:r>
              <a:endParaRPr lang="en-US"/>
            </a:p>
          </p:txBody>
        </p:sp>
        <p:cxnSp>
          <p:nvCxnSpPr>
            <p:cNvPr id="22562" name="AutoShape 9"/>
            <p:cNvCxnSpPr>
              <a:cxnSpLocks noChangeShapeType="1"/>
            </p:cNvCxnSpPr>
            <p:nvPr/>
          </p:nvCxnSpPr>
          <p:spPr bwMode="auto">
            <a:xfrm>
              <a:off x="1909126" y="2667479"/>
              <a:ext cx="262394" cy="9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3" name="Freeform 8"/>
            <p:cNvSpPr>
              <a:spLocks/>
            </p:cNvSpPr>
            <p:nvPr/>
          </p:nvSpPr>
          <p:spPr bwMode="auto">
            <a:xfrm>
              <a:off x="3714840" y="2322914"/>
              <a:ext cx="386581" cy="318722"/>
            </a:xfrm>
            <a:custGeom>
              <a:avLst/>
              <a:gdLst>
                <a:gd name="T0" fmla="*/ 0 w 386"/>
                <a:gd name="T1" fmla="*/ 2147483647 h 333"/>
                <a:gd name="T2" fmla="*/ 2147483647 w 386"/>
                <a:gd name="T3" fmla="*/ 2147483647 h 333"/>
                <a:gd name="T4" fmla="*/ 2147483647 w 386"/>
                <a:gd name="T5" fmla="*/ 0 h 333"/>
                <a:gd name="T6" fmla="*/ 2147483647 w 386"/>
                <a:gd name="T7" fmla="*/ 0 h 3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6"/>
                <a:gd name="T13" fmla="*/ 0 h 333"/>
                <a:gd name="T14" fmla="*/ 386 w 386"/>
                <a:gd name="T15" fmla="*/ 333 h 3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6" h="333">
                  <a:moveTo>
                    <a:pt x="0" y="333"/>
                  </a:moveTo>
                  <a:lnTo>
                    <a:pt x="172" y="333"/>
                  </a:lnTo>
                  <a:lnTo>
                    <a:pt x="172" y="0"/>
                  </a:lnTo>
                  <a:lnTo>
                    <a:pt x="38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Text Box 7"/>
            <p:cNvSpPr txBox="1">
              <a:spLocks noChangeArrowheads="1"/>
            </p:cNvSpPr>
            <p:nvPr/>
          </p:nvSpPr>
          <p:spPr bwMode="auto">
            <a:xfrm>
              <a:off x="5956209" y="2500939"/>
              <a:ext cx="414623" cy="32637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8000" rIns="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H</a:t>
              </a:r>
              <a:r>
                <a:rPr lang="en-US" i="1" baseline="-30000">
                  <a:latin typeface="Cambria" pitchFamily="18" charset="0"/>
                  <a:cs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22565" name="Freeform 6"/>
            <p:cNvSpPr>
              <a:spLocks/>
            </p:cNvSpPr>
            <p:nvPr/>
          </p:nvSpPr>
          <p:spPr bwMode="auto">
            <a:xfrm flipV="1">
              <a:off x="4533070" y="2322914"/>
              <a:ext cx="386581" cy="318722"/>
            </a:xfrm>
            <a:custGeom>
              <a:avLst/>
              <a:gdLst>
                <a:gd name="T0" fmla="*/ 0 w 386"/>
                <a:gd name="T1" fmla="*/ 2147483647 h 333"/>
                <a:gd name="T2" fmla="*/ 2147483647 w 386"/>
                <a:gd name="T3" fmla="*/ 2147483647 h 333"/>
                <a:gd name="T4" fmla="*/ 2147483647 w 386"/>
                <a:gd name="T5" fmla="*/ 0 h 333"/>
                <a:gd name="T6" fmla="*/ 2147483647 w 386"/>
                <a:gd name="T7" fmla="*/ 0 h 3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6"/>
                <a:gd name="T13" fmla="*/ 0 h 333"/>
                <a:gd name="T14" fmla="*/ 386 w 386"/>
                <a:gd name="T15" fmla="*/ 333 h 3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6" h="333">
                  <a:moveTo>
                    <a:pt x="0" y="333"/>
                  </a:moveTo>
                  <a:lnTo>
                    <a:pt x="172" y="333"/>
                  </a:lnTo>
                  <a:lnTo>
                    <a:pt x="172" y="0"/>
                  </a:lnTo>
                  <a:lnTo>
                    <a:pt x="38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AutoShape 5"/>
            <p:cNvSpPr>
              <a:spLocks noChangeArrowheads="1"/>
            </p:cNvSpPr>
            <p:nvPr/>
          </p:nvSpPr>
          <p:spPr bwMode="auto">
            <a:xfrm>
              <a:off x="6701329" y="2322736"/>
              <a:ext cx="918380" cy="39050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64008" rIns="0" bIns="18000"/>
            <a:lstStyle/>
            <a:p>
              <a:pPr algn="ctr" eaLnBrk="0" hangingPunct="0"/>
              <a:r>
                <a:rPr lang="en-US" sz="15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T</a:t>
              </a:r>
              <a:r>
                <a:rPr lang="en-US" sz="1500">
                  <a:ea typeface="Times New Roman" pitchFamily="18" charset="0"/>
                  <a:cs typeface="Tahoma" pitchFamily="34" charset="0"/>
                </a:rPr>
                <a:t>í</a:t>
              </a:r>
              <a:r>
                <a:rPr lang="en-US" sz="15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nh Hash</a:t>
              </a:r>
              <a:endParaRPr lang="en-US" sz="1500">
                <a:ea typeface="Times New Roman" pitchFamily="18" charset="0"/>
                <a:cs typeface="Tahoma" pitchFamily="34" charset="0"/>
              </a:endParaRPr>
            </a:p>
            <a:p>
              <a:pPr eaLnBrk="0" hangingPunct="0"/>
              <a:endParaRPr lang="en-US" sz="1500"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22567" name="Text Box 4"/>
            <p:cNvSpPr txBox="1">
              <a:spLocks noChangeArrowheads="1"/>
            </p:cNvSpPr>
            <p:nvPr/>
          </p:nvSpPr>
          <p:spPr bwMode="auto">
            <a:xfrm>
              <a:off x="7878097" y="2351628"/>
              <a:ext cx="414623" cy="32637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8000" rIns="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i="1">
                  <a:latin typeface="Cambria" pitchFamily="18" charset="0"/>
                  <a:cs typeface="Times New Roman" pitchFamily="18" charset="0"/>
                </a:rPr>
                <a:t>H</a:t>
              </a:r>
              <a:r>
                <a:rPr lang="en-US" i="1" baseline="-30000">
                  <a:latin typeface="Cambria" pitchFamily="18" charset="0"/>
                  <a:cs typeface="Times New Roman" pitchFamily="18" charset="0"/>
                </a:rPr>
                <a:t>B</a:t>
              </a:r>
              <a:endParaRPr lang="en-US"/>
            </a:p>
          </p:txBody>
        </p:sp>
        <p:cxnSp>
          <p:nvCxnSpPr>
            <p:cNvPr id="22568" name="AutoShape 3"/>
            <p:cNvCxnSpPr>
              <a:cxnSpLocks noChangeShapeType="1"/>
            </p:cNvCxnSpPr>
            <p:nvPr/>
          </p:nvCxnSpPr>
          <p:spPr bwMode="auto">
            <a:xfrm flipV="1">
              <a:off x="7620000" y="2512814"/>
              <a:ext cx="231348" cy="9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3" name="Rectangle 3"/>
          <p:cNvSpPr txBox="1">
            <a:spLocks noChangeArrowheads="1"/>
          </p:cNvSpPr>
          <p:nvPr/>
        </p:nvSpPr>
        <p:spPr bwMode="auto">
          <a:xfrm>
            <a:off x="457200" y="5105400"/>
            <a:ext cx="8382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Trudy không thể sửa H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A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do không biết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RA</a:t>
            </a: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3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 txBox="1">
            <a:spLocks noChangeArrowheads="1"/>
          </p:cNvSpPr>
          <p:nvPr/>
        </p:nvSpPr>
        <p:spPr bwMode="auto">
          <a:xfrm>
            <a:off x="274093" y="0"/>
            <a:ext cx="8534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sz="3200" b="1">
                <a:solidFill>
                  <a:schemeClr val="bg1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Chữ ký điện tử trong file PDF: </a:t>
            </a:r>
          </a:p>
          <a:p>
            <a:pPr>
              <a:lnSpc>
                <a:spcPct val="130000"/>
              </a:lnSpc>
              <a:defRPr/>
            </a:pPr>
            <a:endParaRPr lang="en-US" sz="2400" b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 b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indent="457200">
              <a:lnSpc>
                <a:spcPct val="130000"/>
              </a:lnSpc>
              <a:defRPr/>
            </a:pPr>
            <a:endParaRPr lang="en-US" sz="2400" b="1">
              <a:solidFill>
                <a:schemeClr val="bg1"/>
              </a:solidFill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D571B6-8837-4F75-A9CB-A5DE2A115AB8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2458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D04129-BFB3-8097-5F31-6E66D8755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19200"/>
            <a:ext cx="8595360" cy="52458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92103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0.0&quot;&gt;&lt;object type=&quot;1&quot; unique_id=&quot;10001&quot;&gt;&lt;object type=&quot;2&quot; unique_id=&quot;10098&quot;&gt;&lt;object type=&quot;3&quot; unique_id=&quot;10099&quot;&gt;&lt;property id=&quot;20148&quot; value=&quot;5&quot;/&gt;&lt;property id=&quot;20300&quot; value=&quot;Slide 1 - &amp;quot;MÃ CHỨNG THỰC  THÔNG ĐIỆP &amp;amp; HÀM BĂM&amp;quot;&quot;/&gt;&lt;property id=&quot;20307&quot; value=&quot;256&quot;/&gt;&lt;/object&gt;&lt;object type=&quot;3&quot; unique_id=&quot;10100&quot;&gt;&lt;property id=&quot;20148&quot; value=&quot;5&quot;/&gt;&lt;property id=&quot;20300&quot; value=&quot;Slide 2 - &amp;quot;Nội Dung &amp;quot;&quot;/&gt;&lt;property id=&quot;20307&quot; value=&quot;284&quot;/&gt;&lt;/object&gt;&lt;object type=&quot;3&quot; unique_id=&quot;10101&quot;&gt;&lt;property id=&quot;20148&quot; value=&quot;5&quot;/&gt;&lt;property id=&quot;20300&quot; value=&quot;Slide 3 - &amp;quot;I. Dẫn nhập&amp;quot;&quot;/&gt;&lt;property id=&quot;20307&quot; value=&quot;258&quot;/&gt;&lt;/object&gt;&lt;object type=&quot;3&quot; unique_id=&quot;10102&quot;&gt;&lt;property id=&quot;20148&quot; value=&quot;5&quot;/&gt;&lt;property id=&quot;20300&quot; value=&quot;Slide 4&quot;/&gt;&lt;property id=&quot;20307&quot; value=&quot;259&quot;/&gt;&lt;/object&gt;&lt;object type=&quot;3&quot; unique_id=&quot;10103&quot;&gt;&lt;property id=&quot;20148&quot; value=&quot;5&quot;/&gt;&lt;property id=&quot;20300&quot; value=&quot;Slide 5&quot;/&gt;&lt;property id=&quot;20307&quot; value=&quot;260&quot;/&gt;&lt;/object&gt;&lt;object type=&quot;3&quot; unique_id=&quot;10104&quot;&gt;&lt;property id=&quot;20148&quot; value=&quot;5&quot;/&gt;&lt;property id=&quot;20300&quot; value=&quot;Slide 6&quot;/&gt;&lt;property id=&quot;20307&quot; value=&quot;261&quot;/&gt;&lt;/object&gt;&lt;object type=&quot;3&quot; unique_id=&quot;10105&quot;&gt;&lt;property id=&quot;20148&quot; value=&quot;5&quot;/&gt;&lt;property id=&quot;20300&quot; value=&quot;Slide 7 - &amp;quot;II. Mã chứng thực thông điệp&amp;quot;&quot;/&gt;&lt;property id=&quot;20307&quot; value=&quot;262&quot;/&gt;&lt;/object&gt;&lt;object type=&quot;3&quot; unique_id=&quot;10106&quot;&gt;&lt;property id=&quot;20148&quot; value=&quot;5&quot;/&gt;&lt;property id=&quot;20300&quot; value=&quot;Slide 8&quot;/&gt;&lt;property id=&quot;20307&quot; value=&quot;263&quot;/&gt;&lt;/object&gt;&lt;object type=&quot;3&quot; unique_id=&quot;10107&quot;&gt;&lt;property id=&quot;20148&quot; value=&quot;5&quot;/&gt;&lt;property id=&quot;20300&quot; value=&quot;Slide 9&quot;/&gt;&lt;property id=&quot;20307&quot; value=&quot;264&quot;/&gt;&lt;/object&gt;&lt;object type=&quot;3&quot; unique_id=&quot;10108&quot;&gt;&lt;property id=&quot;20148&quot; value=&quot;5&quot;/&gt;&lt;property id=&quot;20300&quot; value=&quot;Slide 10 - &amp;quot;III. Hàm băm&amp;quot;&quot;/&gt;&lt;property id=&quot;20307&quot; value=&quot;265&quot;/&gt;&lt;/object&gt;&lt;object type=&quot;3&quot; unique_id=&quot;10109&quot;&gt;&lt;property id=&quot;20148&quot; value=&quot;5&quot;/&gt;&lt;property id=&quot;20300&quot; value=&quot;Slide 11&quot;/&gt;&lt;property id=&quot;20307&quot; value=&quot;266&quot;/&gt;&lt;/object&gt;&lt;object type=&quot;3&quot; unique_id=&quot;10110&quot;&gt;&lt;property id=&quot;20148&quot; value=&quot;5&quot;/&gt;&lt;property id=&quot;20300&quot; value=&quot;Slide 12&quot;/&gt;&lt;property id=&quot;20307&quot; value=&quot;267&quot;/&gt;&lt;/object&gt;&lt;object type=&quot;3&quot; unique_id=&quot;10111&quot;&gt;&lt;property id=&quot;20148&quot; value=&quot;5&quot;/&gt;&lt;property id=&quot;20300&quot; value=&quot;Slide 13&quot;/&gt;&lt;property id=&quot;20307&quot; value=&quot;268&quot;/&gt;&lt;/object&gt;&lt;object type=&quot;3&quot; unique_id=&quot;10112&quot;&gt;&lt;property id=&quot;20148&quot; value=&quot;5&quot;/&gt;&lt;property id=&quot;20300&quot; value=&quot;Slide 14&quot;/&gt;&lt;property id=&quot;20307&quot; value=&quot;269&quot;/&gt;&lt;/object&gt;&lt;object type=&quot;3&quot; unique_id=&quot;10113&quot;&gt;&lt;property id=&quot;20148&quot; value=&quot;5&quot;/&gt;&lt;property id=&quot;20300&quot; value=&quot;Slide 15&quot;/&gt;&lt;property id=&quot;20307&quot; value=&quot;270&quot;/&gt;&lt;/object&gt;&lt;object type=&quot;3&quot; unique_id=&quot;10114&quot;&gt;&lt;property id=&quot;20148&quot; value=&quot;5&quot;/&gt;&lt;property id=&quot;20300&quot; value=&quot;Slide 16 - &amp;quot;IV. Ứng dụng của hàm băm&amp;quot;&quot;/&gt;&lt;property id=&quot;20307&quot; value=&quot;278&quot;/&gt;&lt;/object&gt;&lt;object type=&quot;3&quot; unique_id=&quot;10115&quot;&gt;&lt;property id=&quot;20148&quot; value=&quot;5&quot;/&gt;&lt;property id=&quot;20300&quot; value=&quot;Slide 17&quot;/&gt;&lt;property id=&quot;20307&quot; value=&quot;279&quot;/&gt;&lt;/object&gt;&lt;object type=&quot;3&quot; unique_id=&quot;10116&quot;&gt;&lt;property id=&quot;20148&quot; value=&quot;5&quot;/&gt;&lt;property id=&quot;20300&quot; value=&quot;Slide 18&quot;/&gt;&lt;property id=&quot;20307&quot; value=&quot;280&quot;/&gt;&lt;/object&gt;&lt;object type=&quot;3&quot; unique_id=&quot;10117&quot;&gt;&lt;property id=&quot;20148&quot; value=&quot;5&quot;/&gt;&lt;property id=&quot;20300&quot; value=&quot;Slide 19&quot;/&gt;&lt;property id=&quot;20307&quot; value=&quot;281&quot;/&gt;&lt;/object&gt;&lt;object type=&quot;3&quot; unique_id=&quot;10118&quot;&gt;&lt;property id=&quot;20148&quot; value=&quot;5&quot;/&gt;&lt;property id=&quot;20300&quot; value=&quot;Slide 20&quot;/&gt;&lt;property id=&quot;20307&quot; value=&quot;282&quot;/&gt;&lt;/object&gt;&lt;object type=&quot;3&quot; unique_id=&quot;10119&quot;&gt;&lt;property id=&quot;20148&quot; value=&quot;5&quot;/&gt;&lt;property id=&quot;20300&quot; value=&quot;Slide 21&quot;/&gt;&lt;property id=&quot;20307&quot; value=&quot;283&quot;/&gt;&lt;/object&gt;&lt;object type=&quot;3&quot; unique_id=&quot;10120&quot;&gt;&lt;property id=&quot;20148&quot; value=&quot;5&quot;/&gt;&lt;property id=&quot;20300&quot; value=&quot;Slide 22 - &amp;quot;V. Hàm băm và chữ ký điện tử&amp;quot;&quot;/&gt;&lt;property id=&quot;20307&quot; value=&quot;285&quot;/&gt;&lt;/object&gt;&lt;object type=&quot;3&quot; unique_id=&quot;10121&quot;&gt;&lt;property id=&quot;20148&quot; value=&quot;5&quot;/&gt;&lt;property id=&quot;20300&quot; value=&quot;Slide 23&quot;/&gt;&lt;property id=&quot;20307&quot; value=&quot;286&quot;/&gt;&lt;/object&gt;&lt;object type=&quot;3&quot; unique_id=&quot;10122&quot;&gt;&lt;property id=&quot;20148&quot; value=&quot;5&quot;/&gt;&lt;property id=&quot;20300&quot; value=&quot;Slide 24&quot;/&gt;&lt;property id=&quot;20307&quot; value=&quot;290&quot;/&gt;&lt;/object&gt;&lt;object type=&quot;3&quot; unique_id=&quot;10123&quot;&gt;&lt;property id=&quot;20148&quot; value=&quot;5&quot;/&gt;&lt;property id=&quot;20300&quot; value=&quot;Slide 25&quot;/&gt;&lt;property id=&quot;20307&quot; value=&quot;287&quot;/&gt;&lt;/object&gt;&lt;object type=&quot;3&quot; unique_id=&quot;10124&quot;&gt;&lt;property id=&quot;20148&quot; value=&quot;5&quot;/&gt;&lt;property id=&quot;20300&quot; value=&quot;Slide 26&quot;/&gt;&lt;property id=&quot;20307&quot; value=&quot;289&quot;/&gt;&lt;/object&gt;&lt;/object&gt;&lt;object type=&quot;8&quot; unique_id=&quot;10152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db2004123l">
  <a:themeElements>
    <a:clrScheme name="sample 2">
      <a:dk1>
        <a:srgbClr val="19426B"/>
      </a:dk1>
      <a:lt1>
        <a:srgbClr val="FFFFFF"/>
      </a:lt1>
      <a:dk2>
        <a:srgbClr val="008080"/>
      </a:dk2>
      <a:lt2>
        <a:srgbClr val="B2B2B2"/>
      </a:lt2>
      <a:accent1>
        <a:srgbClr val="35C9C2"/>
      </a:accent1>
      <a:accent2>
        <a:srgbClr val="398AC7"/>
      </a:accent2>
      <a:accent3>
        <a:srgbClr val="FFFFFF"/>
      </a:accent3>
      <a:accent4>
        <a:srgbClr val="14375A"/>
      </a:accent4>
      <a:accent5>
        <a:srgbClr val="AEE1DD"/>
      </a:accent5>
      <a:accent6>
        <a:srgbClr val="337DB4"/>
      </a:accent6>
      <a:hlink>
        <a:srgbClr val="8BBC00"/>
      </a:hlink>
      <a:folHlink>
        <a:srgbClr val="6D50CA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000000"/>
        </a:dk1>
        <a:lt1>
          <a:srgbClr val="FFFFFF"/>
        </a:lt1>
        <a:dk2>
          <a:srgbClr val="1640B6"/>
        </a:dk2>
        <a:lt2>
          <a:srgbClr val="B2B2B2"/>
        </a:lt2>
        <a:accent1>
          <a:srgbClr val="48BDEC"/>
        </a:accent1>
        <a:accent2>
          <a:srgbClr val="E68402"/>
        </a:accent2>
        <a:accent3>
          <a:srgbClr val="FFFFFF"/>
        </a:accent3>
        <a:accent4>
          <a:srgbClr val="000000"/>
        </a:accent4>
        <a:accent5>
          <a:srgbClr val="B1DBF4"/>
        </a:accent5>
        <a:accent6>
          <a:srgbClr val="D07702"/>
        </a:accent6>
        <a:hlink>
          <a:srgbClr val="339966"/>
        </a:hlink>
        <a:folHlink>
          <a:srgbClr val="7E88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426B"/>
        </a:dk1>
        <a:lt1>
          <a:srgbClr val="FFFFFF"/>
        </a:lt1>
        <a:dk2>
          <a:srgbClr val="008080"/>
        </a:dk2>
        <a:lt2>
          <a:srgbClr val="B2B2B2"/>
        </a:lt2>
        <a:accent1>
          <a:srgbClr val="35C9C2"/>
        </a:accent1>
        <a:accent2>
          <a:srgbClr val="398AC7"/>
        </a:accent2>
        <a:accent3>
          <a:srgbClr val="FFFFFF"/>
        </a:accent3>
        <a:accent4>
          <a:srgbClr val="14375A"/>
        </a:accent4>
        <a:accent5>
          <a:srgbClr val="AEE1DD"/>
        </a:accent5>
        <a:accent6>
          <a:srgbClr val="337DB4"/>
        </a:accent6>
        <a:hlink>
          <a:srgbClr val="8BBC00"/>
        </a:hlink>
        <a:folHlink>
          <a:srgbClr val="6D5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25095D"/>
        </a:dk1>
        <a:lt1>
          <a:srgbClr val="FFFFFF"/>
        </a:lt1>
        <a:dk2>
          <a:srgbClr val="235752"/>
        </a:dk2>
        <a:lt2>
          <a:srgbClr val="B2B2B2"/>
        </a:lt2>
        <a:accent1>
          <a:srgbClr val="DAAF34"/>
        </a:accent1>
        <a:accent2>
          <a:srgbClr val="6F9A3C"/>
        </a:accent2>
        <a:accent3>
          <a:srgbClr val="FFFFFF"/>
        </a:accent3>
        <a:accent4>
          <a:srgbClr val="1E064E"/>
        </a:accent4>
        <a:accent5>
          <a:srgbClr val="EAD4AE"/>
        </a:accent5>
        <a:accent6>
          <a:srgbClr val="648B35"/>
        </a:accent6>
        <a:hlink>
          <a:srgbClr val="8DAED9"/>
        </a:hlink>
        <a:folHlink>
          <a:srgbClr val="A8CB7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cdb2004123l</Template>
  <TotalTime>620</TotalTime>
  <Words>1885</Words>
  <Application>Microsoft Office PowerPoint</Application>
  <PresentationFormat>On-screen Show (4:3)</PresentationFormat>
  <Paragraphs>330</Paragraphs>
  <Slides>26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Arial</vt:lpstr>
      <vt:lpstr>Arial-Rounded</vt:lpstr>
      <vt:lpstr>Calibri</vt:lpstr>
      <vt:lpstr>Cambria</vt:lpstr>
      <vt:lpstr>Cambria Math</vt:lpstr>
      <vt:lpstr>Chelthm</vt:lpstr>
      <vt:lpstr>Courier New</vt:lpstr>
      <vt:lpstr>Tahoma</vt:lpstr>
      <vt:lpstr>Times New Roman</vt:lpstr>
      <vt:lpstr>Verdana</vt:lpstr>
      <vt:lpstr>Wingdings</vt:lpstr>
      <vt:lpstr>cdb2004123l</vt:lpstr>
      <vt:lpstr>Visio</vt:lpstr>
      <vt:lpstr>MÃ CHỨNG THỰC  THÔNG ĐIỆP &amp; HÀM BĂM</vt:lpstr>
      <vt:lpstr>Nội Dung </vt:lpstr>
      <vt:lpstr>I. Dẫn nhập</vt:lpstr>
      <vt:lpstr>PowerPoint Presentation</vt:lpstr>
      <vt:lpstr>PowerPoint Presentation</vt:lpstr>
      <vt:lpstr>PowerPoint Presentation</vt:lpstr>
      <vt:lpstr>II. Mã chứng thực thông điệp</vt:lpstr>
      <vt:lpstr>PowerPoint Presentation</vt:lpstr>
      <vt:lpstr>PowerPoint Presentation</vt:lpstr>
      <vt:lpstr>III. Hàm băm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IV. Ứng dụng của hàm băm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V. Hàm băm và chữ ký điện tử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MinhVan</dc:creator>
  <cp:lastModifiedBy>Tran Minh Van</cp:lastModifiedBy>
  <cp:revision>34</cp:revision>
  <dcterms:created xsi:type="dcterms:W3CDTF">2012-08-23T07:09:20Z</dcterms:created>
  <dcterms:modified xsi:type="dcterms:W3CDTF">2024-10-08T03:01:21Z</dcterms:modified>
</cp:coreProperties>
</file>