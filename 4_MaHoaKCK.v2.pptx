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97" r:id="rId3"/>
    <p:sldId id="258" r:id="rId4"/>
    <p:sldId id="259" r:id="rId5"/>
    <p:sldId id="294" r:id="rId6"/>
    <p:sldId id="299" r:id="rId7"/>
    <p:sldId id="265" r:id="rId8"/>
    <p:sldId id="266" r:id="rId9"/>
    <p:sldId id="295" r:id="rId10"/>
    <p:sldId id="296" r:id="rId11"/>
    <p:sldId id="269" r:id="rId12"/>
    <p:sldId id="270" r:id="rId13"/>
    <p:sldId id="301" r:id="rId14"/>
    <p:sldId id="272" r:id="rId15"/>
    <p:sldId id="302" r:id="rId16"/>
    <p:sldId id="275" r:id="rId17"/>
    <p:sldId id="276" r:id="rId18"/>
    <p:sldId id="277" r:id="rId19"/>
    <p:sldId id="282" r:id="rId20"/>
    <p:sldId id="283" r:id="rId21"/>
    <p:sldId id="284" r:id="rId22"/>
    <p:sldId id="303" r:id="rId23"/>
    <p:sldId id="304" r:id="rId24"/>
    <p:sldId id="305" r:id="rId25"/>
    <p:sldId id="292" r:id="rId26"/>
  </p:sldIdLst>
  <p:sldSz cx="9144000" cy="6858000" type="screen4x3"/>
  <p:notesSz cx="6858000" cy="9144000"/>
  <p:custDataLst>
    <p:tags r:id="rId2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6C00"/>
    <a:srgbClr val="FFECAF"/>
    <a:srgbClr val="301F67"/>
    <a:srgbClr val="8BBC00"/>
    <a:srgbClr val="4A6400"/>
    <a:srgbClr val="16524F"/>
    <a:srgbClr val="173851"/>
    <a:srgbClr val="1E4B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33" autoAdjust="0"/>
    <p:restoredTop sz="86176" autoAdjust="0"/>
  </p:normalViewPr>
  <p:slideViewPr>
    <p:cSldViewPr>
      <p:cViewPr varScale="1">
        <p:scale>
          <a:sx n="67" d="100"/>
          <a:sy n="67" d="100"/>
        </p:scale>
        <p:origin x="1668" y="2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796832-282D-4A52-9021-3D432DA032E9}" type="datetimeFigureOut">
              <a:rPr lang="en-US" smtClean="0"/>
              <a:t>19/03/25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DF9079-A2B0-4632-AD4E-3055FCA5B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295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6243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8672CA-7099-4D41-8CFB-EE9DB2B8411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50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5B66296-47CC-43E9-A592-81720467B9C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6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4FB21B4-1740-4C49-B6EF-0BC20C66718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958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86C2BD0-51A1-418B-AF22-484032ADD77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29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3BD8720-C7D7-4B93-87B6-8930AA9EEBC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49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7420AA9-E1CB-48F6-9162-719588018882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60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7253722-C5DE-40E3-9B9E-225F4E39D49B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151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044DA51-19A6-48A7-AE28-D73C918F8B0B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sz="1200">
                <a:latin typeface="Tahoma" pitchFamily="34" charset="0"/>
                <a:cs typeface="Arial-Rounded" pitchFamily="34" charset="0"/>
              </a:rPr>
              <a:t>17</a:t>
            </a:r>
            <a:r>
              <a:rPr lang="en-US" sz="1200" baseline="30000">
                <a:latin typeface="Tahoma" pitchFamily="34" charset="0"/>
                <a:cs typeface="Arial-Rounded" pitchFamily="34" charset="0"/>
              </a:rPr>
              <a:t>7</a:t>
            </a:r>
            <a:r>
              <a:rPr lang="en-US" sz="1200">
                <a:latin typeface="Tahoma" pitchFamily="34" charset="0"/>
                <a:cs typeface="Arial-Rounded" pitchFamily="34" charset="0"/>
              </a:rPr>
              <a:t> mod 33 = 29  (17</a:t>
            </a:r>
            <a:r>
              <a:rPr lang="en-US" sz="1200" baseline="30000">
                <a:latin typeface="Tahoma" pitchFamily="34" charset="0"/>
                <a:cs typeface="Arial-Rounded" pitchFamily="34" charset="0"/>
              </a:rPr>
              <a:t>7</a:t>
            </a:r>
            <a:r>
              <a:rPr lang="en-US" sz="1200">
                <a:latin typeface="Tahoma" pitchFamily="34" charset="0"/>
                <a:cs typeface="Arial-Rounded" pitchFamily="34" charset="0"/>
              </a:rPr>
              <a:t> = 410.338.673 = 12.434.505 x 33 + 8)   </a:t>
            </a:r>
          </a:p>
          <a:p>
            <a:pPr eaLnBrk="1" hangingPunct="1">
              <a:spcBef>
                <a:spcPct val="0"/>
              </a:spcBef>
            </a:pPr>
            <a:endParaRPr lang="en-US" sz="1200">
              <a:latin typeface="Tahoma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Tahoma" pitchFamily="34" charset="0"/>
                <a:cs typeface="Arial-Rounded" pitchFamily="34" charset="0"/>
              </a:rPr>
              <a:t>8</a:t>
            </a:r>
            <a:r>
              <a:rPr lang="en-US" sz="2400" baseline="30000">
                <a:latin typeface="Tahoma" pitchFamily="34" charset="0"/>
                <a:cs typeface="Arial-Rounded" pitchFamily="34" charset="0"/>
              </a:rPr>
              <a:t>3</a:t>
            </a:r>
            <a:r>
              <a:rPr lang="en-US" sz="2400">
                <a:latin typeface="Tahoma" pitchFamily="34" charset="0"/>
                <a:cs typeface="Arial-Rounded" pitchFamily="34" charset="0"/>
              </a:rPr>
              <a:t> mod 33 = 512  (8</a:t>
            </a:r>
            <a:r>
              <a:rPr lang="en-US" sz="2400" baseline="30000">
                <a:latin typeface="Tahoma" pitchFamily="34" charset="0"/>
                <a:cs typeface="Arial-Rounded" pitchFamily="34" charset="0"/>
              </a:rPr>
              <a:t>3</a:t>
            </a:r>
            <a:r>
              <a:rPr lang="en-US" sz="2400">
                <a:latin typeface="Tahoma" pitchFamily="34" charset="0"/>
                <a:cs typeface="Arial-Rounded" pitchFamily="34" charset="0"/>
              </a:rPr>
              <a:t> = 512 = 15 x 33 + 17)</a:t>
            </a:r>
          </a:p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145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C8D46FF-19E1-4CAE-BFDC-8E4A5F948F0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957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3F97A46-D6B2-4F4E-AC04-7369AFBB0EE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933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F813192-3E71-4B35-BB44-E40F5E8913B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0521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51FA88B-57DD-4895-8CD8-2CF188C20008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5714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CD768CE-18B1-4367-9D49-12BAE8A3574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95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EE05597-40B5-4207-8A3B-43691A4089B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034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EE1B2DE-DCAA-403D-A8AF-FB677C2E5491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279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18B9BCC-E892-4BA3-8F1F-95D2D546213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US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6352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7A5EA-A3A0-5FAA-8FED-6F84A5525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FF5F8923-F262-7988-4131-56D23A27EA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18B9BCC-E892-4BA3-8F1F-95D2D546213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US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A6CFC386-4A2D-638B-7C2D-A791534360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926DCBF9-0231-14A0-AF1F-3B0D85CF22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518897-0A57-6D35-4DB5-F8F92E6AE712}"/>
              </a:ext>
            </a:extLst>
          </p:cNvPr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5829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748F3-ED5F-469D-1A9B-FCBFB88AC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5F4340CB-0731-9606-287D-19182F38FA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18B9BCC-E892-4BA3-8F1F-95D2D546213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US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141811E9-B800-9EB4-D0BC-F15FE02A9C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1A32E034-AC99-571D-4ECC-B2F67D006F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C583F-1F4A-4520-5280-933CA2F24E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0252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A17DF-A7A3-FD23-72E9-489B7000D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25BBFBCC-5B14-5E57-F47F-586A1C5F7C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18B9BCC-E892-4BA3-8F1F-95D2D546213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US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389D8466-A1AF-E757-F7CB-1DD412C29B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2EC8DB17-27ED-06AC-A233-765F68849A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7F779-2946-62E7-200F-4EBD76BE44DB}"/>
              </a:ext>
            </a:extLst>
          </p:cNvPr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956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5081BD2-9236-4766-B2EA-7F7E1D595F83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Phần lập trình trên hệ thống là mục tiêu không bắt buộc</a:t>
            </a:r>
          </a:p>
          <a:p>
            <a:pPr eaLnBrk="1" hangingPunct="1">
              <a:spcBef>
                <a:spcPct val="0"/>
              </a:spcBef>
            </a:pPr>
            <a:r>
              <a:rPr lang="en-US"/>
              <a:t>Điểm khuyến khích cộng vào điểm thi đối với các SV có đóng góp ( bài tập nhỏ cuỗi chương)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215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6" name="Rectangle 24"/>
          <p:cNvSpPr>
            <a:spLocks noChangeArrowheads="1"/>
          </p:cNvSpPr>
          <p:nvPr/>
        </p:nvSpPr>
        <p:spPr bwMode="auto">
          <a:xfrm>
            <a:off x="0" y="3527425"/>
            <a:ext cx="9144000" cy="33575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86525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86525"/>
            <a:ext cx="2895600" cy="168275"/>
          </a:xfrm>
        </p:spPr>
        <p:txBody>
          <a:bodyPr/>
          <a:lstStyle>
            <a:lvl1pPr algn="ctr">
              <a:defRPr sz="1200" b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486525"/>
            <a:ext cx="2133600" cy="168275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C23A9963-A348-489E-A078-8F89107914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3086100"/>
            <a:ext cx="9144000" cy="5921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457200"/>
            <a:ext cx="7772400" cy="1905000"/>
          </a:xfrm>
        </p:spPr>
        <p:txBody>
          <a:bodyPr/>
          <a:lstStyle>
            <a:lvl1pPr algn="ctr">
              <a:defRPr sz="4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4343400" y="3178175"/>
            <a:ext cx="4572000" cy="3810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Nha Trang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b="1">
                <a:latin typeface="+mj-lt"/>
              </a:defRPr>
            </a:lvl1pPr>
          </a:lstStyle>
          <a:p>
            <a:fld id="{ADD77C13-390F-400C-BEC5-92A0E1FA74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078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A99138-99A1-4A5E-B84D-DF9D4476A9A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359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414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414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288167-4551-49DA-989E-F9BDA476C31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145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24308F-8145-4505-9178-3BF1FF6120F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076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23BD9F-54EB-44E0-A0D7-23A22476067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631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A01550-BF9C-41F9-8340-2C481291028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764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66DF10-34F5-49D8-9D01-2741B9C7A73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833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CAC9A1-F280-4A33-9AE2-BBB6E299925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13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758ADD-F6D5-4447-B201-793B45BC6D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51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152400"/>
            <a:ext cx="2076450" cy="6337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076950" cy="6337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60DC57-09D7-4BBF-8C97-5DEFB1E528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421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73914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241425"/>
            <a:ext cx="8229600" cy="5248275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24600" y="6564313"/>
            <a:ext cx="2362200" cy="2444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24200" y="6553200"/>
            <a:ext cx="2133600" cy="234950"/>
          </a:xfrm>
        </p:spPr>
        <p:txBody>
          <a:bodyPr/>
          <a:lstStyle>
            <a:lvl1pPr>
              <a:defRPr/>
            </a:lvl1pPr>
          </a:lstStyle>
          <a:p>
            <a:fld id="{DB9E937A-3ADE-49E0-A08F-FE8406E577B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91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73914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241425"/>
            <a:ext cx="8229600" cy="5248275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838200"/>
            <a:ext cx="5943600" cy="25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www.thmemgallery.com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24600" y="6564313"/>
            <a:ext cx="2362200" cy="2444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Company Logo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24200" y="6553200"/>
            <a:ext cx="2133600" cy="234950"/>
          </a:xfrm>
        </p:spPr>
        <p:txBody>
          <a:bodyPr/>
          <a:lstStyle>
            <a:lvl1pPr>
              <a:defRPr/>
            </a:lvl1pPr>
          </a:lstStyle>
          <a:p>
            <a:fld id="{3C5F29E0-B3B3-4234-B135-EABB7CC303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91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gray">
          <a:xfrm>
            <a:off x="0" y="872332"/>
            <a:ext cx="9144000" cy="15636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1425"/>
            <a:ext cx="8229600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324600" y="6564313"/>
            <a:ext cx="2362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latin typeface="+mn-lt"/>
              </a:defRPr>
            </a:lvl1pPr>
          </a:lstStyle>
          <a:p>
            <a:r>
              <a:rPr lang="en-US"/>
              <a:t>Nha Trang University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553200"/>
            <a:ext cx="2133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fld id="{1A744CEE-9186-4AB4-8C33-90025AE8CD4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black">
          <a:xfrm>
            <a:off x="381000" y="152400"/>
            <a:ext cx="7391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9144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i="0" u="none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 b="1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 b="0" i="0" u="none">
          <a:solidFill>
            <a:schemeClr val="tx1"/>
          </a:solidFill>
          <a:latin typeface="Arial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4"/>
          <p:cNvSpPr>
            <a:spLocks noGrp="1" noChangeArrowheads="1"/>
          </p:cNvSpPr>
          <p:nvPr>
            <p:ph type="ctrTitle"/>
          </p:nvPr>
        </p:nvSpPr>
        <p:spPr>
          <a:xfrm>
            <a:off x="0" y="762000"/>
            <a:ext cx="9144000" cy="2133600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2400"/>
              </a:spcBef>
            </a:pPr>
            <a:r>
              <a:rPr lang="en-US" b="1">
                <a:latin typeface="Chelthm" pitchFamily="18" charset="0"/>
                <a:cs typeface="Chelthm" pitchFamily="18" charset="0"/>
              </a:rPr>
              <a:t>MÃ HÓA KHÓA CÔNG KHAI</a:t>
            </a:r>
            <a:br>
              <a:rPr lang="en-US" b="1">
                <a:latin typeface="Chelthm" pitchFamily="18" charset="0"/>
                <a:cs typeface="Chelthm" pitchFamily="18" charset="0"/>
              </a:rPr>
            </a:br>
            <a:r>
              <a:rPr lang="en-US">
                <a:latin typeface="Chelthm" pitchFamily="18" charset="0"/>
                <a:cs typeface="Chelthm" pitchFamily="18" charset="0"/>
              </a:rPr>
              <a:t>(Public Key Cryptography)</a:t>
            </a:r>
            <a:endParaRPr lang="en-US" b="1">
              <a:latin typeface="Chelthm" pitchFamily="18" charset="0"/>
              <a:cs typeface="Chelthm" pitchFamily="18" charset="0"/>
            </a:endParaRPr>
          </a:p>
        </p:txBody>
      </p:sp>
      <p:sp>
        <p:nvSpPr>
          <p:cNvPr id="2051" name="Text Box 5"/>
          <p:cNvSpPr txBox="1">
            <a:spLocks noChangeArrowheads="1"/>
          </p:cNvSpPr>
          <p:nvPr/>
        </p:nvSpPr>
        <p:spPr bwMode="auto">
          <a:xfrm>
            <a:off x="762000" y="3088943"/>
            <a:ext cx="76962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200" b="1">
                <a:solidFill>
                  <a:schemeClr val="bg1"/>
                </a:solidFill>
                <a:latin typeface="Arial-Rounded" pitchFamily="34" charset="0"/>
                <a:cs typeface="Arial-Rounded" pitchFamily="34" charset="0"/>
              </a:rPr>
              <a:t>CHƯƠNG  4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323" y="4038600"/>
            <a:ext cx="3067553" cy="268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876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458200" cy="4737100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vi-VN"/>
              <a:t>Giới thiệu</a:t>
            </a:r>
          </a:p>
          <a:p>
            <a:pPr marL="571500" indent="-571500">
              <a:buFont typeface="+mj-lt"/>
              <a:buAutoNum type="romanUcPeriod"/>
            </a:pPr>
            <a:r>
              <a:rPr lang="vi-VN"/>
              <a:t>Lý thuyết số</a:t>
            </a:r>
          </a:p>
          <a:p>
            <a:pPr marL="571500" indent="-571500">
              <a:buFont typeface="+mj-lt"/>
              <a:buAutoNum type="romanUcPeriod"/>
            </a:pPr>
            <a:r>
              <a:rPr lang="vi-VN"/>
              <a:t>Mã hóa RSA</a:t>
            </a:r>
          </a:p>
          <a:p>
            <a:pPr marL="571500" indent="-571500">
              <a:buFont typeface="+mj-lt"/>
              <a:buAutoNum type="romanUcPeriod"/>
            </a:pPr>
            <a:r>
              <a:rPr lang="en-US"/>
              <a:t>Ứng dụng của mã hóa khóa công khai</a:t>
            </a:r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</p:spTree>
    <p:extLst>
      <p:ext uri="{BB962C8B-B14F-4D97-AF65-F5344CB8AC3E}">
        <p14:creationId xmlns:p14="http://schemas.microsoft.com/office/powerpoint/2010/main" val="1697593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 txBox="1">
            <a:spLocks noChangeArrowheads="1"/>
          </p:cNvSpPr>
          <p:nvPr/>
        </p:nvSpPr>
        <p:spPr bwMode="auto">
          <a:xfrm>
            <a:off x="304800" y="1295400"/>
            <a:ext cx="82296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lnSpc>
                <a:spcPct val="120000"/>
              </a:lnSpc>
              <a:buFont typeface="Calibri" pitchFamily="34" charset="0"/>
              <a:buAutoNum type="arabicParenR"/>
              <a:defRPr/>
            </a:pPr>
            <a:r>
              <a:rPr lang="en-US" sz="2800" b="1">
                <a:latin typeface="Tahoma" pitchFamily="34" charset="0"/>
                <a:ea typeface="Arial-Rounded" pitchFamily="34" charset="0"/>
                <a:cs typeface="Tahoma" pitchFamily="34" charset="0"/>
              </a:rPr>
              <a:t>Điểm yếu của mã hóa đối xứng</a:t>
            </a:r>
          </a:p>
          <a:p>
            <a:pPr marL="914400" lvl="1" indent="-457200">
              <a:lnSpc>
                <a:spcPct val="120000"/>
              </a:lnSpc>
              <a:spcBef>
                <a:spcPts val="600"/>
              </a:spcBef>
              <a:buFont typeface="Arial" charset="0"/>
              <a:buChar char="•"/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914400" lvl="1" indent="-457200">
              <a:lnSpc>
                <a:spcPct val="120000"/>
              </a:lnSpc>
              <a:spcBef>
                <a:spcPts val="600"/>
              </a:spcBef>
              <a:buFont typeface="Arial" charset="0"/>
              <a:buChar char="•"/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914400" lvl="1" indent="-457200">
              <a:lnSpc>
                <a:spcPct val="120000"/>
              </a:lnSpc>
              <a:spcBef>
                <a:spcPts val="600"/>
              </a:spcBef>
              <a:buFont typeface="Arial" charset="0"/>
              <a:buChar char="•"/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914400" lvl="1" indent="-457200">
              <a:lnSpc>
                <a:spcPct val="120000"/>
              </a:lnSpc>
              <a:spcBef>
                <a:spcPts val="600"/>
              </a:spcBef>
              <a:buFont typeface="Arial" charset="0"/>
              <a:buChar char="•"/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914400" lvl="1" indent="-457200">
              <a:lnSpc>
                <a:spcPct val="120000"/>
              </a:lnSpc>
              <a:spcBef>
                <a:spcPts val="600"/>
              </a:spcBef>
              <a:buFont typeface="Arial" charset="0"/>
              <a:buChar char="•"/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914400" lvl="1" indent="-457200">
              <a:lnSpc>
                <a:spcPct val="120000"/>
              </a:lnSpc>
              <a:spcBef>
                <a:spcPts val="600"/>
              </a:spcBef>
              <a:buFont typeface="Arial" charset="0"/>
              <a:buChar char="•"/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914400" lvl="1" indent="-457200">
              <a:lnSpc>
                <a:spcPct val="120000"/>
              </a:lnSpc>
              <a:spcBef>
                <a:spcPts val="2400"/>
              </a:spcBef>
              <a:buFont typeface="Arial" charset="0"/>
              <a:buChar char="•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Cần kênh an toàn để trao đổi khóa, tốn kém chi phí</a:t>
            </a:r>
          </a:p>
          <a:p>
            <a:pPr marL="914400" lvl="1" indent="-457200">
              <a:lnSpc>
                <a:spcPct val="120000"/>
              </a:lnSpc>
              <a:buFont typeface="Arial" charset="0"/>
              <a:buChar char="•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Tính bí mật của khóa: không có cơ sở quy trách nhiệm nếu khóa bị tiết lộ.</a:t>
            </a:r>
          </a:p>
          <a:p>
            <a:pPr marL="1200150" lvl="1" indent="-742950">
              <a:lnSpc>
                <a:spcPct val="110000"/>
              </a:lnSpc>
              <a:buFont typeface="Arial" charset="0"/>
              <a:buChar char="•"/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1200150" lvl="1" indent="-742950">
              <a:lnSpc>
                <a:spcPct val="110000"/>
              </a:lnSpc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	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DEB88B-6817-4204-A30C-FCC35F2AD556}" type="slidenum">
              <a:rPr lang="en-US"/>
              <a:pPr>
                <a:defRPr/>
              </a:pPr>
              <a:t>3</a:t>
            </a:fld>
            <a:endParaRPr lang="en-US"/>
          </a:p>
        </p:txBody>
      </p:sp>
      <p:grpSp>
        <p:nvGrpSpPr>
          <p:cNvPr id="5125" name="Group 35"/>
          <p:cNvGrpSpPr>
            <a:grpSpLocks/>
          </p:cNvGrpSpPr>
          <p:nvPr/>
        </p:nvGrpSpPr>
        <p:grpSpPr bwMode="auto">
          <a:xfrm>
            <a:off x="457200" y="2057400"/>
            <a:ext cx="8382000" cy="2876550"/>
            <a:chOff x="0" y="3371850"/>
            <a:chExt cx="8915400" cy="3410758"/>
          </a:xfrm>
        </p:grpSpPr>
        <p:sp>
          <p:nvSpPr>
            <p:cNvPr id="5128" name="Text Box 33"/>
            <p:cNvSpPr txBox="1">
              <a:spLocks noChangeArrowheads="1"/>
            </p:cNvSpPr>
            <p:nvPr/>
          </p:nvSpPr>
          <p:spPr bwMode="auto">
            <a:xfrm>
              <a:off x="1353269" y="5724097"/>
              <a:ext cx="495179" cy="525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000" i="1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P</a:t>
              </a:r>
              <a:endParaRPr lang="en-US" sz="2000">
                <a:latin typeface="Tahoma" pitchFamily="34" charset="0"/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5129" name="Text Box 32"/>
            <p:cNvSpPr txBox="1">
              <a:spLocks noChangeArrowheads="1"/>
            </p:cNvSpPr>
            <p:nvPr/>
          </p:nvSpPr>
          <p:spPr bwMode="auto">
            <a:xfrm>
              <a:off x="3601795" y="6256732"/>
              <a:ext cx="479875" cy="525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000" i="1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C</a:t>
              </a:r>
              <a:endParaRPr lang="en-US" sz="2000">
                <a:latin typeface="Tahoma" pitchFamily="34" charset="0"/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5130" name="Text Box 31"/>
            <p:cNvSpPr txBox="1">
              <a:spLocks noChangeArrowheads="1"/>
            </p:cNvSpPr>
            <p:nvPr/>
          </p:nvSpPr>
          <p:spPr bwMode="auto">
            <a:xfrm>
              <a:off x="1782861" y="3371850"/>
              <a:ext cx="1636385" cy="456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0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bộ sinh khóa </a:t>
              </a:r>
            </a:p>
          </p:txBody>
        </p:sp>
        <p:sp>
          <p:nvSpPr>
            <p:cNvPr id="5131" name="Text Box 30"/>
            <p:cNvSpPr txBox="1">
              <a:spLocks noChangeArrowheads="1"/>
            </p:cNvSpPr>
            <p:nvPr/>
          </p:nvSpPr>
          <p:spPr bwMode="auto">
            <a:xfrm>
              <a:off x="7670348" y="5986359"/>
              <a:ext cx="1245052" cy="525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0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nơi nhận</a:t>
              </a:r>
            </a:p>
          </p:txBody>
        </p:sp>
        <p:sp>
          <p:nvSpPr>
            <p:cNvPr id="5132" name="Text Box 29"/>
            <p:cNvSpPr txBox="1">
              <a:spLocks noChangeArrowheads="1"/>
            </p:cNvSpPr>
            <p:nvPr/>
          </p:nvSpPr>
          <p:spPr bwMode="auto">
            <a:xfrm>
              <a:off x="2025532" y="5897136"/>
              <a:ext cx="1264728" cy="61509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91440" rIns="18000" bIns="9144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ts val="600"/>
                </a:spcBef>
              </a:pPr>
              <a:r>
                <a:rPr lang="en-US" sz="20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Mã hóa</a:t>
              </a:r>
            </a:p>
          </p:txBody>
        </p:sp>
        <p:sp>
          <p:nvSpPr>
            <p:cNvPr id="5133" name="Text Box 28"/>
            <p:cNvSpPr txBox="1">
              <a:spLocks noChangeArrowheads="1"/>
            </p:cNvSpPr>
            <p:nvPr/>
          </p:nvSpPr>
          <p:spPr bwMode="auto">
            <a:xfrm>
              <a:off x="5514737" y="5897136"/>
              <a:ext cx="1264728" cy="61509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9144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0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Giải mã </a:t>
              </a:r>
            </a:p>
          </p:txBody>
        </p:sp>
        <p:cxnSp>
          <p:nvCxnSpPr>
            <p:cNvPr id="5134" name="AutoShape 27"/>
            <p:cNvCxnSpPr>
              <a:cxnSpLocks noChangeShapeType="1"/>
            </p:cNvCxnSpPr>
            <p:nvPr/>
          </p:nvCxnSpPr>
          <p:spPr bwMode="auto">
            <a:xfrm>
              <a:off x="1095296" y="6218880"/>
              <a:ext cx="930236" cy="135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35" name="AutoShape 26"/>
            <p:cNvCxnSpPr>
              <a:cxnSpLocks noChangeShapeType="1"/>
            </p:cNvCxnSpPr>
            <p:nvPr/>
          </p:nvCxnSpPr>
          <p:spPr bwMode="auto">
            <a:xfrm>
              <a:off x="6779464" y="6217528"/>
              <a:ext cx="930236" cy="135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36" name="AutoShape 25"/>
            <p:cNvCxnSpPr>
              <a:cxnSpLocks noChangeShapeType="1"/>
            </p:cNvCxnSpPr>
            <p:nvPr/>
          </p:nvCxnSpPr>
          <p:spPr bwMode="auto">
            <a:xfrm>
              <a:off x="2671559" y="3988301"/>
              <a:ext cx="1093" cy="19088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37" name="AutoShape 24"/>
            <p:cNvCxnSpPr>
              <a:cxnSpLocks noChangeShapeType="1"/>
            </p:cNvCxnSpPr>
            <p:nvPr/>
          </p:nvCxnSpPr>
          <p:spPr bwMode="auto">
            <a:xfrm>
              <a:off x="6159671" y="4708845"/>
              <a:ext cx="1093" cy="11774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138" name="AutoShape 23"/>
            <p:cNvSpPr>
              <a:spLocks noChangeArrowheads="1"/>
            </p:cNvSpPr>
            <p:nvPr/>
          </p:nvSpPr>
          <p:spPr bwMode="auto">
            <a:xfrm rot="-5400000">
              <a:off x="4295566" y="3514278"/>
              <a:ext cx="392041" cy="2402654"/>
            </a:xfrm>
            <a:prstGeom prst="can">
              <a:avLst>
                <a:gd name="adj" fmla="val 89971"/>
              </a:avLst>
            </a:prstGeom>
            <a:gradFill rotWithShape="0">
              <a:gsLst>
                <a:gs pos="0">
                  <a:srgbClr val="CCCCCC"/>
                </a:gs>
                <a:gs pos="100000">
                  <a:srgbClr val="000000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18000" tIns="18000" rIns="18000" bIns="18000"/>
            <a:lstStyle/>
            <a:p>
              <a:endParaRPr lang="en-US" sz="2000">
                <a:latin typeface="Tahoma" pitchFamily="34" charset="0"/>
                <a:cs typeface="Tahoma" pitchFamily="34" charset="0"/>
              </a:endParaRPr>
            </a:p>
          </p:txBody>
        </p:sp>
        <p:cxnSp>
          <p:nvCxnSpPr>
            <p:cNvPr id="5139" name="AutoShape 22"/>
            <p:cNvCxnSpPr>
              <a:cxnSpLocks noChangeShapeType="1"/>
            </p:cNvCxnSpPr>
            <p:nvPr/>
          </p:nvCxnSpPr>
          <p:spPr bwMode="auto">
            <a:xfrm>
              <a:off x="3290259" y="6220232"/>
              <a:ext cx="2224478" cy="135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140" name="Text Box 15"/>
            <p:cNvSpPr txBox="1">
              <a:spLocks noChangeArrowheads="1"/>
            </p:cNvSpPr>
            <p:nvPr/>
          </p:nvSpPr>
          <p:spPr bwMode="auto">
            <a:xfrm>
              <a:off x="0" y="5986359"/>
              <a:ext cx="1095296" cy="525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0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nơi gởi</a:t>
              </a:r>
            </a:p>
          </p:txBody>
        </p:sp>
        <p:sp>
          <p:nvSpPr>
            <p:cNvPr id="5141" name="Text Box 14"/>
            <p:cNvSpPr txBox="1">
              <a:spLocks noChangeArrowheads="1"/>
            </p:cNvSpPr>
            <p:nvPr/>
          </p:nvSpPr>
          <p:spPr bwMode="auto">
            <a:xfrm>
              <a:off x="7037438" y="5695708"/>
              <a:ext cx="495179" cy="525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000" i="1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P</a:t>
              </a:r>
              <a:endParaRPr lang="en-US" sz="2000">
                <a:latin typeface="Tahoma" pitchFamily="34" charset="0"/>
                <a:ea typeface="Times New Roman" pitchFamily="18" charset="0"/>
                <a:cs typeface="Tahoma" pitchFamily="34" charset="0"/>
              </a:endParaRPr>
            </a:p>
          </p:txBody>
        </p:sp>
        <p:sp>
          <p:nvSpPr>
            <p:cNvPr id="5142" name="Text Box 13"/>
            <p:cNvSpPr txBox="1">
              <a:spLocks noChangeArrowheads="1"/>
            </p:cNvSpPr>
            <p:nvPr/>
          </p:nvSpPr>
          <p:spPr bwMode="auto">
            <a:xfrm>
              <a:off x="3601795" y="3988301"/>
              <a:ext cx="1765372" cy="4609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0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kênh an toàn </a:t>
              </a:r>
            </a:p>
          </p:txBody>
        </p:sp>
        <p:sp>
          <p:nvSpPr>
            <p:cNvPr id="5143" name="Text Box 12"/>
            <p:cNvSpPr txBox="1">
              <a:spLocks noChangeArrowheads="1"/>
            </p:cNvSpPr>
            <p:nvPr/>
          </p:nvSpPr>
          <p:spPr bwMode="auto">
            <a:xfrm>
              <a:off x="2672652" y="4811587"/>
              <a:ext cx="495179" cy="525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000" i="1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K</a:t>
              </a:r>
              <a:endParaRPr lang="en-US" sz="2000">
                <a:latin typeface="Tahoma" pitchFamily="34" charset="0"/>
                <a:ea typeface="Times New Roman" pitchFamily="18" charset="0"/>
                <a:cs typeface="Tahoma" pitchFamily="34" charset="0"/>
              </a:endParaRPr>
            </a:p>
          </p:txBody>
        </p:sp>
        <p:cxnSp>
          <p:nvCxnSpPr>
            <p:cNvPr id="5144" name="AutoShape 11"/>
            <p:cNvCxnSpPr>
              <a:cxnSpLocks noChangeShapeType="1"/>
            </p:cNvCxnSpPr>
            <p:nvPr/>
          </p:nvCxnSpPr>
          <p:spPr bwMode="auto">
            <a:xfrm>
              <a:off x="2671559" y="4708845"/>
              <a:ext cx="61870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45" name="AutoShape 10"/>
            <p:cNvCxnSpPr>
              <a:cxnSpLocks noChangeShapeType="1"/>
            </p:cNvCxnSpPr>
            <p:nvPr/>
          </p:nvCxnSpPr>
          <p:spPr bwMode="auto">
            <a:xfrm>
              <a:off x="5692914" y="4708845"/>
              <a:ext cx="46675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146" name="Text Box 9"/>
            <p:cNvSpPr txBox="1">
              <a:spLocks noChangeArrowheads="1"/>
            </p:cNvSpPr>
            <p:nvPr/>
          </p:nvSpPr>
          <p:spPr bwMode="auto">
            <a:xfrm>
              <a:off x="3544954" y="5695708"/>
              <a:ext cx="1765372" cy="4609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000">
                  <a:latin typeface="Tahoma" pitchFamily="34" charset="0"/>
                  <a:ea typeface="Times New Roman" pitchFamily="18" charset="0"/>
                  <a:cs typeface="Tahoma" pitchFamily="34" charset="0"/>
                </a:rPr>
                <a:t>kênh thường </a:t>
              </a:r>
            </a:p>
          </p:txBody>
        </p:sp>
      </p:grpSp>
      <p:sp>
        <p:nvSpPr>
          <p:cNvPr id="5126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27" name="Rectangle 42"/>
          <p:cNvSpPr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I. Giới thiệu</a:t>
            </a:r>
          </a:p>
        </p:txBody>
      </p:sp>
    </p:spTree>
    <p:extLst>
      <p:ext uri="{BB962C8B-B14F-4D97-AF65-F5344CB8AC3E}">
        <p14:creationId xmlns:p14="http://schemas.microsoft.com/office/powerpoint/2010/main" val="2935081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 txBox="1">
            <a:spLocks noChangeArrowheads="1"/>
          </p:cNvSpPr>
          <p:nvPr/>
        </p:nvSpPr>
        <p:spPr bwMode="auto">
          <a:xfrm>
            <a:off x="304800" y="1295399"/>
            <a:ext cx="84582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14350" indent="-51435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9144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20000"/>
              </a:lnSpc>
              <a:buFont typeface="Calibri" pitchFamily="34" charset="0"/>
              <a:buAutoNum type="arabicParenR" startAt="2"/>
            </a:pPr>
            <a:r>
              <a:rPr lang="en-US" sz="2800" b="1">
                <a:latin typeface="Tahoma" pitchFamily="34" charset="0"/>
                <a:ea typeface="Arial-Rounded" pitchFamily="34" charset="0"/>
                <a:cs typeface="Tahoma" pitchFamily="34" charset="0"/>
              </a:rPr>
              <a:t>Ý tưởng của mã hóa khóa công khai: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Có tồn tại mã hóa và giải mã dùng 2 khóa khác nhau?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C1CA83-CD5E-4F08-A1D9-EA23B7E2E1BD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6148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49" name="Rectangle 42"/>
          <p:cNvSpPr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0" name="Rectangle 27"/>
          <p:cNvSpPr>
            <a:spLocks noChangeArrowheads="1"/>
          </p:cNvSpPr>
          <p:nvPr/>
        </p:nvSpPr>
        <p:spPr bwMode="auto">
          <a:xfrm>
            <a:off x="2667000" y="2819399"/>
            <a:ext cx="37179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i="1">
                <a:latin typeface="Cambria" pitchFamily="18" charset="0"/>
              </a:rPr>
              <a:t>C </a:t>
            </a:r>
            <a:r>
              <a:rPr lang="en-US" sz="2400">
                <a:latin typeface="Cambria" pitchFamily="18" charset="0"/>
              </a:rPr>
              <a:t>=</a:t>
            </a:r>
            <a:r>
              <a:rPr lang="en-US" sz="2400" i="1">
                <a:latin typeface="Cambria" pitchFamily="18" charset="0"/>
              </a:rPr>
              <a:t> E</a:t>
            </a:r>
            <a:r>
              <a:rPr lang="en-US" sz="240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(</a:t>
            </a:r>
            <a:r>
              <a:rPr lang="en-US" sz="2400" i="1">
                <a:latin typeface="Cambria" pitchFamily="18" charset="0"/>
              </a:rPr>
              <a:t>P</a:t>
            </a:r>
            <a:r>
              <a:rPr lang="en-US" sz="2400">
                <a:latin typeface="Cambria" pitchFamily="18" charset="0"/>
              </a:rPr>
              <a:t>, </a:t>
            </a:r>
            <a:r>
              <a:rPr lang="en-US" sz="2400" i="1">
                <a:latin typeface="Cambria" pitchFamily="18" charset="0"/>
              </a:rPr>
              <a:t>K</a:t>
            </a:r>
            <a:r>
              <a:rPr lang="en-US" sz="2400" baseline="-25000">
                <a:latin typeface="Cambria" pitchFamily="18" charset="0"/>
              </a:rPr>
              <a:t>1</a:t>
            </a:r>
            <a:r>
              <a:rPr lang="en-US" sz="240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)</a:t>
            </a:r>
            <a:r>
              <a:rPr lang="en-US" sz="2400">
                <a:latin typeface="Cambria" pitchFamily="18" charset="0"/>
              </a:rPr>
              <a:t> và </a:t>
            </a:r>
            <a:r>
              <a:rPr lang="en-US" sz="2400" i="1">
                <a:latin typeface="Cambria" pitchFamily="18" charset="0"/>
              </a:rPr>
              <a:t>P</a:t>
            </a:r>
            <a:r>
              <a:rPr lang="en-US" sz="2400">
                <a:latin typeface="Cambria" pitchFamily="18" charset="0"/>
              </a:rPr>
              <a:t> = </a:t>
            </a:r>
            <a:r>
              <a:rPr lang="en-US" sz="2400" i="1">
                <a:latin typeface="Cambria" pitchFamily="18" charset="0"/>
              </a:rPr>
              <a:t>D</a:t>
            </a:r>
            <a:r>
              <a:rPr lang="en-US" sz="240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(</a:t>
            </a:r>
            <a:r>
              <a:rPr lang="en-US" sz="2400" i="1">
                <a:latin typeface="Cambria" pitchFamily="18" charset="0"/>
              </a:rPr>
              <a:t>C</a:t>
            </a:r>
            <a:r>
              <a:rPr lang="en-US" sz="2400">
                <a:latin typeface="Cambria" pitchFamily="18" charset="0"/>
              </a:rPr>
              <a:t>, </a:t>
            </a:r>
            <a:r>
              <a:rPr lang="en-US" sz="2400" i="1">
                <a:latin typeface="Cambria" pitchFamily="18" charset="0"/>
              </a:rPr>
              <a:t>K</a:t>
            </a:r>
            <a:r>
              <a:rPr lang="en-US" sz="2400" baseline="-25000">
                <a:latin typeface="Cambria" pitchFamily="18" charset="0"/>
              </a:rPr>
              <a:t>2</a:t>
            </a:r>
            <a:r>
              <a:rPr lang="en-US" sz="240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)</a:t>
            </a:r>
            <a:endParaRPr lang="en-US" sz="2400">
              <a:latin typeface="Cambria" pitchFamily="18" charset="0"/>
            </a:endParaRPr>
          </a:p>
        </p:txBody>
      </p:sp>
      <p:sp>
        <p:nvSpPr>
          <p:cNvPr id="6151" name="Rectangle 28"/>
          <p:cNvSpPr>
            <a:spLocks noChangeArrowheads="1"/>
          </p:cNvSpPr>
          <p:nvPr/>
        </p:nvSpPr>
        <p:spPr bwMode="auto">
          <a:xfrm>
            <a:off x="4545013" y="3505199"/>
            <a:ext cx="17795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i="1">
                <a:latin typeface="Cambria" pitchFamily="18" charset="0"/>
              </a:rPr>
              <a:t>P</a:t>
            </a:r>
            <a:r>
              <a:rPr lang="en-US" sz="2400">
                <a:latin typeface="Cambria" pitchFamily="18" charset="0"/>
              </a:rPr>
              <a:t> = </a:t>
            </a:r>
            <a:r>
              <a:rPr lang="en-US" sz="2400" i="1">
                <a:latin typeface="Cambria" pitchFamily="18" charset="0"/>
              </a:rPr>
              <a:t>D</a:t>
            </a:r>
            <a:r>
              <a:rPr lang="en-US" sz="240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(</a:t>
            </a:r>
            <a:r>
              <a:rPr lang="en-US" sz="2400" i="1">
                <a:latin typeface="Cambria" pitchFamily="18" charset="0"/>
              </a:rPr>
              <a:t>C</a:t>
            </a:r>
            <a:r>
              <a:rPr lang="en-US" sz="2400">
                <a:latin typeface="Cambria" pitchFamily="18" charset="0"/>
              </a:rPr>
              <a:t>, </a:t>
            </a:r>
            <a:r>
              <a:rPr lang="en-US" sz="2400" i="1">
                <a:latin typeface="Cambria" pitchFamily="18" charset="0"/>
              </a:rPr>
              <a:t>K</a:t>
            </a:r>
            <a:r>
              <a:rPr lang="en-US" sz="2400" baseline="-25000">
                <a:latin typeface="Cambria" pitchFamily="18" charset="0"/>
              </a:rPr>
              <a:t>1</a:t>
            </a:r>
            <a:r>
              <a:rPr lang="en-US" sz="240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)</a:t>
            </a:r>
            <a:endParaRPr lang="en-US" sz="2400">
              <a:latin typeface="Cambria" pitchFamily="18" charset="0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4495800" y="3428999"/>
            <a:ext cx="1828800" cy="609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10800000" flipV="1">
            <a:off x="4495800" y="3428999"/>
            <a:ext cx="1828800" cy="609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54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4457700"/>
            <a:ext cx="194310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5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152900"/>
            <a:ext cx="194310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3438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0" grpId="0"/>
      <p:bldP spid="615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1425"/>
            <a:ext cx="8458200" cy="3101975"/>
          </a:xfrm>
        </p:spPr>
        <p:txBody>
          <a:bodyPr/>
          <a:lstStyle/>
          <a:p>
            <a:r>
              <a:rPr lang="vi-VN"/>
              <a:t>Phương án áp dụng: </a:t>
            </a:r>
          </a:p>
          <a:p>
            <a:pPr lvl="1"/>
            <a:r>
              <a:rPr lang="vi-VN"/>
              <a:t>Alice giữ bí mật khóa mã hóa K1, công khai K2</a:t>
            </a:r>
          </a:p>
          <a:p>
            <a:pPr lvl="1"/>
            <a:r>
              <a:rPr lang="vi-VN"/>
              <a:t>Ngoài Bob, Trudy cũng có thể dùng K2 giải mã.</a:t>
            </a:r>
          </a:p>
          <a:p>
            <a:pPr marL="457200" lvl="1" indent="0">
              <a:buNone/>
            </a:pPr>
            <a:r>
              <a:rPr lang="vi-VN"/>
              <a:t>	</a:t>
            </a:r>
            <a:r>
              <a:rPr lang="en-US"/>
              <a:t>=&gt; </a:t>
            </a:r>
            <a:r>
              <a:rPr lang="vi-VN"/>
              <a:t>Không có tính bảo mật.</a:t>
            </a:r>
          </a:p>
          <a:p>
            <a:pPr lvl="1"/>
            <a:r>
              <a:rPr lang="vi-VN"/>
              <a:t>Nếu Trudy có K1, Alice chịu trách nhiệm là lộ khóa </a:t>
            </a:r>
            <a:r>
              <a:rPr lang="en-US"/>
              <a:t>=&gt; </a:t>
            </a:r>
            <a:r>
              <a:rPr lang="vi-VN"/>
              <a:t>đảm bảo tính không </a:t>
            </a:r>
            <a:r>
              <a:rPr lang="en-US"/>
              <a:t>thể từ chối</a:t>
            </a:r>
            <a:r>
              <a:rPr lang="vi-VN"/>
              <a:t>.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Nha Trang University</a:t>
            </a:r>
          </a:p>
        </p:txBody>
      </p:sp>
      <p:sp>
        <p:nvSpPr>
          <p:cNvPr id="5" name="Rectangle 27"/>
          <p:cNvSpPr>
            <a:spLocks noChangeArrowheads="1"/>
          </p:cNvSpPr>
          <p:nvPr/>
        </p:nvSpPr>
        <p:spPr bwMode="auto">
          <a:xfrm>
            <a:off x="2590800" y="4648200"/>
            <a:ext cx="43014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800" i="1">
                <a:latin typeface="Cambria" pitchFamily="18" charset="0"/>
              </a:rPr>
              <a:t>C </a:t>
            </a:r>
            <a:r>
              <a:rPr lang="en-US" sz="2800">
                <a:latin typeface="Cambria" pitchFamily="18" charset="0"/>
              </a:rPr>
              <a:t>=</a:t>
            </a:r>
            <a:r>
              <a:rPr lang="en-US" sz="2800" i="1">
                <a:latin typeface="Cambria" pitchFamily="18" charset="0"/>
              </a:rPr>
              <a:t> E</a:t>
            </a:r>
            <a:r>
              <a:rPr lang="en-US" sz="280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(</a:t>
            </a:r>
            <a:r>
              <a:rPr lang="en-US" sz="2800" i="1">
                <a:latin typeface="Cambria" pitchFamily="18" charset="0"/>
              </a:rPr>
              <a:t>P</a:t>
            </a:r>
            <a:r>
              <a:rPr lang="en-US" sz="2800">
                <a:latin typeface="Cambria" pitchFamily="18" charset="0"/>
              </a:rPr>
              <a:t>, </a:t>
            </a:r>
            <a:r>
              <a:rPr lang="en-US" sz="2800" i="1">
                <a:latin typeface="Cambria" pitchFamily="18" charset="0"/>
              </a:rPr>
              <a:t>K</a:t>
            </a:r>
            <a:r>
              <a:rPr lang="en-US" sz="2800" baseline="-25000">
                <a:latin typeface="Cambria" pitchFamily="18" charset="0"/>
              </a:rPr>
              <a:t>1</a:t>
            </a:r>
            <a:r>
              <a:rPr lang="en-US" sz="280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)</a:t>
            </a:r>
            <a:r>
              <a:rPr lang="en-US" sz="2800">
                <a:latin typeface="Cambria" pitchFamily="18" charset="0"/>
              </a:rPr>
              <a:t> và </a:t>
            </a:r>
            <a:r>
              <a:rPr lang="en-US" sz="2800" i="1">
                <a:latin typeface="Cambria" pitchFamily="18" charset="0"/>
              </a:rPr>
              <a:t>P</a:t>
            </a:r>
            <a:r>
              <a:rPr lang="en-US" sz="2800">
                <a:latin typeface="Cambria" pitchFamily="18" charset="0"/>
              </a:rPr>
              <a:t> = </a:t>
            </a:r>
            <a:r>
              <a:rPr lang="en-US" sz="2800" i="1">
                <a:latin typeface="Cambria" pitchFamily="18" charset="0"/>
              </a:rPr>
              <a:t>D</a:t>
            </a:r>
            <a:r>
              <a:rPr lang="en-US" sz="280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(</a:t>
            </a:r>
            <a:r>
              <a:rPr lang="en-US" sz="2800" i="1">
                <a:latin typeface="Cambria" pitchFamily="18" charset="0"/>
              </a:rPr>
              <a:t>C</a:t>
            </a:r>
            <a:r>
              <a:rPr lang="en-US" sz="2800">
                <a:latin typeface="Cambria" pitchFamily="18" charset="0"/>
              </a:rPr>
              <a:t>, </a:t>
            </a:r>
            <a:r>
              <a:rPr lang="en-US" sz="2800" i="1">
                <a:latin typeface="Cambria" pitchFamily="18" charset="0"/>
              </a:rPr>
              <a:t>K</a:t>
            </a:r>
            <a:r>
              <a:rPr lang="en-US" sz="2800" baseline="-25000">
                <a:latin typeface="Cambria" pitchFamily="18" charset="0"/>
              </a:rPr>
              <a:t>2</a:t>
            </a:r>
            <a:r>
              <a:rPr lang="en-US" sz="280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)</a:t>
            </a:r>
            <a:endParaRPr lang="en-US" sz="2800"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63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71C513-576B-41D7-BF89-98F4ADEE9CDC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9219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20" name="Rectangle 42"/>
          <p:cNvSpPr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7" name="Rectangle 3"/>
          <p:cNvSpPr txBox="1">
            <a:spLocks noChangeArrowheads="1"/>
          </p:cNvSpPr>
          <p:nvPr/>
        </p:nvSpPr>
        <p:spPr bwMode="auto">
          <a:xfrm>
            <a:off x="246743" y="1752600"/>
            <a:ext cx="84582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9144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eaLnBrk="1" hangingPunct="1">
              <a:lnSpc>
                <a:spcPct val="120000"/>
              </a:lnSpc>
              <a:spcBef>
                <a:spcPts val="600"/>
              </a:spcBef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Khóa bí mật (khóa riêng) : </a:t>
            </a:r>
            <a:r>
              <a:rPr lang="en-US" sz="2400" i="1">
                <a:latin typeface="Cambria" pitchFamily="18" charset="0"/>
                <a:ea typeface="Arial-Rounded" pitchFamily="34" charset="0"/>
                <a:cs typeface="Tahoma" pitchFamily="34" charset="0"/>
              </a:rPr>
              <a:t>K</a:t>
            </a:r>
            <a:r>
              <a:rPr lang="en-US" sz="2400" baseline="-25000">
                <a:latin typeface="Cambria" pitchFamily="18" charset="0"/>
                <a:ea typeface="Arial-Rounded" pitchFamily="34" charset="0"/>
                <a:cs typeface="Tahoma" pitchFamily="34" charset="0"/>
              </a:rPr>
              <a:t>R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.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Khóa công khai: </a:t>
            </a:r>
            <a:r>
              <a:rPr lang="en-US" sz="2400" i="1">
                <a:latin typeface="Cambria" pitchFamily="18" charset="0"/>
                <a:ea typeface="Arial-Rounded" pitchFamily="34" charset="0"/>
                <a:cs typeface="Tahoma" pitchFamily="34" charset="0"/>
              </a:rPr>
              <a:t>K</a:t>
            </a:r>
            <a:r>
              <a:rPr lang="en-US" sz="2400" baseline="-25000">
                <a:latin typeface="Cambria" pitchFamily="18" charset="0"/>
                <a:ea typeface="Arial-Rounded" pitchFamily="34" charset="0"/>
                <a:cs typeface="Tahoma" pitchFamily="34" charset="0"/>
              </a:rPr>
              <a:t>U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.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Bản rõ: </a:t>
            </a:r>
            <a:r>
              <a:rPr lang="en-US" sz="2400" i="1">
                <a:latin typeface="Cambria" pitchFamily="18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M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, bản mã: </a:t>
            </a:r>
            <a:r>
              <a:rPr lang="en-US" sz="2400" i="1">
                <a:latin typeface="Cambria" pitchFamily="18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C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.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Phương án mã hóa:</a:t>
            </a:r>
          </a:p>
        </p:txBody>
      </p:sp>
      <p:sp>
        <p:nvSpPr>
          <p:cNvPr id="8199" name="Rectangle 8"/>
          <p:cNvSpPr>
            <a:spLocks noChangeArrowheads="1"/>
          </p:cNvSpPr>
          <p:nvPr/>
        </p:nvSpPr>
        <p:spPr bwMode="auto">
          <a:xfrm>
            <a:off x="2667000" y="3951514"/>
            <a:ext cx="3895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i="1">
                <a:latin typeface="Cambria" pitchFamily="18" charset="0"/>
              </a:rPr>
              <a:t>C </a:t>
            </a:r>
            <a:r>
              <a:rPr lang="en-US" sz="2400">
                <a:latin typeface="Cambria" pitchFamily="18" charset="0"/>
              </a:rPr>
              <a:t>=</a:t>
            </a:r>
            <a:r>
              <a:rPr lang="en-US" sz="2400" i="1">
                <a:latin typeface="Cambria" pitchFamily="18" charset="0"/>
              </a:rPr>
              <a:t> E</a:t>
            </a:r>
            <a:r>
              <a:rPr lang="en-US" sz="240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(</a:t>
            </a:r>
            <a:r>
              <a:rPr lang="en-US" sz="2400" i="1">
                <a:latin typeface="Cambria" pitchFamily="18" charset="0"/>
              </a:rPr>
              <a:t>M</a:t>
            </a:r>
            <a:r>
              <a:rPr lang="en-US" sz="2400">
                <a:latin typeface="Cambria" pitchFamily="18" charset="0"/>
              </a:rPr>
              <a:t>, </a:t>
            </a:r>
            <a:r>
              <a:rPr lang="en-US" sz="2400" i="1">
                <a:latin typeface="Cambria" pitchFamily="18" charset="0"/>
              </a:rPr>
              <a:t>K</a:t>
            </a:r>
            <a:r>
              <a:rPr lang="en-US" sz="2400" baseline="-25000">
                <a:latin typeface="Cambria" pitchFamily="18" charset="0"/>
              </a:rPr>
              <a:t>R</a:t>
            </a:r>
            <a:r>
              <a:rPr lang="en-US" sz="240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)</a:t>
            </a:r>
            <a:r>
              <a:rPr lang="en-US" sz="2400">
                <a:latin typeface="Cambria" pitchFamily="18" charset="0"/>
              </a:rPr>
              <a:t> và </a:t>
            </a:r>
            <a:r>
              <a:rPr lang="en-US" sz="2400" i="1">
                <a:latin typeface="Cambria" pitchFamily="18" charset="0"/>
              </a:rPr>
              <a:t>M</a:t>
            </a:r>
            <a:r>
              <a:rPr lang="en-US" sz="2400">
                <a:latin typeface="Cambria" pitchFamily="18" charset="0"/>
              </a:rPr>
              <a:t> = </a:t>
            </a:r>
            <a:r>
              <a:rPr lang="en-US" sz="2400" i="1">
                <a:latin typeface="Cambria" pitchFamily="18" charset="0"/>
              </a:rPr>
              <a:t>D</a:t>
            </a:r>
            <a:r>
              <a:rPr lang="en-US" sz="240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(</a:t>
            </a:r>
            <a:r>
              <a:rPr lang="en-US" sz="2400" i="1">
                <a:latin typeface="Cambria" pitchFamily="18" charset="0"/>
              </a:rPr>
              <a:t>C</a:t>
            </a:r>
            <a:r>
              <a:rPr lang="en-US" sz="2400">
                <a:latin typeface="Cambria" pitchFamily="18" charset="0"/>
              </a:rPr>
              <a:t>, </a:t>
            </a:r>
            <a:r>
              <a:rPr lang="en-US" sz="2400" i="1">
                <a:latin typeface="Cambria" pitchFamily="18" charset="0"/>
              </a:rPr>
              <a:t>K</a:t>
            </a:r>
            <a:r>
              <a:rPr lang="en-US" sz="2400" baseline="-25000">
                <a:latin typeface="Cambria" pitchFamily="18" charset="0"/>
              </a:rPr>
              <a:t>U</a:t>
            </a:r>
            <a:r>
              <a:rPr lang="en-US" sz="240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 )</a:t>
            </a:r>
            <a:endParaRPr lang="en-US" sz="2400">
              <a:latin typeface="Cambria" pitchFamily="18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7391400" cy="563563"/>
          </a:xfrm>
        </p:spPr>
        <p:txBody>
          <a:bodyPr/>
          <a:lstStyle/>
          <a:p>
            <a:r>
              <a:rPr lang="en-US"/>
              <a:t>Ký hiệu</a:t>
            </a:r>
          </a:p>
        </p:txBody>
      </p:sp>
    </p:spTree>
    <p:extLst>
      <p:ext uri="{BB962C8B-B14F-4D97-AF65-F5344CB8AC3E}">
        <p14:creationId xmlns:p14="http://schemas.microsoft.com/office/powerpoint/2010/main" val="3029354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 txBox="1">
            <a:spLocks noChangeArrowheads="1"/>
          </p:cNvSpPr>
          <p:nvPr/>
        </p:nvSpPr>
        <p:spPr bwMode="auto">
          <a:xfrm>
            <a:off x="304800" y="1295400"/>
            <a:ext cx="82296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1200150" indent="-7429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20000"/>
              </a:lnSpc>
              <a:buFont typeface="Calibri" pitchFamily="34" charset="0"/>
              <a:buAutoNum type="arabicParenR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Phép chia modulo:</a:t>
            </a:r>
          </a:p>
          <a:p>
            <a:pPr eaLnBrk="1" hangingPunct="1">
              <a:lnSpc>
                <a:spcPct val="120000"/>
              </a:lnSpc>
            </a:pPr>
            <a:r>
              <a:rPr lang="en-US" sz="2800" i="1">
                <a:latin typeface="Cambria" pitchFamily="18" charset="0"/>
                <a:ea typeface="Arial-Rounded" pitchFamily="34" charset="0"/>
                <a:cs typeface="Tahoma" pitchFamily="34" charset="0"/>
              </a:rPr>
              <a:t>		</a:t>
            </a:r>
            <a:r>
              <a:rPr lang="en-US" sz="2600" i="1">
                <a:latin typeface="Cambria" pitchFamily="18" charset="0"/>
                <a:ea typeface="Cambria Math" pitchFamily="18" charset="0"/>
                <a:cs typeface="Tahoma" pitchFamily="34" charset="0"/>
              </a:rPr>
              <a:t>a</a:t>
            </a:r>
            <a:r>
              <a:rPr lang="en-US" sz="2600" i="1">
                <a:latin typeface="Cambria" pitchFamily="18" charset="0"/>
                <a:ea typeface="Arial-Rounded" pitchFamily="34" charset="0"/>
                <a:cs typeface="Tahoma" pitchFamily="34" charset="0"/>
              </a:rPr>
              <a:t>  </a:t>
            </a:r>
            <a:r>
              <a:rPr lang="en-US" sz="2600" i="1">
                <a:latin typeface="Cambria" pitchFamily="18" charset="0"/>
                <a:ea typeface="Arial-Rounded" pitchFamily="34" charset="0"/>
                <a:cs typeface="Arial" charset="0"/>
              </a:rPr>
              <a:t>mod</a:t>
            </a:r>
            <a:r>
              <a:rPr lang="en-US" sz="2600" i="1">
                <a:latin typeface="Cambria" pitchFamily="18" charset="0"/>
                <a:ea typeface="Arial-Rounded" pitchFamily="34" charset="0"/>
                <a:cs typeface="Tahoma" pitchFamily="34" charset="0"/>
              </a:rPr>
              <a:t>  n </a:t>
            </a:r>
            <a:r>
              <a:rPr lang="en-US" sz="2600">
                <a:latin typeface="Cambria" pitchFamily="18" charset="0"/>
                <a:ea typeface="Arial-Rounded" pitchFamily="34" charset="0"/>
                <a:cs typeface="Tahoma" pitchFamily="34" charset="0"/>
              </a:rPr>
              <a:t>=</a:t>
            </a:r>
            <a:r>
              <a:rPr lang="en-US" sz="2600" i="1">
                <a:latin typeface="Cambria" pitchFamily="18" charset="0"/>
                <a:ea typeface="Arial-Rounded" pitchFamily="34" charset="0"/>
                <a:cs typeface="Tahoma" pitchFamily="34" charset="0"/>
              </a:rPr>
              <a:t> r với   a </a:t>
            </a:r>
            <a:r>
              <a:rPr lang="en-US" sz="2600">
                <a:latin typeface="Cambria" pitchFamily="18" charset="0"/>
                <a:ea typeface="Arial-Rounded" pitchFamily="34" charset="0"/>
                <a:cs typeface="Tahoma" pitchFamily="34" charset="0"/>
                <a:sym typeface="Symbol" pitchFamily="18" charset="2"/>
              </a:rPr>
              <a:t></a:t>
            </a:r>
            <a:r>
              <a:rPr lang="en-US" sz="2600" i="1">
                <a:latin typeface="Cambria" pitchFamily="18" charset="0"/>
                <a:ea typeface="Arial-Rounded" pitchFamily="34" charset="0"/>
                <a:cs typeface="Tahoma" pitchFamily="34" charset="0"/>
                <a:sym typeface="Symbol" pitchFamily="18" charset="2"/>
              </a:rPr>
              <a:t> </a:t>
            </a:r>
            <a:r>
              <a:rPr lang="en-US" sz="2600">
                <a:latin typeface="Cambria" pitchFamily="18" charset="0"/>
                <a:ea typeface="Arial-Rounded" pitchFamily="34" charset="0"/>
                <a:cs typeface="Tahoma" pitchFamily="34" charset="0"/>
                <a:sym typeface="Symbol" pitchFamily="18" charset="2"/>
              </a:rPr>
              <a:t>0</a:t>
            </a:r>
            <a:r>
              <a:rPr lang="en-US" sz="2600" i="1">
                <a:latin typeface="Cambria" pitchFamily="18" charset="0"/>
                <a:ea typeface="Arial-Rounded" pitchFamily="34" charset="0"/>
                <a:cs typeface="Tahoma" pitchFamily="34" charset="0"/>
                <a:sym typeface="Symbol" pitchFamily="18" charset="2"/>
              </a:rPr>
              <a:t>;    n </a:t>
            </a:r>
            <a:r>
              <a:rPr lang="en-US" sz="2600">
                <a:latin typeface="Cambria" pitchFamily="18" charset="0"/>
                <a:ea typeface="Arial-Rounded" pitchFamily="34" charset="0"/>
                <a:cs typeface="Tahoma" pitchFamily="34" charset="0"/>
                <a:sym typeface="Symbol" pitchFamily="18" charset="2"/>
              </a:rPr>
              <a:t>&gt; 0</a:t>
            </a:r>
            <a:r>
              <a:rPr lang="en-US" sz="2600" i="1">
                <a:latin typeface="Cambria" pitchFamily="18" charset="0"/>
                <a:ea typeface="Arial-Rounded" pitchFamily="34" charset="0"/>
                <a:cs typeface="Tahoma" pitchFamily="34" charset="0"/>
                <a:sym typeface="Symbol" pitchFamily="18" charset="2"/>
              </a:rPr>
              <a:t>;    </a:t>
            </a:r>
            <a:r>
              <a:rPr lang="en-US" sz="2600">
                <a:latin typeface="Cambria" pitchFamily="18" charset="0"/>
                <a:ea typeface="Arial-Rounded" pitchFamily="34" charset="0"/>
                <a:cs typeface="Tahoma" pitchFamily="34" charset="0"/>
                <a:sym typeface="Symbol" pitchFamily="18" charset="2"/>
              </a:rPr>
              <a:t>0</a:t>
            </a:r>
            <a:r>
              <a:rPr lang="en-US" sz="2600" i="1">
                <a:latin typeface="Cambria" pitchFamily="18" charset="0"/>
                <a:ea typeface="Arial-Rounded" pitchFamily="34" charset="0"/>
                <a:cs typeface="Tahoma" pitchFamily="34" charset="0"/>
                <a:sym typeface="Symbol" pitchFamily="18" charset="2"/>
              </a:rPr>
              <a:t> </a:t>
            </a:r>
            <a:r>
              <a:rPr lang="en-US" sz="2600">
                <a:latin typeface="Cambria" pitchFamily="18" charset="0"/>
                <a:ea typeface="Arial-Rounded" pitchFamily="34" charset="0"/>
                <a:cs typeface="Tahoma" pitchFamily="34" charset="0"/>
                <a:sym typeface="Symbol" pitchFamily="18" charset="2"/>
              </a:rPr>
              <a:t></a:t>
            </a:r>
            <a:r>
              <a:rPr lang="en-US" sz="2600" i="1">
                <a:latin typeface="Cambria" pitchFamily="18" charset="0"/>
                <a:ea typeface="Arial-Rounded" pitchFamily="34" charset="0"/>
                <a:cs typeface="Tahoma" pitchFamily="34" charset="0"/>
                <a:sym typeface="Symbol" pitchFamily="18" charset="2"/>
              </a:rPr>
              <a:t> r </a:t>
            </a:r>
            <a:r>
              <a:rPr lang="en-US" sz="2600">
                <a:latin typeface="Cambria" pitchFamily="18" charset="0"/>
                <a:ea typeface="Arial-Rounded" pitchFamily="34" charset="0"/>
                <a:cs typeface="Tahoma" pitchFamily="34" charset="0"/>
                <a:sym typeface="Symbol" pitchFamily="18" charset="2"/>
              </a:rPr>
              <a:t></a:t>
            </a:r>
            <a:r>
              <a:rPr lang="en-US" sz="2600" i="1">
                <a:latin typeface="Cambria" pitchFamily="18" charset="0"/>
                <a:ea typeface="Arial-Rounded" pitchFamily="34" charset="0"/>
                <a:cs typeface="Tahoma" pitchFamily="34" charset="0"/>
                <a:sym typeface="Symbol" pitchFamily="18" charset="2"/>
              </a:rPr>
              <a:t> n-</a:t>
            </a:r>
            <a:r>
              <a:rPr lang="en-US" sz="2600">
                <a:latin typeface="Cambria" pitchFamily="18" charset="0"/>
                <a:ea typeface="Arial-Rounded" pitchFamily="34" charset="0"/>
                <a:cs typeface="Tahoma" pitchFamily="34" charset="0"/>
                <a:sym typeface="Symbol" pitchFamily="18" charset="2"/>
              </a:rPr>
              <a:t>1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Symbol" pitchFamily="18" charset="2"/>
              </a:rPr>
              <a:t>	phép đồng dư:</a:t>
            </a:r>
          </a:p>
          <a:p>
            <a:pPr eaLnBrk="1" hangingPunct="1">
              <a:lnSpc>
                <a:spcPct val="120000"/>
              </a:lnSpc>
            </a:pPr>
            <a:r>
              <a:rPr lang="en-US" sz="2600">
                <a:latin typeface="Tahoma" pitchFamily="34" charset="0"/>
                <a:ea typeface="Arial-Rounded" pitchFamily="34" charset="0"/>
                <a:cs typeface="Tahoma" pitchFamily="34" charset="0"/>
                <a:sym typeface="Symbol" pitchFamily="18" charset="2"/>
              </a:rPr>
              <a:t>			</a:t>
            </a:r>
            <a:r>
              <a:rPr lang="en-US" sz="2600" i="1">
                <a:latin typeface="Cambria" pitchFamily="18" charset="0"/>
                <a:ea typeface="Cambria Math" pitchFamily="18" charset="0"/>
                <a:cs typeface="Tahoma" pitchFamily="34" charset="0"/>
              </a:rPr>
              <a:t> a</a:t>
            </a:r>
            <a:r>
              <a:rPr lang="en-US" sz="2600" i="1">
                <a:latin typeface="Cambria" pitchFamily="18" charset="0"/>
                <a:ea typeface="Arial-Rounded" pitchFamily="34" charset="0"/>
                <a:cs typeface="Tahoma" pitchFamily="34" charset="0"/>
              </a:rPr>
              <a:t>  </a:t>
            </a:r>
            <a:r>
              <a:rPr lang="en-US" sz="2600">
                <a:latin typeface="Cambria" pitchFamily="18" charset="0"/>
                <a:ea typeface="Arial-Rounded" pitchFamily="34" charset="0"/>
                <a:cs typeface="Tahoma" pitchFamily="34" charset="0"/>
                <a:sym typeface="Symbol" pitchFamily="18" charset="2"/>
              </a:rPr>
              <a:t></a:t>
            </a:r>
            <a:r>
              <a:rPr lang="en-US" sz="2600" i="1">
                <a:latin typeface="Cambria" pitchFamily="18" charset="0"/>
                <a:ea typeface="Arial-Rounded" pitchFamily="34" charset="0"/>
                <a:cs typeface="Tahoma" pitchFamily="34" charset="0"/>
                <a:sym typeface="Symbol" pitchFamily="18" charset="2"/>
              </a:rPr>
              <a:t>  r </a:t>
            </a:r>
            <a:r>
              <a:rPr lang="en-US" sz="2600">
                <a:latin typeface="Cambria Math" pitchFamily="18" charset="0"/>
                <a:ea typeface="Cambria Math" pitchFamily="18" charset="0"/>
                <a:cs typeface="Tahoma" pitchFamily="34" charset="0"/>
                <a:sym typeface="Symbol" pitchFamily="18" charset="2"/>
              </a:rPr>
              <a:t>(</a:t>
            </a:r>
            <a:r>
              <a:rPr lang="en-US" sz="2600" i="1">
                <a:latin typeface="Cambria" pitchFamily="18" charset="0"/>
                <a:ea typeface="Arial-Rounded" pitchFamily="34" charset="0"/>
                <a:cs typeface="Tahoma" pitchFamily="34" charset="0"/>
                <a:sym typeface="Symbol" pitchFamily="18" charset="2"/>
              </a:rPr>
              <a:t>mod n</a:t>
            </a:r>
            <a:r>
              <a:rPr lang="en-US" sz="2600">
                <a:latin typeface="Cambria Math" pitchFamily="18" charset="0"/>
                <a:ea typeface="Cambria Math" pitchFamily="18" charset="0"/>
                <a:cs typeface="Tahoma" pitchFamily="34" charset="0"/>
                <a:sym typeface="Symbol" pitchFamily="18" charset="2"/>
              </a:rPr>
              <a:t>)</a:t>
            </a:r>
          </a:p>
          <a:p>
            <a:pPr eaLnBrk="1" hangingPunct="1">
              <a:lnSpc>
                <a:spcPct val="120000"/>
              </a:lnSpc>
              <a:spcBef>
                <a:spcPts val="1200"/>
              </a:spcBef>
              <a:buFont typeface="Calibri" pitchFamily="34" charset="0"/>
              <a:buAutoNum type="arabicParenR" startAt="2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Ước số: </a:t>
            </a:r>
            <a:r>
              <a:rPr lang="en-US" sz="2400" i="1">
                <a:latin typeface="Cambria" pitchFamily="18" charset="0"/>
                <a:ea typeface="Arial-Rounded" pitchFamily="34" charset="0"/>
                <a:cs typeface="Tahoma" pitchFamily="34" charset="0"/>
                <a:sym typeface="Symbol" pitchFamily="18" charset="2"/>
              </a:rPr>
              <a:t>n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là ước số của </a:t>
            </a:r>
            <a:r>
              <a:rPr lang="en-US" sz="2400" i="1">
                <a:latin typeface="Cambria" pitchFamily="18" charset="0"/>
                <a:ea typeface="Cambria Math" pitchFamily="18" charset="0"/>
                <a:cs typeface="Tahoma" pitchFamily="34" charset="0"/>
              </a:rPr>
              <a:t>a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.</a:t>
            </a:r>
          </a:p>
          <a:p>
            <a:pPr eaLnBrk="1" hangingPunct="1">
              <a:lnSpc>
                <a:spcPct val="120000"/>
              </a:lnSpc>
              <a:spcBef>
                <a:spcPts val="1200"/>
              </a:spcBef>
              <a:buFont typeface="Calibri" pitchFamily="34" charset="0"/>
              <a:buAutoNum type="arabicParenR" startAt="2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Ước số chung lớn nhất của 2 số </a:t>
            </a:r>
            <a:r>
              <a:rPr lang="en-US" sz="2400" i="1">
                <a:latin typeface="Cambria" pitchFamily="18" charset="0"/>
                <a:ea typeface="Arial-Rounded" pitchFamily="34" charset="0"/>
                <a:cs typeface="Tahoma" pitchFamily="34" charset="0"/>
              </a:rPr>
              <a:t>a, b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: gcd(</a:t>
            </a:r>
            <a:r>
              <a:rPr lang="en-US" sz="2400" i="1">
                <a:latin typeface="Cambria" pitchFamily="18" charset="0"/>
                <a:ea typeface="Arial-Rounded" pitchFamily="34" charset="0"/>
                <a:cs typeface="Tahoma" pitchFamily="34" charset="0"/>
              </a:rPr>
              <a:t>a, b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) </a:t>
            </a:r>
          </a:p>
          <a:p>
            <a:pPr eaLnBrk="1" hangingPunct="1">
              <a:lnSpc>
                <a:spcPct val="120000"/>
              </a:lnSpc>
              <a:spcBef>
                <a:spcPts val="1200"/>
              </a:spcBef>
              <a:buFont typeface="Calibri" pitchFamily="34" charset="0"/>
              <a:buAutoNum type="arabicParenR" startAt="4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Số nguyên tố.</a:t>
            </a:r>
          </a:p>
          <a:p>
            <a:pPr eaLnBrk="1" hangingPunct="1">
              <a:lnSpc>
                <a:spcPct val="120000"/>
              </a:lnSpc>
              <a:spcBef>
                <a:spcPts val="1200"/>
              </a:spcBef>
              <a:buFont typeface="Calibri" pitchFamily="34" charset="0"/>
              <a:buAutoNum type="arabicParenR" startAt="4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Số nguyên tố cùng nhau: </a:t>
            </a:r>
            <a:r>
              <a:rPr lang="en-US" sz="2400" i="1">
                <a:latin typeface="Cambria" pitchFamily="18" charset="0"/>
                <a:ea typeface="Arial-Rounded" pitchFamily="34" charset="0"/>
                <a:cs typeface="Tahoma" pitchFamily="34" charset="0"/>
              </a:rPr>
              <a:t>a, b 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là 2 số nguyên tố cùng nhau nếu gcd(</a:t>
            </a:r>
            <a:r>
              <a:rPr lang="en-US" sz="2400" i="1">
                <a:latin typeface="Cambria" pitchFamily="18" charset="0"/>
                <a:ea typeface="Arial-Rounded" pitchFamily="34" charset="0"/>
                <a:cs typeface="Tahoma" pitchFamily="34" charset="0"/>
              </a:rPr>
              <a:t>a, b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)</a:t>
            </a:r>
            <a:r>
              <a:rPr lang="en-US" sz="2400" i="1">
                <a:latin typeface="Cambria" pitchFamily="18" charset="0"/>
                <a:ea typeface="Arial-Rounded" pitchFamily="34" charset="0"/>
                <a:cs typeface="Tahoma" pitchFamily="34" charset="0"/>
              </a:rPr>
              <a:t> </a:t>
            </a:r>
            <a:r>
              <a:rPr lang="en-US" sz="2400">
                <a:latin typeface="Cambria" pitchFamily="18" charset="0"/>
                <a:ea typeface="Arial-Rounded" pitchFamily="34" charset="0"/>
                <a:cs typeface="Tahoma" pitchFamily="34" charset="0"/>
              </a:rPr>
              <a:t>=</a:t>
            </a:r>
            <a:r>
              <a:rPr lang="en-US" sz="2400" i="1">
                <a:latin typeface="Cambria" pitchFamily="18" charset="0"/>
                <a:ea typeface="Arial-Rounded" pitchFamily="34" charset="0"/>
                <a:cs typeface="Tahoma" pitchFamily="34" charset="0"/>
              </a:rPr>
              <a:t> </a:t>
            </a:r>
            <a:r>
              <a:rPr lang="en-US" sz="2400">
                <a:latin typeface="Cambria" pitchFamily="18" charset="0"/>
                <a:ea typeface="Arial-Rounded" pitchFamily="34" charset="0"/>
                <a:cs typeface="Tahoma" pitchFamily="34" charset="0"/>
              </a:rPr>
              <a:t>1</a:t>
            </a: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20000"/>
              </a:lnSpc>
            </a:pPr>
            <a:endParaRPr lang="en-US" sz="2600">
              <a:latin typeface="Cambria" pitchFamily="18" charset="0"/>
              <a:ea typeface="Arial-Rounded" pitchFamily="34" charset="0"/>
              <a:cs typeface="Tahoma" pitchFamily="34" charset="0"/>
            </a:endParaRPr>
          </a:p>
          <a:p>
            <a:pPr lvl="1" eaLnBrk="1" hangingPunct="1">
              <a:lnSpc>
                <a:spcPct val="110000"/>
              </a:lnSpc>
              <a:buFont typeface="Arial" charset="0"/>
              <a:buChar char="•"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	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F6ED56-127F-4BD8-BE76-B228A3CA212F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12293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294" name="Rectangle 42"/>
          <p:cNvSpPr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29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29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II. Lý thuyết số</a:t>
            </a:r>
          </a:p>
        </p:txBody>
      </p:sp>
    </p:spTree>
    <p:extLst>
      <p:ext uri="{BB962C8B-B14F-4D97-AF65-F5344CB8AC3E}">
        <p14:creationId xmlns:p14="http://schemas.microsoft.com/office/powerpoint/2010/main" val="77884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 txBox="1">
            <a:spLocks noChangeArrowheads="1"/>
          </p:cNvSpPr>
          <p:nvPr/>
        </p:nvSpPr>
        <p:spPr bwMode="auto">
          <a:xfrm>
            <a:off x="457200" y="1143000"/>
            <a:ext cx="82296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20000"/>
              </a:lnSpc>
              <a:buFont typeface="Calibri" pitchFamily="34" charset="0"/>
              <a:buAutoNum type="arabicParenR" startAt="6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Phần tử nghịch đảo của phép nhân modulo</a:t>
            </a:r>
            <a:endParaRPr lang="en-US" sz="26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	Nếu </a:t>
            </a:r>
            <a:r>
              <a:rPr lang="en-US" sz="2600" i="1">
                <a:latin typeface="Cambria" pitchFamily="18" charset="0"/>
                <a:ea typeface="Arial-Rounded" pitchFamily="34" charset="0"/>
                <a:cs typeface="Tahoma" pitchFamily="34" charset="0"/>
              </a:rPr>
              <a:t>a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và </a:t>
            </a:r>
            <a:r>
              <a:rPr lang="en-US" sz="2600" i="1">
                <a:latin typeface="Cambria" pitchFamily="18" charset="0"/>
                <a:ea typeface="Arial-Rounded" pitchFamily="34" charset="0"/>
                <a:cs typeface="Tahoma" pitchFamily="34" charset="0"/>
              </a:rPr>
              <a:t>n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là 2 số nguyên tố cùng nhau, thì tồn tại số nguyên </a:t>
            </a:r>
            <a:r>
              <a:rPr lang="en-US" sz="2600" i="1">
                <a:latin typeface="Cambria" pitchFamily="18" charset="0"/>
                <a:ea typeface="Arial-Rounded" pitchFamily="34" charset="0"/>
                <a:cs typeface="Tahoma" pitchFamily="34" charset="0"/>
              </a:rPr>
              <a:t>w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sao cho </a:t>
            </a:r>
            <a:r>
              <a:rPr lang="en-US" sz="2600" i="1">
                <a:latin typeface="Cambria" pitchFamily="18" charset="0"/>
                <a:ea typeface="Arial-Rounded" pitchFamily="34" charset="0"/>
                <a:cs typeface="Tahoma" pitchFamily="34" charset="0"/>
              </a:rPr>
              <a:t>a.w </a:t>
            </a:r>
            <a:r>
              <a:rPr lang="en-US" sz="2600">
                <a:latin typeface="Cambria" pitchFamily="18" charset="0"/>
                <a:ea typeface="Arial-Rounded" pitchFamily="34" charset="0"/>
                <a:cs typeface="Tahoma" pitchFamily="34" charset="0"/>
                <a:sym typeface="Symbol" pitchFamily="18" charset="2"/>
              </a:rPr>
              <a:t></a:t>
            </a:r>
            <a:r>
              <a:rPr lang="en-US" sz="2600">
                <a:latin typeface="Cambria" pitchFamily="18" charset="0"/>
                <a:ea typeface="Arial-Rounded" pitchFamily="34" charset="0"/>
                <a:cs typeface="Tahoma" pitchFamily="34" charset="0"/>
              </a:rPr>
              <a:t> 1</a:t>
            </a:r>
            <a:r>
              <a:rPr lang="en-US" sz="2600" i="1">
                <a:latin typeface="Cambria" pitchFamily="18" charset="0"/>
                <a:ea typeface="Arial-Rounded" pitchFamily="34" charset="0"/>
                <a:cs typeface="Tahoma" pitchFamily="34" charset="0"/>
              </a:rPr>
              <a:t> mod n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    Ký hiệu </a:t>
            </a:r>
            <a:r>
              <a:rPr lang="en-US" sz="2600" i="1">
                <a:latin typeface="Cambria" pitchFamily="18" charset="0"/>
                <a:ea typeface="Arial-Rounded" pitchFamily="34" charset="0"/>
                <a:cs typeface="Tahoma" pitchFamily="34" charset="0"/>
              </a:rPr>
              <a:t>w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là </a:t>
            </a:r>
            <a:r>
              <a:rPr lang="en-US" sz="2600" i="1">
                <a:latin typeface="Cambria" pitchFamily="18" charset="0"/>
                <a:ea typeface="Arial-Rounded" pitchFamily="34" charset="0"/>
                <a:cs typeface="Tahoma" pitchFamily="34" charset="0"/>
              </a:rPr>
              <a:t>a</a:t>
            </a:r>
            <a:r>
              <a:rPr lang="en-US" sz="2400" baseline="30000">
                <a:latin typeface="Tahoma" pitchFamily="34" charset="0"/>
                <a:ea typeface="Arial-Rounded" pitchFamily="34" charset="0"/>
                <a:cs typeface="Tahoma" pitchFamily="34" charset="0"/>
              </a:rPr>
              <a:t>-1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	</a:t>
            </a:r>
            <a:r>
              <a:rPr lang="en-US" sz="2400" u="sng">
                <a:latin typeface="Tahoma" pitchFamily="34" charset="0"/>
                <a:ea typeface="Arial-Rounded" pitchFamily="34" charset="0"/>
                <a:cs typeface="Tahoma" pitchFamily="34" charset="0"/>
              </a:rPr>
              <a:t>Ví dụ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: n = 10, a = 7  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 </a:t>
            </a:r>
            <a:r>
              <a:rPr lang="en-US" sz="2600" i="1">
                <a:latin typeface="Cambria" pitchFamily="18" charset="0"/>
                <a:ea typeface="Arial-Rounded" pitchFamily="34" charset="0"/>
                <a:cs typeface="Tahoma" pitchFamily="34" charset="0"/>
              </a:rPr>
              <a:t>a</a:t>
            </a:r>
            <a:r>
              <a:rPr lang="en-US" sz="2400" baseline="30000">
                <a:latin typeface="Tahoma" pitchFamily="34" charset="0"/>
                <a:ea typeface="Arial-Rounded" pitchFamily="34" charset="0"/>
                <a:cs typeface="Tahoma" pitchFamily="34" charset="0"/>
              </a:rPr>
              <a:t>-1 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= 3   (3x7 = 21 ) </a:t>
            </a:r>
          </a:p>
          <a:p>
            <a:pPr eaLnBrk="1" hangingPunct="1">
              <a:lnSpc>
                <a:spcPct val="120000"/>
              </a:lnSpc>
            </a:pPr>
            <a:endParaRPr lang="en-US" sz="2400" i="1" baseline="-25000">
              <a:latin typeface="Cambria" pitchFamily="18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4E9F00-D1BA-476E-A0FB-2646A86D87DB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13316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317" name="Rectangle 42"/>
          <p:cNvSpPr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1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31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041620"/>
              </p:ext>
            </p:extLst>
          </p:nvPr>
        </p:nvGraphicFramePr>
        <p:xfrm>
          <a:off x="1524000" y="3717924"/>
          <a:ext cx="6400799" cy="838200"/>
        </p:xfrm>
        <a:graphic>
          <a:graphicData uri="http://schemas.openxmlformats.org/drawingml/2006/table">
            <a:tbl>
              <a:tblPr/>
              <a:tblGrid>
                <a:gridCol w="1561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36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6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36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36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36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369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46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 i="1">
                          <a:latin typeface="Cambria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2000" baseline="30000">
                          <a:latin typeface="Cambria"/>
                          <a:ea typeface="Times New Roman"/>
                          <a:cs typeface="Times New Roman"/>
                        </a:rPr>
                        <a:t>-1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4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5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6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7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8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9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 i="1">
                          <a:latin typeface="Cambria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2000" baseline="30000">
                          <a:latin typeface="Cambria"/>
                          <a:ea typeface="Times New Roman"/>
                          <a:cs typeface="Times New Roman"/>
                        </a:rPr>
                        <a:t>-1</a:t>
                      </a:r>
                      <a:r>
                        <a:rPr lang="en-US" sz="2000" baseline="30000">
                          <a:latin typeface="Calibri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x </a:t>
                      </a:r>
                      <a:r>
                        <a:rPr lang="en-US" sz="2000" i="1">
                          <a:latin typeface="Cambria"/>
                          <a:ea typeface="Times New Roman"/>
                          <a:cs typeface="Times New Roman"/>
                        </a:rPr>
                        <a:t>7 mod n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7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4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8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5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9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6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358" name="Rectangle 3"/>
          <p:cNvSpPr txBox="1">
            <a:spLocks noChangeArrowheads="1"/>
          </p:cNvSpPr>
          <p:nvPr/>
        </p:nvSpPr>
        <p:spPr bwMode="auto">
          <a:xfrm>
            <a:off x="381000" y="4937124"/>
            <a:ext cx="4191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	</a:t>
            </a:r>
            <a:r>
              <a:rPr lang="en-US" sz="2400" u="sng">
                <a:latin typeface="Tahoma" pitchFamily="34" charset="0"/>
                <a:ea typeface="Arial-Rounded" pitchFamily="34" charset="0"/>
                <a:cs typeface="Tahoma" pitchFamily="34" charset="0"/>
              </a:rPr>
              <a:t>Ví dụ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: n = 10, a = 2</a:t>
            </a:r>
          </a:p>
          <a:p>
            <a:pPr eaLnBrk="1" hangingPunct="1">
              <a:lnSpc>
                <a:spcPct val="120000"/>
              </a:lnSpc>
            </a:pPr>
            <a:endParaRPr lang="en-US" sz="2400" i="1" baseline="-25000">
              <a:latin typeface="Cambria" pitchFamily="18" charset="0"/>
              <a:ea typeface="Arial-Rounded" pitchFamily="34" charset="0"/>
              <a:cs typeface="Tahoma" pitchFamily="34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535913"/>
              </p:ext>
            </p:extLst>
          </p:nvPr>
        </p:nvGraphicFramePr>
        <p:xfrm>
          <a:off x="1524000" y="5699124"/>
          <a:ext cx="6400795" cy="701676"/>
        </p:xfrm>
        <a:graphic>
          <a:graphicData uri="http://schemas.openxmlformats.org/drawingml/2006/table">
            <a:tbl>
              <a:tblPr/>
              <a:tblGrid>
                <a:gridCol w="1561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36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6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36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36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36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369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46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508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 i="1">
                          <a:latin typeface="Cambria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2000" baseline="30000">
                          <a:latin typeface="Cambria"/>
                          <a:ea typeface="Times New Roman"/>
                          <a:cs typeface="Times New Roman"/>
                        </a:rPr>
                        <a:t>-1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4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5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6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7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8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9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 i="1">
                          <a:latin typeface="Cambria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en-US" sz="2000" baseline="30000">
                          <a:latin typeface="Cambria"/>
                          <a:ea typeface="Times New Roman"/>
                          <a:cs typeface="Times New Roman"/>
                        </a:rPr>
                        <a:t>-1</a:t>
                      </a:r>
                      <a:r>
                        <a:rPr lang="en-US" sz="2000" baseline="30000">
                          <a:latin typeface="Calibri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x 2  </a:t>
                      </a:r>
                      <a:r>
                        <a:rPr lang="en-US" sz="2000" i="1">
                          <a:latin typeface="Cambria" pitchFamily="18" charset="0"/>
                          <a:ea typeface="Times New Roman"/>
                          <a:cs typeface="Times New Roman"/>
                        </a:rPr>
                        <a:t>mod 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4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6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8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0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4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6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000">
                          <a:latin typeface="Calibri"/>
                          <a:ea typeface="Times New Roman"/>
                          <a:cs typeface="Times New Roman"/>
                        </a:rPr>
                        <a:t>8</a:t>
                      </a:r>
                      <a:endParaRPr lang="en-US" sz="2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526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5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ahoma" pitchFamily="34" charset="0"/>
                <a:ea typeface="Arial-Rounded" pitchFamily="34" charset="0"/>
                <a:cs typeface="Tahoma" pitchFamily="34" charset="0"/>
              </a:rPr>
              <a:t>Thuật toán Euclid tìm gcd (</a:t>
            </a:r>
            <a:r>
              <a:rPr lang="en-US" sz="3600" i="1">
                <a:latin typeface="Cambria" pitchFamily="18" charset="0"/>
                <a:ea typeface="Arial-Rounded" pitchFamily="34" charset="0"/>
                <a:cs typeface="Tahoma" pitchFamily="34" charset="0"/>
              </a:rPr>
              <a:t>a</a:t>
            </a:r>
            <a:r>
              <a:rPr lang="en-US">
                <a:latin typeface="Tahoma" pitchFamily="34" charset="0"/>
                <a:ea typeface="Arial-Rounded" pitchFamily="34" charset="0"/>
                <a:cs typeface="Tahoma" pitchFamily="34" charset="0"/>
              </a:rPr>
              <a:t>, </a:t>
            </a:r>
            <a:r>
              <a:rPr lang="en-US" sz="3600" i="1">
                <a:latin typeface="Cambria" pitchFamily="18" charset="0"/>
                <a:ea typeface="Arial-Rounded" pitchFamily="34" charset="0"/>
                <a:cs typeface="Tahoma" pitchFamily="34" charset="0"/>
              </a:rPr>
              <a:t>b</a:t>
            </a:r>
            <a:r>
              <a:rPr lang="en-US">
                <a:latin typeface="Tahoma" pitchFamily="34" charset="0"/>
                <a:ea typeface="Arial-Rounded" pitchFamily="34" charset="0"/>
                <a:cs typeface="Tahoma" pitchFamily="34" charset="0"/>
              </a:rPr>
              <a:t>)</a:t>
            </a:r>
            <a:endParaRPr 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74638" y="11430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	</a:t>
            </a:r>
            <a:r>
              <a:rPr lang="en-US" sz="2400" i="1" u="sng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Định lý</a:t>
            </a:r>
            <a:r>
              <a:rPr lang="en-US" sz="24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: 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với mọi số nguyên  </a:t>
            </a: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a</a:t>
            </a:r>
            <a:r>
              <a:rPr lang="en-US" sz="24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 ≥ 0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và </a:t>
            </a: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b</a:t>
            </a:r>
            <a:r>
              <a:rPr lang="en-US" sz="24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 &gt; 0 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thì</a:t>
            </a:r>
            <a:r>
              <a:rPr lang="en-US" sz="24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		gcd</a:t>
            </a:r>
            <a:r>
              <a:rPr lang="en-US" sz="24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(</a:t>
            </a: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a, b</a:t>
            </a:r>
            <a:r>
              <a:rPr lang="en-US" sz="24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) = </a:t>
            </a: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gcd</a:t>
            </a:r>
            <a:r>
              <a:rPr lang="en-US" sz="24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(</a:t>
            </a:r>
            <a:r>
              <a:rPr lang="en-US" sz="2400" i="1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b, a mod b</a:t>
            </a:r>
            <a:r>
              <a:rPr lang="en-US" sz="2400">
                <a:latin typeface="Times New Roman" pitchFamily="18" charset="0"/>
                <a:ea typeface="Arial-Rounded" pitchFamily="34" charset="0"/>
                <a:cs typeface="Times New Roman" pitchFamily="18" charset="0"/>
              </a:rPr>
              <a:t>)</a:t>
            </a:r>
          </a:p>
        </p:txBody>
      </p:sp>
      <p:sp>
        <p:nvSpPr>
          <p:cNvPr id="6" name="Rectangle 34"/>
          <p:cNvSpPr>
            <a:spLocks noChangeArrowheads="1"/>
          </p:cNvSpPr>
          <p:nvPr/>
        </p:nvSpPr>
        <p:spPr bwMode="auto">
          <a:xfrm>
            <a:off x="-182562" y="533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-182562" y="533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-182562" y="533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628776" y="2593975"/>
            <a:ext cx="3246437" cy="295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8000" rIns="18000" bIns="1800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1000"/>
              </a:spcAft>
            </a:pPr>
            <a:r>
              <a:rPr lang="en-US" sz="2200" i="1">
                <a:latin typeface="Cambria" pitchFamily="18" charset="0"/>
              </a:rPr>
              <a:t>A</a:t>
            </a:r>
            <a:r>
              <a:rPr lang="en-US" sz="2200" baseline="-25000">
                <a:latin typeface="Cambria" pitchFamily="18" charset="0"/>
              </a:rPr>
              <a:t>1</a:t>
            </a:r>
            <a:r>
              <a:rPr lang="en-US" sz="2200">
                <a:latin typeface="Cambria" pitchFamily="18" charset="0"/>
              </a:rPr>
              <a:t>   =    </a:t>
            </a:r>
            <a:r>
              <a:rPr lang="en-US" sz="2200" i="1">
                <a:latin typeface="Cambria" pitchFamily="18" charset="0"/>
              </a:rPr>
              <a:t>B</a:t>
            </a:r>
            <a:r>
              <a:rPr lang="en-US" sz="2200" baseline="-25000">
                <a:latin typeface="Cambria" pitchFamily="18" charset="0"/>
              </a:rPr>
              <a:t>1</a:t>
            </a:r>
            <a:r>
              <a:rPr lang="en-US" sz="2200">
                <a:latin typeface="Cambria" pitchFamily="18" charset="0"/>
              </a:rPr>
              <a:t>q   +   </a:t>
            </a:r>
            <a:r>
              <a:rPr lang="en-US" sz="2200" i="1">
                <a:latin typeface="Cambria" pitchFamily="18" charset="0"/>
              </a:rPr>
              <a:t>R</a:t>
            </a:r>
            <a:r>
              <a:rPr lang="en-US" sz="2200" baseline="-25000">
                <a:latin typeface="Cambria" pitchFamily="18" charset="0"/>
              </a:rPr>
              <a:t>1</a:t>
            </a:r>
          </a:p>
          <a:p>
            <a:pPr eaLnBrk="1" hangingPunct="1">
              <a:spcBef>
                <a:spcPts val="600"/>
              </a:spcBef>
              <a:spcAft>
                <a:spcPts val="1000"/>
              </a:spcAft>
            </a:pPr>
            <a:r>
              <a:rPr lang="en-US" sz="2200" i="1">
                <a:latin typeface="Cambria" pitchFamily="18" charset="0"/>
              </a:rPr>
              <a:t>A</a:t>
            </a:r>
            <a:r>
              <a:rPr lang="en-US" sz="2200" baseline="-25000">
                <a:latin typeface="Cambria" pitchFamily="18" charset="0"/>
              </a:rPr>
              <a:t>2</a:t>
            </a:r>
            <a:r>
              <a:rPr lang="en-US" sz="2200">
                <a:latin typeface="Cambria" pitchFamily="18" charset="0"/>
              </a:rPr>
              <a:t>   =    </a:t>
            </a:r>
            <a:r>
              <a:rPr lang="en-US" sz="2200" i="1">
                <a:latin typeface="Cambria" pitchFamily="18" charset="0"/>
              </a:rPr>
              <a:t>B</a:t>
            </a:r>
            <a:r>
              <a:rPr lang="en-US" sz="2200" baseline="-25000">
                <a:latin typeface="Cambria" pitchFamily="18" charset="0"/>
              </a:rPr>
              <a:t>2</a:t>
            </a:r>
            <a:r>
              <a:rPr lang="en-US" sz="2200">
                <a:latin typeface="Cambria" pitchFamily="18" charset="0"/>
              </a:rPr>
              <a:t>q   +   </a:t>
            </a:r>
            <a:r>
              <a:rPr lang="en-US" sz="2200" i="1">
                <a:latin typeface="Cambria" pitchFamily="18" charset="0"/>
              </a:rPr>
              <a:t>R</a:t>
            </a:r>
            <a:r>
              <a:rPr lang="en-US" sz="2200" baseline="-25000">
                <a:latin typeface="Cambria" pitchFamily="18" charset="0"/>
              </a:rPr>
              <a:t>2</a:t>
            </a:r>
          </a:p>
          <a:p>
            <a:pPr eaLnBrk="1" hangingPunct="1">
              <a:spcBef>
                <a:spcPts val="600"/>
              </a:spcBef>
              <a:spcAft>
                <a:spcPts val="1000"/>
              </a:spcAft>
            </a:pPr>
            <a:r>
              <a:rPr lang="en-US" sz="2200" i="1">
                <a:latin typeface="Cambria" pitchFamily="18" charset="0"/>
              </a:rPr>
              <a:t>A</a:t>
            </a:r>
            <a:r>
              <a:rPr lang="en-US" sz="2200" baseline="-25000">
                <a:latin typeface="Cambria" pitchFamily="18" charset="0"/>
              </a:rPr>
              <a:t>3</a:t>
            </a:r>
            <a:r>
              <a:rPr lang="en-US" sz="2200">
                <a:latin typeface="Cambria" pitchFamily="18" charset="0"/>
              </a:rPr>
              <a:t>   =    </a:t>
            </a:r>
            <a:r>
              <a:rPr lang="en-US" sz="2200" i="1">
                <a:latin typeface="Cambria" pitchFamily="18" charset="0"/>
              </a:rPr>
              <a:t>B</a:t>
            </a:r>
            <a:r>
              <a:rPr lang="en-US" sz="2200" baseline="-25000">
                <a:latin typeface="Cambria" pitchFamily="18" charset="0"/>
              </a:rPr>
              <a:t>3</a:t>
            </a:r>
            <a:r>
              <a:rPr lang="en-US" sz="2200">
                <a:latin typeface="Cambria" pitchFamily="18" charset="0"/>
              </a:rPr>
              <a:t>q   +   </a:t>
            </a:r>
            <a:r>
              <a:rPr lang="en-US" sz="2200" i="1">
                <a:latin typeface="Cambria" pitchFamily="18" charset="0"/>
              </a:rPr>
              <a:t>R</a:t>
            </a:r>
            <a:r>
              <a:rPr lang="en-US" sz="2200" baseline="-25000">
                <a:latin typeface="Cambria" pitchFamily="18" charset="0"/>
              </a:rPr>
              <a:t>3</a:t>
            </a:r>
          </a:p>
          <a:p>
            <a:pPr eaLnBrk="1" hangingPunct="1">
              <a:spcAft>
                <a:spcPts val="1000"/>
              </a:spcAft>
            </a:pPr>
            <a:r>
              <a:rPr lang="en-US" sz="2200">
                <a:latin typeface="Cambria" pitchFamily="18" charset="0"/>
              </a:rPr>
              <a:t>….</a:t>
            </a:r>
          </a:p>
          <a:p>
            <a:pPr eaLnBrk="1" hangingPunct="1">
              <a:spcAft>
                <a:spcPts val="1000"/>
              </a:spcAft>
            </a:pPr>
            <a:r>
              <a:rPr lang="en-US" sz="2200" i="1">
                <a:latin typeface="Cambria" pitchFamily="18" charset="0"/>
              </a:rPr>
              <a:t>A</a:t>
            </a:r>
            <a:r>
              <a:rPr lang="en-US" sz="2200" baseline="-25000">
                <a:latin typeface="Cambria" pitchFamily="18" charset="0"/>
              </a:rPr>
              <a:t>n</a:t>
            </a:r>
            <a:r>
              <a:rPr lang="en-US" sz="2200">
                <a:latin typeface="Cambria" pitchFamily="18" charset="0"/>
              </a:rPr>
              <a:t>   =    </a:t>
            </a:r>
            <a:r>
              <a:rPr lang="en-US" sz="2200" i="1">
                <a:latin typeface="Cambria" pitchFamily="18" charset="0"/>
              </a:rPr>
              <a:t>B</a:t>
            </a:r>
            <a:r>
              <a:rPr lang="en-US" sz="2200" baseline="-25000">
                <a:latin typeface="Cambria" pitchFamily="18" charset="0"/>
              </a:rPr>
              <a:t>n</a:t>
            </a:r>
            <a:r>
              <a:rPr lang="en-US" sz="2200">
                <a:latin typeface="Cambria" pitchFamily="18" charset="0"/>
              </a:rPr>
              <a:t>q   +   0</a:t>
            </a:r>
          </a:p>
          <a:p>
            <a:pPr eaLnBrk="1" hangingPunct="1">
              <a:spcBef>
                <a:spcPts val="600"/>
              </a:spcBef>
              <a:spcAft>
                <a:spcPts val="1000"/>
              </a:spcAft>
            </a:pPr>
            <a:r>
              <a:rPr lang="en-US" sz="2200">
                <a:latin typeface="Cambria" pitchFamily="18" charset="0"/>
              </a:rPr>
              <a:t>A</a:t>
            </a:r>
            <a:r>
              <a:rPr lang="en-US" sz="2200" baseline="-25000">
                <a:latin typeface="Cambria" pitchFamily="18" charset="0"/>
              </a:rPr>
              <a:t>n+1</a:t>
            </a:r>
            <a:r>
              <a:rPr lang="en-US" sz="2200">
                <a:latin typeface="Cambria" pitchFamily="18" charset="0"/>
              </a:rPr>
              <a:t>      0</a:t>
            </a:r>
            <a:r>
              <a:rPr lang="en-US" sz="2200" baseline="-25000">
                <a:latin typeface="Cambria" pitchFamily="18" charset="0"/>
              </a:rPr>
              <a:t>	</a:t>
            </a:r>
            <a:endParaRPr lang="en-US" sz="2200"/>
          </a:p>
        </p:txBody>
      </p:sp>
      <p:cxnSp>
        <p:nvCxnSpPr>
          <p:cNvPr id="10" name="AutoShape 4"/>
          <p:cNvCxnSpPr>
            <a:cxnSpLocks noChangeShapeType="1"/>
          </p:cNvCxnSpPr>
          <p:nvPr/>
        </p:nvCxnSpPr>
        <p:spPr bwMode="auto">
          <a:xfrm flipH="1">
            <a:off x="1905001" y="2978150"/>
            <a:ext cx="639762" cy="2190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5"/>
          <p:cNvCxnSpPr>
            <a:cxnSpLocks noChangeShapeType="1"/>
          </p:cNvCxnSpPr>
          <p:nvPr/>
        </p:nvCxnSpPr>
        <p:spPr bwMode="auto">
          <a:xfrm flipH="1">
            <a:off x="2682876" y="2978150"/>
            <a:ext cx="639762" cy="2190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AutoShape 6"/>
          <p:cNvCxnSpPr>
            <a:cxnSpLocks noChangeShapeType="1"/>
          </p:cNvCxnSpPr>
          <p:nvPr/>
        </p:nvCxnSpPr>
        <p:spPr bwMode="auto">
          <a:xfrm flipH="1">
            <a:off x="1905001" y="3484563"/>
            <a:ext cx="639762" cy="2190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AutoShape 7"/>
          <p:cNvCxnSpPr>
            <a:cxnSpLocks noChangeShapeType="1"/>
          </p:cNvCxnSpPr>
          <p:nvPr/>
        </p:nvCxnSpPr>
        <p:spPr bwMode="auto">
          <a:xfrm flipH="1">
            <a:off x="2682876" y="3484563"/>
            <a:ext cx="639762" cy="2190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8"/>
          <p:cNvCxnSpPr>
            <a:cxnSpLocks noChangeShapeType="1"/>
          </p:cNvCxnSpPr>
          <p:nvPr/>
        </p:nvCxnSpPr>
        <p:spPr bwMode="auto">
          <a:xfrm flipH="1">
            <a:off x="1905001" y="4930775"/>
            <a:ext cx="587375" cy="2190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9"/>
          <p:cNvCxnSpPr>
            <a:cxnSpLocks noChangeShapeType="1"/>
          </p:cNvCxnSpPr>
          <p:nvPr/>
        </p:nvCxnSpPr>
        <p:spPr bwMode="auto">
          <a:xfrm>
            <a:off x="1801813" y="5638800"/>
            <a:ext cx="454025" cy="381000"/>
          </a:xfrm>
          <a:prstGeom prst="straightConnector1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5303838" y="2590800"/>
            <a:ext cx="3246438" cy="295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8000" rIns="18000" bIns="1800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1000"/>
              </a:spcAft>
            </a:pPr>
            <a:r>
              <a:rPr lang="en-US" sz="2200">
                <a:latin typeface="Cambria" pitchFamily="18" charset="0"/>
              </a:rPr>
              <a:t>57   =    42 × 1  + 15</a:t>
            </a:r>
            <a:endParaRPr lang="en-US" sz="2200" baseline="-25000">
              <a:latin typeface="Cambria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1000"/>
              </a:spcAft>
            </a:pPr>
            <a:r>
              <a:rPr lang="en-US" sz="2200">
                <a:latin typeface="Cambria" pitchFamily="18" charset="0"/>
              </a:rPr>
              <a:t>42   =    15 × 2  +  12   </a:t>
            </a:r>
            <a:endParaRPr lang="en-US" sz="2200" baseline="-25000">
              <a:latin typeface="Cambria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1000"/>
              </a:spcAft>
            </a:pPr>
            <a:r>
              <a:rPr lang="en-US" sz="2200">
                <a:latin typeface="Cambria" pitchFamily="18" charset="0"/>
              </a:rPr>
              <a:t>15   =    12 × 1  +   3</a:t>
            </a:r>
            <a:endParaRPr lang="en-US" sz="2200" baseline="-25000">
              <a:latin typeface="Cambria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1000"/>
              </a:spcAft>
            </a:pPr>
            <a:r>
              <a:rPr lang="en-US" sz="2200">
                <a:latin typeface="Cambria" pitchFamily="18" charset="0"/>
              </a:rPr>
              <a:t>12   =      3 × 4  +   0</a:t>
            </a:r>
          </a:p>
          <a:p>
            <a:pPr eaLnBrk="1" hangingPunct="1">
              <a:spcBef>
                <a:spcPts val="600"/>
              </a:spcBef>
              <a:spcAft>
                <a:spcPts val="1000"/>
              </a:spcAft>
            </a:pPr>
            <a:r>
              <a:rPr lang="en-US" sz="2200">
                <a:latin typeface="Cambria" pitchFamily="18" charset="0"/>
              </a:rPr>
              <a:t>   3           0</a:t>
            </a:r>
            <a:r>
              <a:rPr lang="en-US" sz="2200" baseline="-25000">
                <a:latin typeface="Cambria" pitchFamily="18" charset="0"/>
              </a:rPr>
              <a:t>	</a:t>
            </a:r>
            <a:endParaRPr lang="en-US" sz="2200"/>
          </a:p>
        </p:txBody>
      </p:sp>
      <p:cxnSp>
        <p:nvCxnSpPr>
          <p:cNvPr id="17" name="AutoShape 12"/>
          <p:cNvCxnSpPr>
            <a:cxnSpLocks noChangeShapeType="1"/>
          </p:cNvCxnSpPr>
          <p:nvPr/>
        </p:nvCxnSpPr>
        <p:spPr bwMode="auto">
          <a:xfrm flipH="1">
            <a:off x="5608638" y="2936875"/>
            <a:ext cx="639763" cy="2190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AutoShape 13"/>
          <p:cNvCxnSpPr>
            <a:cxnSpLocks noChangeShapeType="1"/>
          </p:cNvCxnSpPr>
          <p:nvPr/>
        </p:nvCxnSpPr>
        <p:spPr bwMode="auto">
          <a:xfrm flipH="1">
            <a:off x="6602413" y="2936875"/>
            <a:ext cx="639763" cy="2190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AutoShape 14"/>
          <p:cNvCxnSpPr>
            <a:cxnSpLocks noChangeShapeType="1"/>
          </p:cNvCxnSpPr>
          <p:nvPr/>
        </p:nvCxnSpPr>
        <p:spPr bwMode="auto">
          <a:xfrm flipH="1">
            <a:off x="5608638" y="3441700"/>
            <a:ext cx="639763" cy="22066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AutoShape 15"/>
          <p:cNvCxnSpPr>
            <a:cxnSpLocks noChangeShapeType="1"/>
          </p:cNvCxnSpPr>
          <p:nvPr/>
        </p:nvCxnSpPr>
        <p:spPr bwMode="auto">
          <a:xfrm flipH="1">
            <a:off x="6602413" y="3441700"/>
            <a:ext cx="639763" cy="22066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AutoShape 16"/>
          <p:cNvCxnSpPr>
            <a:cxnSpLocks noChangeShapeType="1"/>
          </p:cNvCxnSpPr>
          <p:nvPr/>
        </p:nvCxnSpPr>
        <p:spPr bwMode="auto">
          <a:xfrm flipH="1">
            <a:off x="2735263" y="4930775"/>
            <a:ext cx="587375" cy="2190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AutoShape 17"/>
          <p:cNvCxnSpPr>
            <a:cxnSpLocks noChangeShapeType="1"/>
          </p:cNvCxnSpPr>
          <p:nvPr/>
        </p:nvCxnSpPr>
        <p:spPr bwMode="auto">
          <a:xfrm flipH="1">
            <a:off x="5614988" y="4008438"/>
            <a:ext cx="639763" cy="2190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AutoShape 18"/>
          <p:cNvCxnSpPr>
            <a:cxnSpLocks noChangeShapeType="1"/>
          </p:cNvCxnSpPr>
          <p:nvPr/>
        </p:nvCxnSpPr>
        <p:spPr bwMode="auto">
          <a:xfrm flipH="1">
            <a:off x="6610351" y="4022725"/>
            <a:ext cx="638175" cy="22066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19"/>
          <p:cNvCxnSpPr>
            <a:cxnSpLocks noChangeShapeType="1"/>
          </p:cNvCxnSpPr>
          <p:nvPr/>
        </p:nvCxnSpPr>
        <p:spPr bwMode="auto">
          <a:xfrm flipH="1">
            <a:off x="6616701" y="4541838"/>
            <a:ext cx="639762" cy="22066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0"/>
          <p:cNvCxnSpPr>
            <a:cxnSpLocks noChangeShapeType="1"/>
          </p:cNvCxnSpPr>
          <p:nvPr/>
        </p:nvCxnSpPr>
        <p:spPr bwMode="auto">
          <a:xfrm flipH="1">
            <a:off x="5651501" y="4511675"/>
            <a:ext cx="638175" cy="2190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5075238" y="2057400"/>
            <a:ext cx="3246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8000" rIns="18000" bIns="1800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1000"/>
              </a:spcAft>
            </a:pPr>
            <a:r>
              <a:rPr lang="en-US" sz="2200" i="1">
                <a:latin typeface="Cambria" pitchFamily="18" charset="0"/>
              </a:rPr>
              <a:t>Ví d</a:t>
            </a:r>
            <a:r>
              <a:rPr lang="en-US" sz="2200" i="1">
                <a:latin typeface="Calibri" pitchFamily="34" charset="0"/>
              </a:rPr>
              <a:t>ụ: </a:t>
            </a:r>
            <a:r>
              <a:rPr lang="en-US" sz="2200" i="1">
                <a:latin typeface="Cambria" pitchFamily="18" charset="0"/>
              </a:rPr>
              <a:t>a</a:t>
            </a:r>
            <a:r>
              <a:rPr lang="en-US" sz="2200">
                <a:latin typeface="Cambria" pitchFamily="18" charset="0"/>
              </a:rPr>
              <a:t>= 57, </a:t>
            </a:r>
            <a:r>
              <a:rPr lang="en-US" sz="2200" i="1">
                <a:latin typeface="Cambria" pitchFamily="18" charset="0"/>
              </a:rPr>
              <a:t>b</a:t>
            </a:r>
            <a:r>
              <a:rPr lang="en-US" sz="2200">
                <a:latin typeface="Cambria" pitchFamily="18" charset="0"/>
              </a:rPr>
              <a:t> = 42</a:t>
            </a:r>
          </a:p>
          <a:p>
            <a:pPr eaLnBrk="1" hangingPunct="1">
              <a:spcAft>
                <a:spcPts val="1000"/>
              </a:spcAft>
            </a:pPr>
            <a:endParaRPr lang="en-US" sz="2200"/>
          </a:p>
        </p:txBody>
      </p:sp>
      <p:sp>
        <p:nvSpPr>
          <p:cNvPr id="27" name="Text Box 10"/>
          <p:cNvSpPr txBox="1">
            <a:spLocks noChangeArrowheads="1"/>
          </p:cNvSpPr>
          <p:nvPr/>
        </p:nvSpPr>
        <p:spPr bwMode="auto">
          <a:xfrm>
            <a:off x="2514600" y="5334000"/>
            <a:ext cx="108585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8000" rIns="18000" bIns="1800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1000"/>
              </a:spcAft>
            </a:pPr>
            <a:r>
              <a:rPr lang="en-US" sz="2200" i="1">
                <a:latin typeface="Cambria" pitchFamily="18" charset="0"/>
              </a:rPr>
              <a:t>gcd</a:t>
            </a:r>
            <a:r>
              <a:rPr lang="en-US" sz="2200">
                <a:latin typeface="Cambria Math" pitchFamily="18" charset="0"/>
              </a:rPr>
              <a:t>(</a:t>
            </a:r>
            <a:r>
              <a:rPr lang="en-US" sz="2200" i="1">
                <a:latin typeface="Cambria" pitchFamily="18" charset="0"/>
              </a:rPr>
              <a:t>a</a:t>
            </a:r>
            <a:r>
              <a:rPr lang="en-US" sz="2200">
                <a:latin typeface="Cambria" pitchFamily="18" charset="0"/>
              </a:rPr>
              <a:t>,</a:t>
            </a:r>
            <a:r>
              <a:rPr lang="en-US" sz="2200" i="1">
                <a:latin typeface="Cambria" pitchFamily="18" charset="0"/>
              </a:rPr>
              <a:t>b</a:t>
            </a:r>
            <a:r>
              <a:rPr lang="en-US" sz="2200">
                <a:latin typeface="Cambria Math" pitchFamily="18" charset="0"/>
              </a:rPr>
              <a:t>)</a:t>
            </a:r>
            <a:endParaRPr lang="en-US" sz="2200"/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2459832" y="6023686"/>
            <a:ext cx="108585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8000" rIns="18000" bIns="18000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1000"/>
              </a:spcAft>
            </a:pPr>
            <a:r>
              <a:rPr lang="en-US" sz="2200" i="1">
                <a:latin typeface="Cambria" pitchFamily="18" charset="0"/>
              </a:rPr>
              <a:t>gcd</a:t>
            </a:r>
            <a:r>
              <a:rPr lang="en-US" sz="2200">
                <a:latin typeface="Cambria Math" pitchFamily="18" charset="0"/>
              </a:rPr>
              <a:t>(</a:t>
            </a:r>
            <a:r>
              <a:rPr lang="en-US" sz="2200" i="1">
                <a:latin typeface="Cambria" pitchFamily="18" charset="0"/>
              </a:rPr>
              <a:t>a</a:t>
            </a:r>
            <a:r>
              <a:rPr lang="en-US" sz="2200">
                <a:latin typeface="Cambria" pitchFamily="18" charset="0"/>
              </a:rPr>
              <a:t>,</a:t>
            </a:r>
            <a:r>
              <a:rPr lang="en-US" sz="2200" i="1">
                <a:latin typeface="Cambria" pitchFamily="18" charset="0"/>
              </a:rPr>
              <a:t>b</a:t>
            </a:r>
            <a:r>
              <a:rPr lang="en-US" sz="2200">
                <a:latin typeface="Cambria Math" pitchFamily="18" charset="0"/>
              </a:rPr>
              <a:t>)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49709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 build="allAtOnce"/>
      <p:bldP spid="26" grpId="0"/>
      <p:bldP spid="27" grpId="0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915400" cy="563563"/>
          </a:xfrm>
        </p:spPr>
        <p:txBody>
          <a:bodyPr/>
          <a:lstStyle/>
          <a:p>
            <a:r>
              <a:rPr lang="vi-VN">
                <a:latin typeface="Fujiyama" pitchFamily="18" charset="0"/>
                <a:ea typeface="Fujiyama" pitchFamily="18" charset="0"/>
                <a:cs typeface="Fujiyama" pitchFamily="18" charset="0"/>
              </a:rPr>
              <a:t>Thuật toán Euclid mở rộng tìm phần tử nghịch đảo</a:t>
            </a:r>
            <a:endParaRPr lang="en-US">
              <a:latin typeface="Fujiyama" pitchFamily="18" charset="0"/>
              <a:ea typeface="Fujiyama" pitchFamily="18" charset="0"/>
              <a:cs typeface="Fujiyama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60612" y="1066800"/>
            <a:ext cx="85344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	Nếu n và a nguyên tố cùng nhau (n&gt;a), tìm a</a:t>
            </a:r>
            <a:r>
              <a:rPr lang="en-US" sz="2400" baseline="30000">
                <a:latin typeface="Tahoma" pitchFamily="34" charset="0"/>
                <a:ea typeface="Arial-Rounded" pitchFamily="34" charset="0"/>
                <a:cs typeface="Tahoma" pitchFamily="34" charset="0"/>
              </a:rPr>
              <a:t>-1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sao cho 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				</a:t>
            </a:r>
            <a:r>
              <a:rPr lang="en-US" sz="2600" i="1">
                <a:latin typeface="Cambria" pitchFamily="18" charset="0"/>
                <a:ea typeface="Arial-Rounded" pitchFamily="34" charset="0"/>
                <a:cs typeface="Tahoma" pitchFamily="34" charset="0"/>
              </a:rPr>
              <a:t>a.a</a:t>
            </a:r>
            <a:r>
              <a:rPr lang="en-US" sz="2600" i="1" baseline="30000">
                <a:latin typeface="Cambria" pitchFamily="18" charset="0"/>
                <a:ea typeface="Arial-Rounded" pitchFamily="34" charset="0"/>
                <a:cs typeface="Tahoma" pitchFamily="34" charset="0"/>
              </a:rPr>
              <a:t>-1  </a:t>
            </a:r>
            <a:r>
              <a:rPr lang="en-US" sz="2600">
                <a:latin typeface="Cambria" pitchFamily="18" charset="0"/>
                <a:ea typeface="Arial-Rounded" pitchFamily="34" charset="0"/>
                <a:cs typeface="Tahoma" pitchFamily="34" charset="0"/>
                <a:sym typeface="Symbol" pitchFamily="18" charset="2"/>
              </a:rPr>
              <a:t></a:t>
            </a:r>
            <a:r>
              <a:rPr lang="en-US" sz="2600">
                <a:latin typeface="Cambria" pitchFamily="18" charset="0"/>
                <a:ea typeface="Arial-Rounded" pitchFamily="34" charset="0"/>
                <a:cs typeface="Tahoma" pitchFamily="34" charset="0"/>
              </a:rPr>
              <a:t>  1 </a:t>
            </a:r>
            <a:r>
              <a:rPr lang="en-US" sz="2600" i="1">
                <a:latin typeface="Cambria" pitchFamily="18" charset="0"/>
                <a:ea typeface="Arial-Rounded" pitchFamily="34" charset="0"/>
                <a:cs typeface="Tahoma" pitchFamily="34" charset="0"/>
              </a:rPr>
              <a:t> mod  n</a:t>
            </a:r>
          </a:p>
          <a:p>
            <a:pPr eaLnBrk="1" hangingPunct="1">
              <a:lnSpc>
                <a:spcPct val="120000"/>
              </a:lnSpc>
            </a:pPr>
            <a:r>
              <a:rPr lang="en-US" sz="2600" u="sng">
                <a:latin typeface="Cambria" pitchFamily="18" charset="0"/>
                <a:ea typeface="Arial-Rounded" pitchFamily="34" charset="0"/>
                <a:cs typeface="Tahoma" pitchFamily="34" charset="0"/>
              </a:rPr>
              <a:t>Ví dụ</a:t>
            </a:r>
            <a:r>
              <a:rPr lang="en-US" sz="2600" i="1">
                <a:latin typeface="Cambria" pitchFamily="18" charset="0"/>
                <a:ea typeface="Arial-Rounded" pitchFamily="34" charset="0"/>
                <a:cs typeface="Tahoma" pitchFamily="34" charset="0"/>
              </a:rPr>
              <a:t>: n= 33, a = 13</a:t>
            </a:r>
          </a:p>
          <a:p>
            <a:pPr eaLnBrk="1" hangingPunct="1">
              <a:lnSpc>
                <a:spcPct val="120000"/>
              </a:lnSpc>
            </a:pPr>
            <a:r>
              <a:rPr lang="en-US" sz="2200">
                <a:latin typeface="Cambria" pitchFamily="18" charset="0"/>
                <a:ea typeface="Arial-Rounded" pitchFamily="34" charset="0"/>
                <a:cs typeface="Tahoma" pitchFamily="34" charset="0"/>
              </a:rPr>
              <a:t>	A3 = </a:t>
            </a:r>
            <a:r>
              <a:rPr lang="en-US" sz="2200" i="1">
                <a:latin typeface="Cambria" pitchFamily="18" charset="0"/>
                <a:ea typeface="Arial-Rounded" pitchFamily="34" charset="0"/>
                <a:cs typeface="Tahoma" pitchFamily="34" charset="0"/>
              </a:rPr>
              <a:t>n</a:t>
            </a:r>
            <a:r>
              <a:rPr lang="en-US" sz="2200">
                <a:latin typeface="Cambria" pitchFamily="18" charset="0"/>
                <a:ea typeface="Arial-Rounded" pitchFamily="34" charset="0"/>
                <a:cs typeface="Tahoma" pitchFamily="34" charset="0"/>
              </a:rPr>
              <a:t>; B3 = </a:t>
            </a:r>
            <a:r>
              <a:rPr lang="en-US" sz="2200" i="1">
                <a:latin typeface="Cambria" pitchFamily="18" charset="0"/>
                <a:ea typeface="Arial-Rounded" pitchFamily="34" charset="0"/>
                <a:cs typeface="Tahoma" pitchFamily="34" charset="0"/>
              </a:rPr>
              <a:t>a</a:t>
            </a:r>
            <a:r>
              <a:rPr lang="en-US" sz="2200">
                <a:latin typeface="Cambria" pitchFamily="18" charset="0"/>
                <a:ea typeface="Arial-Rounded" pitchFamily="34" charset="0"/>
                <a:cs typeface="Tahoma" pitchFamily="34" charset="0"/>
              </a:rPr>
              <a:t>; A2 = 0; B2 = 1;</a:t>
            </a:r>
          </a:p>
          <a:p>
            <a:pPr eaLnBrk="1" hangingPunct="1">
              <a:lnSpc>
                <a:spcPct val="120000"/>
              </a:lnSpc>
            </a:pPr>
            <a:endParaRPr lang="en-US" sz="26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270000" y="3108325"/>
            <a:ext cx="6045200" cy="249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18000" rIns="18000" bIns="18000"/>
          <a:lstStyle/>
          <a:p>
            <a:pPr>
              <a:spcAft>
                <a:spcPts val="1000"/>
              </a:spcAft>
              <a:defRPr/>
            </a:pPr>
            <a:r>
              <a:rPr lang="en-US" sz="2200">
                <a:latin typeface="Cambria" pitchFamily="18" charset="0"/>
              </a:rPr>
              <a:t>A3         B3     Q      R3                   A2         B2   Q     R2    </a:t>
            </a:r>
            <a:endParaRPr lang="en-US" sz="2200">
              <a:latin typeface="Times New Roman" pitchFamily="18" charset="0"/>
            </a:endParaRPr>
          </a:p>
          <a:p>
            <a:pPr marL="457200" indent="-457200">
              <a:spcAft>
                <a:spcPts val="1000"/>
              </a:spcAft>
              <a:buFontTx/>
              <a:buAutoNum type="arabicPlain" startAt="33"/>
              <a:defRPr/>
            </a:pPr>
            <a:r>
              <a:rPr lang="en-US" sz="2200">
                <a:latin typeface="Cambria" pitchFamily="18" charset="0"/>
              </a:rPr>
              <a:t>=    13  × 2  +  7	             0   =      1 × 2   -  2</a:t>
            </a:r>
            <a:endParaRPr lang="en-US" sz="2200" baseline="-25000">
              <a:latin typeface="Cambria" pitchFamily="18" charset="0"/>
            </a:endParaRPr>
          </a:p>
          <a:p>
            <a:pPr marL="457200" indent="-457200">
              <a:spcBef>
                <a:spcPts val="600"/>
              </a:spcBef>
              <a:spcAft>
                <a:spcPts val="1000"/>
              </a:spcAft>
              <a:defRPr/>
            </a:pPr>
            <a:r>
              <a:rPr lang="en-US" sz="2200">
                <a:latin typeface="Cambria" pitchFamily="18" charset="0"/>
              </a:rPr>
              <a:t>13   =      7  × 1  +  6   	             1   =    -2  × 1  + 3</a:t>
            </a:r>
            <a:endParaRPr lang="en-US" sz="2200" baseline="-25000">
              <a:latin typeface="Cambria" pitchFamily="18" charset="0"/>
            </a:endParaRPr>
          </a:p>
          <a:p>
            <a:pPr>
              <a:spcBef>
                <a:spcPts val="600"/>
              </a:spcBef>
              <a:spcAft>
                <a:spcPts val="1000"/>
              </a:spcAft>
              <a:defRPr/>
            </a:pPr>
            <a:r>
              <a:rPr lang="en-US" sz="2200">
                <a:latin typeface="Cambria" pitchFamily="18" charset="0"/>
              </a:rPr>
              <a:t>   7   =     6 × 1   +  1                    -2   =      3  × 1   -  5</a:t>
            </a:r>
            <a:endParaRPr lang="en-US" sz="2200" baseline="-25000">
              <a:latin typeface="Cambria" pitchFamily="18" charset="0"/>
            </a:endParaRPr>
          </a:p>
          <a:p>
            <a:pPr>
              <a:spcBef>
                <a:spcPts val="600"/>
              </a:spcBef>
              <a:spcAft>
                <a:spcPts val="1000"/>
              </a:spcAft>
              <a:defRPr/>
            </a:pPr>
            <a:r>
              <a:rPr lang="en-US" sz="2200">
                <a:latin typeface="Cambria" pitchFamily="18" charset="0"/>
              </a:rPr>
              <a:t>                1                                                   -5</a:t>
            </a:r>
            <a:r>
              <a:rPr lang="en-US" sz="2200" baseline="-25000">
                <a:latin typeface="Cambria" pitchFamily="18" charset="0"/>
              </a:rPr>
              <a:t>	</a:t>
            </a:r>
            <a:endParaRPr lang="en-US" sz="2200">
              <a:latin typeface="Arial" pitchFamily="34" charset="0"/>
            </a:endParaRPr>
          </a:p>
        </p:txBody>
      </p:sp>
      <p:cxnSp>
        <p:nvCxnSpPr>
          <p:cNvPr id="8" name="AutoShape 6"/>
          <p:cNvCxnSpPr>
            <a:cxnSpLocks noChangeShapeType="1"/>
          </p:cNvCxnSpPr>
          <p:nvPr/>
        </p:nvCxnSpPr>
        <p:spPr bwMode="auto">
          <a:xfrm flipH="1">
            <a:off x="1649413" y="3919538"/>
            <a:ext cx="595312" cy="21431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7"/>
          <p:cNvCxnSpPr>
            <a:cxnSpLocks noChangeShapeType="1"/>
          </p:cNvCxnSpPr>
          <p:nvPr/>
        </p:nvCxnSpPr>
        <p:spPr bwMode="auto">
          <a:xfrm flipH="1">
            <a:off x="2574925" y="3919538"/>
            <a:ext cx="595313" cy="21431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8"/>
          <p:cNvCxnSpPr>
            <a:cxnSpLocks noChangeShapeType="1"/>
          </p:cNvCxnSpPr>
          <p:nvPr/>
        </p:nvCxnSpPr>
        <p:spPr bwMode="auto">
          <a:xfrm flipH="1">
            <a:off x="1649413" y="4454525"/>
            <a:ext cx="595312" cy="2127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9"/>
          <p:cNvCxnSpPr>
            <a:cxnSpLocks noChangeShapeType="1"/>
          </p:cNvCxnSpPr>
          <p:nvPr/>
        </p:nvCxnSpPr>
        <p:spPr bwMode="auto">
          <a:xfrm flipH="1">
            <a:off x="2574925" y="4454525"/>
            <a:ext cx="595313" cy="2127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AutoShape 10"/>
          <p:cNvCxnSpPr>
            <a:cxnSpLocks noChangeShapeType="1"/>
          </p:cNvCxnSpPr>
          <p:nvPr/>
        </p:nvCxnSpPr>
        <p:spPr bwMode="auto">
          <a:xfrm flipH="1">
            <a:off x="2581275" y="4979988"/>
            <a:ext cx="593725" cy="2127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108200" y="5775325"/>
            <a:ext cx="6654800" cy="4730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1000"/>
              </a:spcAft>
            </a:pPr>
            <a:r>
              <a:rPr lang="en-US" sz="2200">
                <a:latin typeface="Calibri" pitchFamily="34" charset="0"/>
              </a:rPr>
              <a:t>Nghịch đảo là: -5 + 33 = 28   (13*28 = 364 </a:t>
            </a:r>
            <a:r>
              <a:rPr lang="en-US" sz="2200">
                <a:latin typeface="Times New Roman" pitchFamily="18" charset="0"/>
                <a:sym typeface="Symbol" pitchFamily="18" charset="2"/>
              </a:rPr>
              <a:t></a:t>
            </a:r>
            <a:r>
              <a:rPr lang="en-US" sz="2200">
                <a:latin typeface="Calibri" pitchFamily="34" charset="0"/>
              </a:rPr>
              <a:t> 1 </a:t>
            </a:r>
            <a:r>
              <a:rPr lang="en-US" sz="2200" i="1">
                <a:latin typeface="Calibri" pitchFamily="34" charset="0"/>
              </a:rPr>
              <a:t>mod</a:t>
            </a:r>
            <a:r>
              <a:rPr lang="en-US" sz="2200">
                <a:latin typeface="Calibri" pitchFamily="34" charset="0"/>
              </a:rPr>
              <a:t> 33)</a:t>
            </a:r>
            <a:endParaRPr lang="en-US" sz="2200"/>
          </a:p>
        </p:txBody>
      </p:sp>
      <p:cxnSp>
        <p:nvCxnSpPr>
          <p:cNvPr id="14" name="AutoShape 12"/>
          <p:cNvCxnSpPr>
            <a:cxnSpLocks noChangeShapeType="1"/>
          </p:cNvCxnSpPr>
          <p:nvPr/>
        </p:nvCxnSpPr>
        <p:spPr bwMode="auto">
          <a:xfrm>
            <a:off x="2581275" y="5481638"/>
            <a:ext cx="593725" cy="306387"/>
          </a:xfrm>
          <a:prstGeom prst="straightConnector1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13"/>
          <p:cNvCxnSpPr>
            <a:cxnSpLocks noChangeShapeType="1"/>
          </p:cNvCxnSpPr>
          <p:nvPr/>
        </p:nvCxnSpPr>
        <p:spPr bwMode="auto">
          <a:xfrm flipH="1">
            <a:off x="5083175" y="3905250"/>
            <a:ext cx="595313" cy="2143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AutoShape 14"/>
          <p:cNvCxnSpPr>
            <a:cxnSpLocks noChangeShapeType="1"/>
          </p:cNvCxnSpPr>
          <p:nvPr/>
        </p:nvCxnSpPr>
        <p:spPr bwMode="auto">
          <a:xfrm flipH="1">
            <a:off x="5861050" y="3905250"/>
            <a:ext cx="595313" cy="2143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AutoShape 15"/>
          <p:cNvCxnSpPr>
            <a:cxnSpLocks noChangeShapeType="1"/>
          </p:cNvCxnSpPr>
          <p:nvPr/>
        </p:nvCxnSpPr>
        <p:spPr bwMode="auto">
          <a:xfrm flipH="1">
            <a:off x="5076825" y="4467225"/>
            <a:ext cx="593725" cy="2143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AutoShape 16"/>
          <p:cNvCxnSpPr>
            <a:cxnSpLocks noChangeShapeType="1"/>
          </p:cNvCxnSpPr>
          <p:nvPr/>
        </p:nvCxnSpPr>
        <p:spPr bwMode="auto">
          <a:xfrm flipH="1">
            <a:off x="5854700" y="4467225"/>
            <a:ext cx="593725" cy="21431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AutoShape 17"/>
          <p:cNvCxnSpPr>
            <a:cxnSpLocks noChangeShapeType="1"/>
          </p:cNvCxnSpPr>
          <p:nvPr/>
        </p:nvCxnSpPr>
        <p:spPr bwMode="auto">
          <a:xfrm flipH="1">
            <a:off x="5910263" y="4979988"/>
            <a:ext cx="593725" cy="2127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Straight Connector 19"/>
          <p:cNvCxnSpPr/>
          <p:nvPr/>
        </p:nvCxnSpPr>
        <p:spPr>
          <a:xfrm>
            <a:off x="1066800" y="3538538"/>
            <a:ext cx="6248400" cy="15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47"/>
          <p:cNvSpPr>
            <a:spLocks noChangeArrowheads="1"/>
          </p:cNvSpPr>
          <p:nvPr/>
        </p:nvSpPr>
        <p:spPr bwMode="auto">
          <a:xfrm>
            <a:off x="428625" y="6324600"/>
            <a:ext cx="26404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u="sng">
                <a:latin typeface="Cambria" pitchFamily="18" charset="0"/>
                <a:ea typeface="Arial-Rounded" pitchFamily="34" charset="0"/>
                <a:cs typeface="Tahoma" pitchFamily="34" charset="0"/>
              </a:rPr>
              <a:t>Ví dụ</a:t>
            </a:r>
            <a:r>
              <a:rPr lang="en-US" sz="2400" i="1">
                <a:latin typeface="Cambria" pitchFamily="18" charset="0"/>
                <a:ea typeface="Arial-Rounded" pitchFamily="34" charset="0"/>
                <a:cs typeface="Tahoma" pitchFamily="34" charset="0"/>
              </a:rPr>
              <a:t>: n= 27, a = 22</a:t>
            </a:r>
            <a:endParaRPr lang="en-US" sz="2400">
              <a:ea typeface="Arial-Rounded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93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 txBox="1">
            <a:spLocks noChangeArrowheads="1"/>
          </p:cNvSpPr>
          <p:nvPr/>
        </p:nvSpPr>
        <p:spPr bwMode="auto">
          <a:xfrm>
            <a:off x="304800" y="1295400"/>
            <a:ext cx="85344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20000"/>
              </a:lnSpc>
              <a:buFont typeface="Calibri" pitchFamily="34" charset="0"/>
              <a:buAutoNum type="arabicParenR"/>
            </a:pPr>
            <a:r>
              <a:rPr lang="en-US" sz="2800">
                <a:latin typeface="Tahoma" pitchFamily="34" charset="0"/>
                <a:ea typeface="Arial-Rounded" pitchFamily="34" charset="0"/>
                <a:cs typeface="Tahoma" pitchFamily="34" charset="0"/>
              </a:rPr>
              <a:t>Cơ chế thực hiện của RSA:</a:t>
            </a:r>
          </a:p>
          <a:p>
            <a:pPr eaLnBrk="1" hangingPunct="1">
              <a:lnSpc>
                <a:spcPct val="120000"/>
              </a:lnSpc>
              <a:spcBef>
                <a:spcPts val="1200"/>
              </a:spcBef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Tác giả: Rivest, Shamir và Adleman - 1977</a:t>
            </a:r>
          </a:p>
          <a:p>
            <a:pPr eaLnBrk="1" hangingPunct="1">
              <a:lnSpc>
                <a:spcPct val="120000"/>
              </a:lnSpc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Hàm một chiều: phép phân tích một số nguyên có 2 thừa số nguyên tố.</a:t>
            </a:r>
          </a:p>
          <a:p>
            <a:pPr eaLnBrk="1" hangingPunct="1">
              <a:lnSpc>
                <a:spcPct val="120000"/>
              </a:lnSpc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Mã hóa khối </a:t>
            </a:r>
            <a:r>
              <a:rPr lang="en-US" sz="2600" i="1">
                <a:latin typeface="Cambria" pitchFamily="18" charset="0"/>
                <a:ea typeface="Arial-Rounded" pitchFamily="34" charset="0"/>
                <a:cs typeface="Tahoma" pitchFamily="34" charset="0"/>
              </a:rPr>
              <a:t>i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bít (</a:t>
            </a:r>
            <a:r>
              <a:rPr lang="en-US" sz="2800" i="1">
                <a:latin typeface="Cambria" pitchFamily="18" charset="0"/>
                <a:ea typeface="Arial-Rounded" pitchFamily="34" charset="0"/>
                <a:cs typeface="Tahoma" pitchFamily="34" charset="0"/>
              </a:rPr>
              <a:t>i</a:t>
            </a:r>
            <a:r>
              <a:rPr lang="en-US" sz="2400" i="1">
                <a:latin typeface="Cambria" pitchFamily="18" charset="0"/>
                <a:ea typeface="Arial-Rounded" pitchFamily="34" charset="0"/>
                <a:cs typeface="Tahoma" pitchFamily="34" charset="0"/>
              </a:rPr>
              <a:t> </a:t>
            </a:r>
            <a:r>
              <a:rPr lang="en-US" sz="2400" i="1">
                <a:latin typeface="Tahoma" pitchFamily="34" charset="0"/>
                <a:cs typeface="Tahoma" pitchFamily="34" charset="0"/>
              </a:rPr>
              <a:t>≈ </a:t>
            </a:r>
            <a:r>
              <a:rPr lang="en-US" sz="2400">
                <a:latin typeface="Tahoma" pitchFamily="34" charset="0"/>
                <a:cs typeface="Arial-Rounded" pitchFamily="34" charset="0"/>
              </a:rPr>
              <a:t>1024)</a:t>
            </a:r>
          </a:p>
          <a:p>
            <a:pPr eaLnBrk="1" hangingPunct="1">
              <a:lnSpc>
                <a:spcPct val="120000"/>
              </a:lnSpc>
              <a:buFont typeface="Arial" charset="0"/>
              <a:buChar char="•"/>
            </a:pPr>
            <a:r>
              <a:rPr lang="en-US" sz="2400">
                <a:latin typeface="Tahoma" pitchFamily="34" charset="0"/>
                <a:cs typeface="Arial-Rounded" pitchFamily="34" charset="0"/>
              </a:rPr>
              <a:t>Bản rõ </a:t>
            </a:r>
            <a:r>
              <a:rPr lang="en-US" sz="2600" i="1">
                <a:latin typeface="Cambria" pitchFamily="18" charset="0"/>
                <a:cs typeface="Arial-Rounded" pitchFamily="34" charset="0"/>
              </a:rPr>
              <a:t>M</a:t>
            </a:r>
            <a:r>
              <a:rPr lang="en-US" sz="2400">
                <a:latin typeface="Tahoma" pitchFamily="34" charset="0"/>
                <a:cs typeface="Arial-Rounded" pitchFamily="34" charset="0"/>
              </a:rPr>
              <a:t> và bản mã </a:t>
            </a:r>
            <a:r>
              <a:rPr lang="en-US" sz="2600" i="1">
                <a:latin typeface="Cambria" pitchFamily="18" charset="0"/>
                <a:cs typeface="Arial-Rounded" pitchFamily="34" charset="0"/>
              </a:rPr>
              <a:t>C</a:t>
            </a:r>
            <a:r>
              <a:rPr lang="en-US" sz="2400">
                <a:latin typeface="Tahoma" pitchFamily="34" charset="0"/>
                <a:cs typeface="Arial-Rounded" pitchFamily="34" charset="0"/>
              </a:rPr>
              <a:t> là các số nguyên từ </a:t>
            </a:r>
            <a:r>
              <a:rPr lang="en-US" sz="2600">
                <a:latin typeface="Cambria" pitchFamily="18" charset="0"/>
                <a:cs typeface="Arial-Rounded" pitchFamily="34" charset="0"/>
              </a:rPr>
              <a:t>0</a:t>
            </a:r>
            <a:r>
              <a:rPr lang="en-US" sz="2400">
                <a:latin typeface="Tahoma" pitchFamily="34" charset="0"/>
                <a:cs typeface="Arial-Rounded" pitchFamily="34" charset="0"/>
              </a:rPr>
              <a:t> đến </a:t>
            </a:r>
            <a:r>
              <a:rPr lang="en-US" sz="2600">
                <a:latin typeface="Cambria" pitchFamily="18" charset="0"/>
                <a:cs typeface="Arial-Rounded" pitchFamily="34" charset="0"/>
              </a:rPr>
              <a:t>2</a:t>
            </a:r>
            <a:r>
              <a:rPr lang="en-US" sz="2600" i="1" baseline="30000">
                <a:latin typeface="Cambria" pitchFamily="18" charset="0"/>
                <a:cs typeface="Arial-Rounded" pitchFamily="34" charset="0"/>
              </a:rPr>
              <a:t>i</a:t>
            </a:r>
            <a:endParaRPr lang="en-US" sz="2400">
              <a:latin typeface="Tahoma" pitchFamily="34" charset="0"/>
              <a:cs typeface="Arial-Rounded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7EBDEF-5C0B-4FF0-BF87-AD544E48CB0E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16389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6390" name="Rectangle 42"/>
          <p:cNvSpPr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9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639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III. Mã hóa RSA</a:t>
            </a:r>
          </a:p>
        </p:txBody>
      </p:sp>
    </p:spTree>
    <p:extLst>
      <p:ext uri="{BB962C8B-B14F-4D97-AF65-F5344CB8AC3E}">
        <p14:creationId xmlns:p14="http://schemas.microsoft.com/office/powerpoint/2010/main" val="3335870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 txBox="1">
            <a:spLocks noChangeArrowheads="1"/>
          </p:cNvSpPr>
          <p:nvPr/>
        </p:nvSpPr>
        <p:spPr bwMode="auto">
          <a:xfrm>
            <a:off x="304800" y="152400"/>
            <a:ext cx="8839200" cy="662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lnSpc>
                <a:spcPct val="120000"/>
              </a:lnSpc>
              <a:buFont typeface="Arial" pitchFamily="34" charset="0"/>
              <a:buChar char="•"/>
              <a:defRPr/>
            </a:pPr>
            <a:r>
              <a:rPr lang="en-US" sz="2800">
                <a:latin typeface="Tahoma" pitchFamily="34" charset="0"/>
                <a:ea typeface="Arial-Rounded" pitchFamily="34" charset="0"/>
                <a:cs typeface="Tahoma" pitchFamily="34" charset="0"/>
              </a:rPr>
              <a:t>Các bước thực hiện tạo khóa của RSA:</a:t>
            </a:r>
          </a:p>
          <a:p>
            <a:pPr marL="914400" lvl="1" indent="-457200">
              <a:lnSpc>
                <a:spcPct val="120000"/>
              </a:lnSpc>
              <a:spcBef>
                <a:spcPts val="300"/>
              </a:spcBef>
              <a:buFont typeface="+mj-lt"/>
              <a:buAutoNum type="arabicParenR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Chọn 2 số nguyên tố lớn p, q sao cho N =p.q &gt; 2</a:t>
            </a:r>
            <a:r>
              <a:rPr lang="en-US" sz="2400" baseline="30000">
                <a:latin typeface="Tahoma" pitchFamily="34" charset="0"/>
                <a:ea typeface="Arial-Rounded" pitchFamily="34" charset="0"/>
                <a:cs typeface="Tahoma" pitchFamily="34" charset="0"/>
              </a:rPr>
              <a:t>i-1 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&gt; M</a:t>
            </a:r>
          </a:p>
          <a:p>
            <a:pPr marL="914400" lvl="1" indent="-457200">
              <a:lnSpc>
                <a:spcPct val="120000"/>
              </a:lnSpc>
              <a:spcBef>
                <a:spcPts val="300"/>
              </a:spcBef>
              <a:buFont typeface="+mj-lt"/>
              <a:buAutoNum type="arabicParenR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Tính n = (p-1)(q-1)</a:t>
            </a:r>
          </a:p>
          <a:p>
            <a:pPr marL="914400" lvl="1" indent="-457200">
              <a:lnSpc>
                <a:spcPct val="120000"/>
              </a:lnSpc>
              <a:spcBef>
                <a:spcPts val="300"/>
              </a:spcBef>
              <a:buFont typeface="+mj-lt"/>
              <a:buAutoNum type="arabicParenR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Tìm e nguyên tố cùng nhau với n</a:t>
            </a:r>
          </a:p>
          <a:p>
            <a:pPr marL="914400" lvl="1" indent="-457200">
              <a:lnSpc>
                <a:spcPct val="120000"/>
              </a:lnSpc>
              <a:spcBef>
                <a:spcPts val="300"/>
              </a:spcBef>
              <a:buFont typeface="+mj-lt"/>
              <a:buAutoNum type="arabicParenR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Tìm d sao cho e.d 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Symbol"/>
              </a:rPr>
              <a:t> 1 mod n     (dùng Euclid mở rộng)</a:t>
            </a:r>
          </a:p>
          <a:p>
            <a:pPr marL="914400" lvl="1" indent="-457200">
              <a:lnSpc>
                <a:spcPct val="120000"/>
              </a:lnSpc>
              <a:spcBef>
                <a:spcPts val="300"/>
              </a:spcBef>
              <a:buFont typeface="+mj-lt"/>
              <a:buAutoNum type="arabicParenR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Symbol"/>
              </a:rPr>
              <a:t>Hủy bỏ p, q, n. Chọn khóa công khai K</a:t>
            </a:r>
            <a:r>
              <a:rPr lang="en-US" sz="2400" baseline="-25000">
                <a:latin typeface="Tahoma" pitchFamily="34" charset="0"/>
                <a:ea typeface="Arial-Rounded" pitchFamily="34" charset="0"/>
                <a:cs typeface="Tahoma" pitchFamily="34" charset="0"/>
                <a:sym typeface="Symbol"/>
              </a:rPr>
              <a:t>U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Symbol"/>
              </a:rPr>
              <a:t> = (e, N)</a:t>
            </a:r>
          </a:p>
          <a:p>
            <a:pPr marL="914400" lvl="1" indent="-457200">
              <a:lnSpc>
                <a:spcPct val="120000"/>
              </a:lnSpc>
              <a:spcBef>
                <a:spcPts val="300"/>
              </a:spcBef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Symbol"/>
              </a:rPr>
              <a:t>	Khóa bí mật K</a:t>
            </a:r>
            <a:r>
              <a:rPr lang="en-US" sz="2400" baseline="-25000">
                <a:latin typeface="Tahoma" pitchFamily="34" charset="0"/>
                <a:ea typeface="Arial-Rounded" pitchFamily="34" charset="0"/>
                <a:cs typeface="Tahoma" pitchFamily="34" charset="0"/>
                <a:sym typeface="Symbol"/>
              </a:rPr>
              <a:t>R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Symbol"/>
              </a:rPr>
              <a:t> = (d, N)</a:t>
            </a:r>
          </a:p>
          <a:p>
            <a:pPr marL="457200" indent="-457200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/>
            </a:pPr>
            <a:r>
              <a:rPr lang="en-US" sz="2800">
                <a:latin typeface="Tahoma" pitchFamily="34" charset="0"/>
                <a:ea typeface="Arial-Rounded" pitchFamily="34" charset="0"/>
                <a:cs typeface="Tahoma" pitchFamily="34" charset="0"/>
              </a:rPr>
              <a:t>Ví dụ:</a:t>
            </a:r>
          </a:p>
          <a:p>
            <a:pPr marL="914400" lvl="1" indent="-457200">
              <a:lnSpc>
                <a:spcPct val="120000"/>
              </a:lnSpc>
              <a:spcBef>
                <a:spcPts val="300"/>
              </a:spcBef>
              <a:buFont typeface="+mj-lt"/>
              <a:buAutoNum type="arabicParenR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Chọn p=11, q = 3. Tính N = p.q = 33 </a:t>
            </a:r>
          </a:p>
          <a:p>
            <a:pPr marL="914400" lvl="1" indent="-457200">
              <a:lnSpc>
                <a:spcPct val="120000"/>
              </a:lnSpc>
              <a:spcBef>
                <a:spcPts val="300"/>
              </a:spcBef>
              <a:buFont typeface="+mj-lt"/>
              <a:buAutoNum type="arabicParenR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Tính n = (p-1)(q-1) = 20</a:t>
            </a:r>
          </a:p>
          <a:p>
            <a:pPr marL="914400" lvl="1" indent="-457200">
              <a:lnSpc>
                <a:spcPct val="120000"/>
              </a:lnSpc>
              <a:spcBef>
                <a:spcPts val="300"/>
              </a:spcBef>
              <a:buFont typeface="+mj-lt"/>
              <a:buAutoNum type="arabicParenR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Chọn e = 3.</a:t>
            </a:r>
          </a:p>
          <a:p>
            <a:pPr marL="914400" lvl="1" indent="-457200">
              <a:lnSpc>
                <a:spcPct val="120000"/>
              </a:lnSpc>
              <a:spcBef>
                <a:spcPts val="300"/>
              </a:spcBef>
              <a:buFont typeface="+mj-lt"/>
              <a:buAutoNum type="arabicParenR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Symbol"/>
              </a:rPr>
              <a:t>d = 7  (3x7 = 21 mod 20 = 1)</a:t>
            </a:r>
          </a:p>
          <a:p>
            <a:pPr marL="914400" lvl="1" indent="-457200">
              <a:lnSpc>
                <a:spcPct val="120000"/>
              </a:lnSpc>
              <a:spcBef>
                <a:spcPts val="300"/>
              </a:spcBef>
              <a:buFont typeface="+mj-lt"/>
              <a:buAutoNum type="arabicParenR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Symbol"/>
              </a:rPr>
              <a:t>K</a:t>
            </a:r>
            <a:r>
              <a:rPr lang="en-US" sz="2400" baseline="-25000">
                <a:latin typeface="Tahoma" pitchFamily="34" charset="0"/>
                <a:ea typeface="Arial-Rounded" pitchFamily="34" charset="0"/>
                <a:cs typeface="Tahoma" pitchFamily="34" charset="0"/>
                <a:sym typeface="Symbol"/>
              </a:rPr>
              <a:t>U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Symbol"/>
              </a:rPr>
              <a:t> = (3, 33), K</a:t>
            </a:r>
            <a:r>
              <a:rPr lang="en-US" sz="2400" baseline="-25000">
                <a:latin typeface="Tahoma" pitchFamily="34" charset="0"/>
                <a:ea typeface="Arial-Rounded" pitchFamily="34" charset="0"/>
                <a:cs typeface="Tahoma" pitchFamily="34" charset="0"/>
                <a:sym typeface="Symbol"/>
              </a:rPr>
              <a:t>R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Symbol"/>
              </a:rPr>
              <a:t> = (7, 33)</a:t>
            </a:r>
          </a:p>
          <a:p>
            <a:pPr marL="457200" indent="-457200">
              <a:lnSpc>
                <a:spcPct val="120000"/>
              </a:lnSpc>
              <a:buFont typeface="Arial" pitchFamily="34" charset="0"/>
              <a:buChar char="•"/>
              <a:defRPr/>
            </a:pPr>
            <a:endParaRPr lang="en-US" sz="28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914400" lvl="1" indent="-457200">
              <a:lnSpc>
                <a:spcPct val="120000"/>
              </a:lnSpc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457200" indent="-457200">
              <a:lnSpc>
                <a:spcPct val="120000"/>
              </a:lnSpc>
              <a:defRPr/>
            </a:pPr>
            <a:endParaRPr lang="en-US" sz="2600">
              <a:latin typeface="Cambria" pitchFamily="18" charset="0"/>
              <a:ea typeface="Arial-Rounded" pitchFamily="34" charset="0"/>
              <a:cs typeface="Tahoma" pitchFamily="34" charset="0"/>
            </a:endParaRPr>
          </a:p>
          <a:p>
            <a:pPr marL="1200150" lvl="1" indent="-742950">
              <a:lnSpc>
                <a:spcPct val="110000"/>
              </a:lnSpc>
              <a:buFont typeface="Arial" charset="0"/>
              <a:buChar char="•"/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1200150" lvl="1" indent="-742950">
              <a:lnSpc>
                <a:spcPct val="110000"/>
              </a:lnSpc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	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3DF563-9FDF-4EC6-8149-5A40875FD1DC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17412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413" name="Rectangle 42"/>
          <p:cNvSpPr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415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09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 txBox="1">
            <a:spLocks noChangeArrowheads="1"/>
          </p:cNvSpPr>
          <p:nvPr/>
        </p:nvSpPr>
        <p:spPr bwMode="auto">
          <a:xfrm>
            <a:off x="152400" y="381000"/>
            <a:ext cx="80010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9144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3716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20000"/>
              </a:lnSpc>
              <a:buFont typeface="Arial" charset="0"/>
              <a:buChar char="•"/>
            </a:pPr>
            <a:r>
              <a:rPr lang="en-US" sz="2600">
                <a:latin typeface="Tahoma" pitchFamily="34" charset="0"/>
                <a:ea typeface="Arial-Rounded" pitchFamily="34" charset="0"/>
                <a:cs typeface="Tahoma" pitchFamily="34" charset="0"/>
              </a:rPr>
              <a:t>Mã hóa và giải mã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Font typeface="Calibri" pitchFamily="34" charset="0"/>
              <a:buAutoNum type="arabicParenR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Mã hóa: C = E(M, K</a:t>
            </a:r>
            <a:r>
              <a:rPr lang="en-US" sz="2400" baseline="-25000">
                <a:latin typeface="Tahoma" pitchFamily="34" charset="0"/>
                <a:ea typeface="Arial-Rounded" pitchFamily="34" charset="0"/>
                <a:cs typeface="Tahoma" pitchFamily="34" charset="0"/>
              </a:rPr>
              <a:t>R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) = M</a:t>
            </a:r>
            <a:r>
              <a:rPr lang="en-US" sz="2400" baseline="30000">
                <a:latin typeface="Tahoma" pitchFamily="34" charset="0"/>
                <a:ea typeface="Arial-Rounded" pitchFamily="34" charset="0"/>
                <a:cs typeface="Tahoma" pitchFamily="34" charset="0"/>
              </a:rPr>
              <a:t>d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mod N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Font typeface="Calibri" pitchFamily="34" charset="0"/>
              <a:buAutoNum type="arabicParenR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Giải mã: M = D(C, K</a:t>
            </a:r>
            <a:r>
              <a:rPr lang="en-US" sz="2400" baseline="-25000">
                <a:latin typeface="Tahoma" pitchFamily="34" charset="0"/>
                <a:ea typeface="Arial-Rounded" pitchFamily="34" charset="0"/>
                <a:cs typeface="Tahoma" pitchFamily="34" charset="0"/>
              </a:rPr>
              <a:t>U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) = C</a:t>
            </a:r>
            <a:r>
              <a:rPr lang="en-US" sz="2400" baseline="30000">
                <a:latin typeface="Tahoma" pitchFamily="34" charset="0"/>
                <a:ea typeface="Arial-Rounded" pitchFamily="34" charset="0"/>
                <a:cs typeface="Tahoma" pitchFamily="34" charset="0"/>
              </a:rPr>
              <a:t>e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mod N 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</a:pPr>
            <a:endParaRPr lang="en-US" sz="1400">
              <a:latin typeface="Tahoma" pitchFamily="34" charset="0"/>
              <a:ea typeface="Arial-Rounded" pitchFamily="34" charset="0"/>
              <a:cs typeface="Tahoma" pitchFamily="34" charset="0"/>
              <a:sym typeface="Symbol" pitchFamily="18" charset="2"/>
            </a:endParaRPr>
          </a:p>
          <a:p>
            <a:pPr eaLnBrk="1" hangingPunct="1"/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Symbol" pitchFamily="18" charset="2"/>
              </a:rPr>
              <a:t>Ví dụ: 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Mã hóa bản rõ M = 17: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Font typeface="Calibri" pitchFamily="34" charset="0"/>
              <a:buAutoNum type="arabicParenR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Mã hóa: C </a:t>
            </a:r>
            <a:r>
              <a:rPr lang="en-US" sz="2400">
                <a:latin typeface="Tahoma" pitchFamily="34" charset="0"/>
                <a:cs typeface="Arial-Rounded" pitchFamily="34" charset="0"/>
              </a:rPr>
              <a:t>=17</a:t>
            </a:r>
            <a:r>
              <a:rPr lang="en-US" sz="2400" baseline="30000">
                <a:latin typeface="Tahoma" pitchFamily="34" charset="0"/>
                <a:cs typeface="Arial-Rounded" pitchFamily="34" charset="0"/>
              </a:rPr>
              <a:t>7</a:t>
            </a:r>
            <a:r>
              <a:rPr lang="en-US" sz="2400">
                <a:latin typeface="Tahoma" pitchFamily="34" charset="0"/>
                <a:cs typeface="Arial-Rounded" pitchFamily="34" charset="0"/>
              </a:rPr>
              <a:t> mod 33 = ?</a:t>
            </a:r>
          </a:p>
          <a:p>
            <a:pPr marL="457200" lvl="1" indent="0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>
                <a:latin typeface="Tahoma" pitchFamily="34" charset="0"/>
                <a:cs typeface="Arial-Rounded" pitchFamily="34" charset="0"/>
              </a:rPr>
              <a:t>			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Font typeface="+mj-lt"/>
              <a:buAutoNum type="arabicParenR" startAt="2"/>
            </a:pPr>
            <a:r>
              <a:rPr lang="en-US" sz="2400">
                <a:latin typeface="Tahoma" pitchFamily="34" charset="0"/>
                <a:cs typeface="Arial-Rounded" pitchFamily="34" charset="0"/>
              </a:rPr>
              <a:t>Giải mã: M = ? </a:t>
            </a:r>
            <a:r>
              <a:rPr lang="en-US" sz="2400" baseline="30000">
                <a:latin typeface="Tahoma" pitchFamily="34" charset="0"/>
                <a:cs typeface="Arial-Rounded" pitchFamily="34" charset="0"/>
              </a:rPr>
              <a:t>3</a:t>
            </a:r>
            <a:r>
              <a:rPr lang="en-US" sz="2400">
                <a:latin typeface="Tahoma" pitchFamily="34" charset="0"/>
                <a:cs typeface="Arial-Rounded" pitchFamily="34" charset="0"/>
              </a:rPr>
              <a:t> mod 33 = ?</a:t>
            </a:r>
          </a:p>
          <a:p>
            <a:pPr marL="457200" lvl="1" indent="0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>
                <a:latin typeface="Tahoma" pitchFamily="34" charset="0"/>
                <a:cs typeface="Arial-Rounded" pitchFamily="34" charset="0"/>
              </a:rPr>
              <a:t>	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6F1310-221D-4867-A05C-407560E6DA5A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18436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437" name="Rectangle 42"/>
          <p:cNvSpPr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43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44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44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200">
                <a:cs typeface="Times New Roman" pitchFamily="18" charset="0"/>
              </a:rPr>
              <a:t> </a:t>
            </a:r>
            <a:endParaRPr lang="en-US"/>
          </a:p>
        </p:txBody>
      </p:sp>
      <p:sp>
        <p:nvSpPr>
          <p:cNvPr id="18442" name="Rectangle 5"/>
          <p:cNvSpPr>
            <a:spLocks noChangeArrowheads="1"/>
          </p:cNvSpPr>
          <p:nvPr/>
        </p:nvSpPr>
        <p:spPr bwMode="auto">
          <a:xfrm>
            <a:off x="0" y="228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900"/>
              <a:t> </a:t>
            </a:r>
            <a:endParaRPr lang="en-US"/>
          </a:p>
        </p:txBody>
      </p:sp>
      <p:sp>
        <p:nvSpPr>
          <p:cNvPr id="1844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444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30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6EA487-A52E-4BAD-8A52-10008A4A4586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19459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460" name="Rectangle 42"/>
          <p:cNvSpPr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46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46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46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200">
                <a:cs typeface="Times New Roman" pitchFamily="18" charset="0"/>
              </a:rPr>
              <a:t> </a:t>
            </a:r>
            <a:endParaRPr lang="en-US"/>
          </a:p>
        </p:txBody>
      </p:sp>
      <p:sp>
        <p:nvSpPr>
          <p:cNvPr id="19465" name="Rectangle 5"/>
          <p:cNvSpPr>
            <a:spLocks noChangeArrowheads="1"/>
          </p:cNvSpPr>
          <p:nvPr/>
        </p:nvSpPr>
        <p:spPr bwMode="auto">
          <a:xfrm>
            <a:off x="0" y="228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900"/>
              <a:t> </a:t>
            </a:r>
            <a:endParaRPr lang="en-US"/>
          </a:p>
        </p:txBody>
      </p:sp>
      <p:sp>
        <p:nvSpPr>
          <p:cNvPr id="1946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46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9469" name="Text Box 30"/>
          <p:cNvSpPr txBox="1">
            <a:spLocks noChangeArrowheads="1"/>
          </p:cNvSpPr>
          <p:nvPr/>
        </p:nvSpPr>
        <p:spPr bwMode="auto">
          <a:xfrm>
            <a:off x="1678905" y="2903528"/>
            <a:ext cx="2304244" cy="114749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endParaRPr lang="en-US" sz="2200">
              <a:latin typeface="Cambria" pitchFamily="18" charset="0"/>
              <a:cs typeface="Times New Roman" pitchFamily="18" charset="0"/>
            </a:endParaRPr>
          </a:p>
          <a:p>
            <a:pPr algn="ctr"/>
            <a:r>
              <a:rPr lang="en-US" sz="2200">
                <a:latin typeface="Cambria" pitchFamily="18" charset="0"/>
                <a:cs typeface="Times New Roman" pitchFamily="18" charset="0"/>
              </a:rPr>
              <a:t>17</a:t>
            </a:r>
            <a:r>
              <a:rPr lang="en-US" sz="2200" baseline="30000">
                <a:latin typeface="Cambria" pitchFamily="18" charset="0"/>
                <a:cs typeface="Times New Roman" pitchFamily="18" charset="0"/>
              </a:rPr>
              <a:t>7</a:t>
            </a:r>
            <a:r>
              <a:rPr lang="en-US" sz="2200">
                <a:latin typeface="Cambria" pitchFamily="18" charset="0"/>
                <a:cs typeface="Times New Roman" pitchFamily="18" charset="0"/>
              </a:rPr>
              <a:t>  </a:t>
            </a:r>
            <a:r>
              <a:rPr lang="en-US" sz="2200" i="1">
                <a:latin typeface="Cambria" pitchFamily="18" charset="0"/>
                <a:cs typeface="Times New Roman" pitchFamily="18" charset="0"/>
              </a:rPr>
              <a:t>mod </a:t>
            </a:r>
            <a:r>
              <a:rPr lang="en-US" sz="2200">
                <a:latin typeface="Cambria" pitchFamily="18" charset="0"/>
                <a:cs typeface="Times New Roman" pitchFamily="18" charset="0"/>
              </a:rPr>
              <a:t> 33 = 8</a:t>
            </a:r>
            <a:endParaRPr lang="en-US" sz="2200"/>
          </a:p>
        </p:txBody>
      </p:sp>
      <p:sp>
        <p:nvSpPr>
          <p:cNvPr id="19470" name="Text Box 29"/>
          <p:cNvSpPr txBox="1">
            <a:spLocks noChangeArrowheads="1"/>
          </p:cNvSpPr>
          <p:nvPr/>
        </p:nvSpPr>
        <p:spPr bwMode="auto">
          <a:xfrm>
            <a:off x="5017259" y="2903528"/>
            <a:ext cx="2304244" cy="114749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endParaRPr lang="en-US" sz="2200">
              <a:latin typeface="Cambria" pitchFamily="18" charset="0"/>
              <a:cs typeface="Times New Roman" pitchFamily="18" charset="0"/>
            </a:endParaRPr>
          </a:p>
          <a:p>
            <a:pPr algn="ctr"/>
            <a:r>
              <a:rPr lang="en-US" sz="2200">
                <a:latin typeface="Cambria" pitchFamily="18" charset="0"/>
                <a:cs typeface="Times New Roman" pitchFamily="18" charset="0"/>
              </a:rPr>
              <a:t>   8</a:t>
            </a:r>
            <a:r>
              <a:rPr lang="en-US" sz="2200" baseline="30000">
                <a:latin typeface="Cambria" pitchFamily="18" charset="0"/>
                <a:cs typeface="Times New Roman" pitchFamily="18" charset="0"/>
              </a:rPr>
              <a:t>3</a:t>
            </a:r>
            <a:r>
              <a:rPr lang="en-US" sz="2200">
                <a:latin typeface="Cambria" pitchFamily="18" charset="0"/>
                <a:cs typeface="Times New Roman" pitchFamily="18" charset="0"/>
              </a:rPr>
              <a:t>  </a:t>
            </a:r>
            <a:r>
              <a:rPr lang="en-US" sz="2200" i="1">
                <a:latin typeface="Cambria" pitchFamily="18" charset="0"/>
                <a:cs typeface="Times New Roman" pitchFamily="18" charset="0"/>
              </a:rPr>
              <a:t>mod</a:t>
            </a:r>
            <a:r>
              <a:rPr lang="en-US" sz="2200">
                <a:latin typeface="Cambria" pitchFamily="18" charset="0"/>
                <a:cs typeface="Times New Roman" pitchFamily="18" charset="0"/>
              </a:rPr>
              <a:t>  33 = 17</a:t>
            </a:r>
            <a:endParaRPr lang="en-US" sz="2200"/>
          </a:p>
        </p:txBody>
      </p:sp>
      <p:cxnSp>
        <p:nvCxnSpPr>
          <p:cNvPr id="19471" name="AutoShape 28"/>
          <p:cNvCxnSpPr>
            <a:cxnSpLocks noChangeShapeType="1"/>
          </p:cNvCxnSpPr>
          <p:nvPr/>
        </p:nvCxnSpPr>
        <p:spPr bwMode="auto">
          <a:xfrm>
            <a:off x="924825" y="3484146"/>
            <a:ext cx="864092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2" name="AutoShape 27"/>
          <p:cNvCxnSpPr>
            <a:cxnSpLocks noChangeShapeType="1"/>
          </p:cNvCxnSpPr>
          <p:nvPr/>
        </p:nvCxnSpPr>
        <p:spPr bwMode="auto">
          <a:xfrm>
            <a:off x="3861137" y="3484146"/>
            <a:ext cx="1307139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3" name="AutoShape 26"/>
          <p:cNvCxnSpPr>
            <a:cxnSpLocks noChangeShapeType="1"/>
          </p:cNvCxnSpPr>
          <p:nvPr/>
        </p:nvCxnSpPr>
        <p:spPr bwMode="auto">
          <a:xfrm>
            <a:off x="7237495" y="3484146"/>
            <a:ext cx="864092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74" name="Text Box 25"/>
          <p:cNvSpPr txBox="1">
            <a:spLocks noChangeArrowheads="1"/>
          </p:cNvSpPr>
          <p:nvPr/>
        </p:nvSpPr>
        <p:spPr bwMode="auto">
          <a:xfrm>
            <a:off x="685800" y="2746636"/>
            <a:ext cx="944100" cy="726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sz="2000">
                <a:latin typeface="Tahoma" pitchFamily="34" charset="0"/>
                <a:ea typeface="Times New Roman" pitchFamily="18" charset="0"/>
                <a:cs typeface="Tahoma" pitchFamily="34" charset="0"/>
              </a:rPr>
              <a:t>b</a:t>
            </a:r>
            <a:r>
              <a:rPr lang="en-US" sz="2000">
                <a:ea typeface="Times New Roman" pitchFamily="18" charset="0"/>
                <a:cs typeface="Arial" charset="0"/>
              </a:rPr>
              <a:t>ả</a:t>
            </a:r>
            <a:r>
              <a:rPr lang="en-US" sz="2000">
                <a:latin typeface="Tahoma" pitchFamily="34" charset="0"/>
                <a:ea typeface="Times New Roman" pitchFamily="18" charset="0"/>
                <a:cs typeface="Tahoma" pitchFamily="34" charset="0"/>
              </a:rPr>
              <a:t>n rõ 17</a:t>
            </a:r>
            <a:endParaRPr lang="en-US" sz="2000"/>
          </a:p>
        </p:txBody>
      </p:sp>
      <p:sp>
        <p:nvSpPr>
          <p:cNvPr id="19475" name="Text Box 24"/>
          <p:cNvSpPr txBox="1">
            <a:spLocks noChangeArrowheads="1"/>
          </p:cNvSpPr>
          <p:nvPr/>
        </p:nvSpPr>
        <p:spPr bwMode="auto">
          <a:xfrm>
            <a:off x="3983150" y="2784427"/>
            <a:ext cx="1034110" cy="699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sz="2000">
                <a:latin typeface="Tahoma" pitchFamily="34" charset="0"/>
                <a:ea typeface="Times New Roman" pitchFamily="18" charset="0"/>
                <a:cs typeface="Tahoma" pitchFamily="34" charset="0"/>
              </a:rPr>
              <a:t>b</a:t>
            </a:r>
            <a:r>
              <a:rPr lang="en-US" sz="2000">
                <a:ea typeface="Times New Roman" pitchFamily="18" charset="0"/>
                <a:cs typeface="Arial" charset="0"/>
              </a:rPr>
              <a:t>ả</a:t>
            </a:r>
            <a:r>
              <a:rPr lang="en-US" sz="2000">
                <a:latin typeface="Tahoma" pitchFamily="34" charset="0"/>
                <a:ea typeface="Times New Roman" pitchFamily="18" charset="0"/>
                <a:cs typeface="Tahoma" pitchFamily="34" charset="0"/>
              </a:rPr>
              <a:t>n mã 8</a:t>
            </a:r>
            <a:endParaRPr lang="en-US" sz="2000"/>
          </a:p>
        </p:txBody>
      </p:sp>
      <p:sp>
        <p:nvSpPr>
          <p:cNvPr id="19476" name="Text Box 23"/>
          <p:cNvSpPr txBox="1">
            <a:spLocks noChangeArrowheads="1"/>
          </p:cNvSpPr>
          <p:nvPr/>
        </p:nvSpPr>
        <p:spPr bwMode="auto">
          <a:xfrm>
            <a:off x="7285500" y="2743200"/>
            <a:ext cx="944100" cy="726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sz="2000">
                <a:latin typeface="Tahoma" pitchFamily="34" charset="0"/>
                <a:ea typeface="Times New Roman" pitchFamily="18" charset="0"/>
                <a:cs typeface="Tahoma" pitchFamily="34" charset="0"/>
              </a:rPr>
              <a:t>b</a:t>
            </a:r>
            <a:r>
              <a:rPr lang="en-US" sz="2000">
                <a:ea typeface="Times New Roman" pitchFamily="18" charset="0"/>
                <a:cs typeface="Arial" charset="0"/>
              </a:rPr>
              <a:t>ả</a:t>
            </a:r>
            <a:r>
              <a:rPr lang="en-US" sz="2000">
                <a:latin typeface="Tahoma" pitchFamily="34" charset="0"/>
                <a:ea typeface="Times New Roman" pitchFamily="18" charset="0"/>
                <a:cs typeface="Tahoma" pitchFamily="34" charset="0"/>
              </a:rPr>
              <a:t>n rõ 17</a:t>
            </a:r>
            <a:endParaRPr lang="en-US" sz="2000"/>
          </a:p>
        </p:txBody>
      </p:sp>
      <p:sp>
        <p:nvSpPr>
          <p:cNvPr id="19477" name="Oval 22"/>
          <p:cNvSpPr>
            <a:spLocks noChangeArrowheads="1"/>
          </p:cNvSpPr>
          <p:nvPr/>
        </p:nvSpPr>
        <p:spPr bwMode="auto">
          <a:xfrm>
            <a:off x="2133600" y="3251670"/>
            <a:ext cx="185020" cy="289736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19478" name="Oval 21"/>
          <p:cNvSpPr>
            <a:spLocks noChangeArrowheads="1"/>
          </p:cNvSpPr>
          <p:nvPr/>
        </p:nvSpPr>
        <p:spPr bwMode="auto">
          <a:xfrm>
            <a:off x="2971800" y="3251670"/>
            <a:ext cx="433046" cy="408837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19479" name="Oval 20"/>
          <p:cNvSpPr>
            <a:spLocks noChangeArrowheads="1"/>
          </p:cNvSpPr>
          <p:nvPr/>
        </p:nvSpPr>
        <p:spPr bwMode="auto">
          <a:xfrm>
            <a:off x="5410200" y="3215464"/>
            <a:ext cx="185020" cy="289736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19480" name="Oval 19"/>
          <p:cNvSpPr>
            <a:spLocks noChangeArrowheads="1"/>
          </p:cNvSpPr>
          <p:nvPr/>
        </p:nvSpPr>
        <p:spPr bwMode="auto">
          <a:xfrm>
            <a:off x="6233388" y="3251670"/>
            <a:ext cx="434046" cy="405402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cxnSp>
        <p:nvCxnSpPr>
          <p:cNvPr id="19481" name="AutoShape 18"/>
          <p:cNvCxnSpPr>
            <a:cxnSpLocks noChangeShapeType="1"/>
          </p:cNvCxnSpPr>
          <p:nvPr/>
        </p:nvCxnSpPr>
        <p:spPr bwMode="auto">
          <a:xfrm flipH="1" flipV="1">
            <a:off x="2369979" y="3644474"/>
            <a:ext cx="160017" cy="61726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82" name="Text Box 17"/>
          <p:cNvSpPr txBox="1">
            <a:spLocks noChangeArrowheads="1"/>
          </p:cNvSpPr>
          <p:nvPr/>
        </p:nvSpPr>
        <p:spPr bwMode="auto">
          <a:xfrm>
            <a:off x="1620899" y="4275481"/>
            <a:ext cx="1717182" cy="448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sz="2000" i="1">
                <a:latin typeface="Cambria" pitchFamily="18" charset="0"/>
                <a:ea typeface="Times New Roman" pitchFamily="18" charset="0"/>
                <a:cs typeface="Tahoma" pitchFamily="34" charset="0"/>
              </a:rPr>
              <a:t>K</a:t>
            </a:r>
            <a:r>
              <a:rPr lang="en-US" sz="2000" baseline="-30000">
                <a:latin typeface="Cambria" pitchFamily="18" charset="0"/>
                <a:ea typeface="Times New Roman" pitchFamily="18" charset="0"/>
                <a:cs typeface="Tahoma" pitchFamily="34" charset="0"/>
              </a:rPr>
              <a:t>R</a:t>
            </a:r>
            <a:r>
              <a:rPr lang="en-US" sz="2000">
                <a:latin typeface="Cambria" pitchFamily="18" charset="0"/>
                <a:ea typeface="Times New Roman" pitchFamily="18" charset="0"/>
                <a:cs typeface="Tahoma" pitchFamily="34" charset="0"/>
              </a:rPr>
              <a:t> = </a:t>
            </a:r>
            <a:r>
              <a:rPr lang="en-US" sz="2000">
                <a:latin typeface="Cambria Math" pitchFamily="18" charset="0"/>
                <a:ea typeface="Times New Roman" pitchFamily="18" charset="0"/>
                <a:cs typeface="Tahoma" pitchFamily="34" charset="0"/>
              </a:rPr>
              <a:t>(</a:t>
            </a:r>
            <a:r>
              <a:rPr lang="en-US" sz="2000">
                <a:latin typeface="Cambria" pitchFamily="18" charset="0"/>
                <a:ea typeface="Times New Roman" pitchFamily="18" charset="0"/>
                <a:cs typeface="Tahoma" pitchFamily="34" charset="0"/>
              </a:rPr>
              <a:t>7, 33</a:t>
            </a:r>
            <a:r>
              <a:rPr lang="en-US" sz="2000">
                <a:latin typeface="Cambria Math" pitchFamily="18" charset="0"/>
                <a:ea typeface="Times New Roman" pitchFamily="18" charset="0"/>
                <a:cs typeface="Tahoma" pitchFamily="34" charset="0"/>
              </a:rPr>
              <a:t>)</a:t>
            </a:r>
            <a:endParaRPr lang="en-US" sz="2000">
              <a:ea typeface="Times New Roman" pitchFamily="18" charset="0"/>
              <a:cs typeface="Tahoma" pitchFamily="34" charset="0"/>
            </a:endParaRPr>
          </a:p>
        </p:txBody>
      </p:sp>
      <p:cxnSp>
        <p:nvCxnSpPr>
          <p:cNvPr id="19483" name="AutoShape 16"/>
          <p:cNvCxnSpPr>
            <a:cxnSpLocks noChangeShapeType="1"/>
          </p:cNvCxnSpPr>
          <p:nvPr/>
        </p:nvCxnSpPr>
        <p:spPr bwMode="auto">
          <a:xfrm flipV="1">
            <a:off x="2949040" y="3734945"/>
            <a:ext cx="78008" cy="52679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4" name="AutoShape 15"/>
          <p:cNvCxnSpPr>
            <a:cxnSpLocks noChangeShapeType="1"/>
          </p:cNvCxnSpPr>
          <p:nvPr/>
        </p:nvCxnSpPr>
        <p:spPr bwMode="auto">
          <a:xfrm flipH="1" flipV="1">
            <a:off x="5574318" y="3644474"/>
            <a:ext cx="141015" cy="61726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85" name="Text Box 14"/>
          <p:cNvSpPr txBox="1">
            <a:spLocks noChangeArrowheads="1"/>
          </p:cNvSpPr>
          <p:nvPr/>
        </p:nvSpPr>
        <p:spPr bwMode="auto">
          <a:xfrm>
            <a:off x="4825239" y="4275481"/>
            <a:ext cx="1717182" cy="448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sz="2000" i="1">
                <a:latin typeface="Cambria" pitchFamily="18" charset="0"/>
                <a:ea typeface="Times New Roman" pitchFamily="18" charset="0"/>
                <a:cs typeface="Tahoma" pitchFamily="34" charset="0"/>
              </a:rPr>
              <a:t>K</a:t>
            </a:r>
            <a:r>
              <a:rPr lang="en-US" sz="2000" baseline="-30000">
                <a:latin typeface="Cambria" pitchFamily="18" charset="0"/>
                <a:ea typeface="Times New Roman" pitchFamily="18" charset="0"/>
                <a:cs typeface="Tahoma" pitchFamily="34" charset="0"/>
              </a:rPr>
              <a:t>U</a:t>
            </a:r>
            <a:r>
              <a:rPr lang="en-US" sz="2000">
                <a:latin typeface="Cambria" pitchFamily="18" charset="0"/>
                <a:ea typeface="Times New Roman" pitchFamily="18" charset="0"/>
                <a:cs typeface="Tahoma" pitchFamily="34" charset="0"/>
              </a:rPr>
              <a:t> = </a:t>
            </a:r>
            <a:r>
              <a:rPr lang="en-US" sz="2000">
                <a:latin typeface="Cambria Math" pitchFamily="18" charset="0"/>
                <a:ea typeface="Times New Roman" pitchFamily="18" charset="0"/>
                <a:cs typeface="Tahoma" pitchFamily="34" charset="0"/>
              </a:rPr>
              <a:t>(3</a:t>
            </a:r>
            <a:r>
              <a:rPr lang="en-US" sz="2000">
                <a:latin typeface="Cambria" pitchFamily="18" charset="0"/>
                <a:ea typeface="Times New Roman" pitchFamily="18" charset="0"/>
                <a:cs typeface="Tahoma" pitchFamily="34" charset="0"/>
              </a:rPr>
              <a:t>, 33</a:t>
            </a:r>
            <a:r>
              <a:rPr lang="en-US" sz="2000">
                <a:latin typeface="Cambria Math" pitchFamily="18" charset="0"/>
                <a:ea typeface="Times New Roman" pitchFamily="18" charset="0"/>
                <a:cs typeface="Tahoma" pitchFamily="34" charset="0"/>
              </a:rPr>
              <a:t>)</a:t>
            </a:r>
            <a:endParaRPr lang="en-US" sz="2000">
              <a:ea typeface="Times New Roman" pitchFamily="18" charset="0"/>
              <a:cs typeface="Tahoma" pitchFamily="34" charset="0"/>
            </a:endParaRPr>
          </a:p>
        </p:txBody>
      </p:sp>
      <p:cxnSp>
        <p:nvCxnSpPr>
          <p:cNvPr id="19486" name="AutoShape 13"/>
          <p:cNvCxnSpPr>
            <a:cxnSpLocks noChangeShapeType="1"/>
          </p:cNvCxnSpPr>
          <p:nvPr/>
        </p:nvCxnSpPr>
        <p:spPr bwMode="auto">
          <a:xfrm flipV="1">
            <a:off x="6134378" y="3734945"/>
            <a:ext cx="97010" cy="52679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322389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 txBox="1">
            <a:spLocks noChangeArrowheads="1"/>
          </p:cNvSpPr>
          <p:nvPr/>
        </p:nvSpPr>
        <p:spPr bwMode="auto">
          <a:xfrm>
            <a:off x="152400" y="1295400"/>
            <a:ext cx="88392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14350" indent="-51435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9144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20000"/>
              </a:lnSpc>
              <a:buFont typeface="+mj-lt"/>
              <a:buAutoNum type="arabicParenR" startAt="2"/>
            </a:pPr>
            <a:r>
              <a:rPr lang="en-US" sz="2800">
                <a:latin typeface="Tahoma" pitchFamily="34" charset="0"/>
                <a:ea typeface="Arial-Rounded" pitchFamily="34" charset="0"/>
                <a:cs typeface="Tahoma" pitchFamily="34" charset="0"/>
              </a:rPr>
              <a:t>Cơ sở của mã hóa RSA: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Nếu biết K</a:t>
            </a:r>
            <a:r>
              <a:rPr lang="en-US" sz="2400" baseline="-25000">
                <a:latin typeface="Tahoma" pitchFamily="34" charset="0"/>
                <a:ea typeface="Arial-Rounded" pitchFamily="34" charset="0"/>
                <a:cs typeface="Tahoma" pitchFamily="34" charset="0"/>
              </a:rPr>
              <a:t>U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là (e, N) có suy ra K</a:t>
            </a:r>
            <a:r>
              <a:rPr lang="en-US" sz="2400" baseline="-25000">
                <a:latin typeface="Tahoma" pitchFamily="34" charset="0"/>
                <a:ea typeface="Arial-Rounded" pitchFamily="34" charset="0"/>
                <a:cs typeface="Tahoma" pitchFamily="34" charset="0"/>
              </a:rPr>
              <a:t>R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là (d, N) được không?</a:t>
            </a:r>
          </a:p>
          <a:p>
            <a:pPr lvl="2" eaLnBrk="1" hangingPunct="1">
              <a:lnSpc>
                <a:spcPct val="120000"/>
              </a:lnSpc>
              <a:spcBef>
                <a:spcPts val="600"/>
              </a:spcBef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N =&gt; p, q =&gt; n =&gt; d</a:t>
            </a:r>
          </a:p>
          <a:p>
            <a:pPr marL="914400" lvl="2" indent="0" eaLnBrk="1" hangingPunct="1">
              <a:lnSpc>
                <a:spcPct val="120000"/>
              </a:lnSpc>
              <a:spcBef>
                <a:spcPts val="600"/>
              </a:spcBef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Tuy nhiên: Nếu N là số lớn 200 chữ số ( 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anose="05000000000000000000" pitchFamily="2" charset="2"/>
              </a:rPr>
              <a:t>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p, q là 2 số nguyên tố 100 chữ số)</a:t>
            </a:r>
          </a:p>
          <a:p>
            <a:pPr lvl="2" eaLnBrk="1" hangingPunct="1">
              <a:lnSpc>
                <a:spcPct val="120000"/>
              </a:lnSpc>
              <a:spcBef>
                <a:spcPts val="600"/>
              </a:spcBef>
              <a:buFont typeface="Courier New" pitchFamily="49" charset="0"/>
              <a:buChar char="o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Cho p, q cần tính N = p 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Symbol" pitchFamily="18" charset="2"/>
              </a:rPr>
              <a:t>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q : nhanh chóng</a:t>
            </a:r>
          </a:p>
          <a:p>
            <a:pPr lvl="2" eaLnBrk="1" hangingPunct="1">
              <a:lnSpc>
                <a:spcPct val="120000"/>
              </a:lnSpc>
              <a:spcBef>
                <a:spcPts val="600"/>
              </a:spcBef>
              <a:buFont typeface="Courier New" pitchFamily="49" charset="0"/>
              <a:buChar char="o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Cho N cần phân tích N thành p, q: không khả thi về mặt thời gian (hàm một chiều).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Font typeface="Arial" charset="0"/>
              <a:buChar char="•"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662B5D-E81C-4810-B764-E17A4526D85D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10244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45" name="Rectangle 42"/>
          <p:cNvSpPr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149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 txBox="1">
            <a:spLocks noChangeArrowheads="1"/>
          </p:cNvSpPr>
          <p:nvPr/>
        </p:nvSpPr>
        <p:spPr bwMode="auto">
          <a:xfrm>
            <a:off x="294564" y="1219200"/>
            <a:ext cx="85344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1200150" indent="-7429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3716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sz="2800" u="sng">
                <a:latin typeface="Tahoma" pitchFamily="34" charset="0"/>
                <a:ea typeface="Arial-Rounded" pitchFamily="34" charset="0"/>
                <a:cs typeface="Tahoma" pitchFamily="34" charset="0"/>
              </a:rPr>
              <a:t>Phép tính lũy thừa:</a:t>
            </a:r>
          </a:p>
          <a:p>
            <a:pPr eaLnBrk="1" hangingPunct="1">
              <a:lnSpc>
                <a:spcPct val="120000"/>
              </a:lnSpc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Với M, N, e, d lớn, việc tính C = M</a:t>
            </a:r>
            <a:r>
              <a:rPr lang="en-US" sz="2400" baseline="30000">
                <a:latin typeface="Tahoma" pitchFamily="34" charset="0"/>
                <a:ea typeface="Arial-Rounded" pitchFamily="34" charset="0"/>
                <a:cs typeface="Tahoma" pitchFamily="34" charset="0"/>
              </a:rPr>
              <a:t>e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mod N là không thực hiện được theo cách tính thông thường.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itchFamily="2" charset="2"/>
              <a:buChar char="à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Sử dụng phương pháp bình phương liên tiếp</a:t>
            </a:r>
            <a:r>
              <a:rPr lang="en-US" sz="2400">
                <a:latin typeface="Cambria" pitchFamily="18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 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	Ví dụ: cần tính 7</a:t>
            </a:r>
            <a:r>
              <a:rPr lang="en-US" sz="2400" baseline="30000">
                <a:latin typeface="Tahoma" pitchFamily="34" charset="0"/>
                <a:ea typeface="Arial-Rounded" pitchFamily="34" charset="0"/>
                <a:cs typeface="Tahoma" pitchFamily="34" charset="0"/>
              </a:rPr>
              <a:t>16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mod 11</a:t>
            </a:r>
          </a:p>
          <a:p>
            <a:pPr lvl="2" eaLnBrk="1" hangingPunct="1">
              <a:lnSpc>
                <a:spcPct val="120000"/>
              </a:lnSpc>
              <a:spcBef>
                <a:spcPts val="600"/>
              </a:spcBef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7</a:t>
            </a:r>
            <a:r>
              <a:rPr lang="en-US" sz="2400" baseline="300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1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 mod 11 = 7		</a:t>
            </a:r>
          </a:p>
          <a:p>
            <a:pPr lvl="2" eaLnBrk="1" hangingPunct="1">
              <a:lnSpc>
                <a:spcPct val="120000"/>
              </a:lnSpc>
              <a:spcBef>
                <a:spcPts val="600"/>
              </a:spcBef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7</a:t>
            </a:r>
            <a:r>
              <a:rPr lang="en-US" sz="2400" baseline="300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2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 mod 11 = 49 mod 11 = 5</a:t>
            </a:r>
          </a:p>
          <a:p>
            <a:pPr lvl="2" eaLnBrk="1" hangingPunct="1">
              <a:lnSpc>
                <a:spcPct val="120000"/>
              </a:lnSpc>
              <a:spcBef>
                <a:spcPts val="600"/>
              </a:spcBef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7</a:t>
            </a:r>
            <a:r>
              <a:rPr lang="en-US" sz="2400" baseline="300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4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 mod 11 = 5</a:t>
            </a:r>
            <a:r>
              <a:rPr lang="en-US" sz="2400" baseline="300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2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 mod 11 = 3</a:t>
            </a:r>
          </a:p>
          <a:p>
            <a:pPr lvl="2" eaLnBrk="1" hangingPunct="1">
              <a:lnSpc>
                <a:spcPct val="120000"/>
              </a:lnSpc>
              <a:spcBef>
                <a:spcPts val="600"/>
              </a:spcBef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7</a:t>
            </a:r>
            <a:r>
              <a:rPr lang="en-US" sz="2400" baseline="300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8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 mod 11 = 3</a:t>
            </a:r>
            <a:r>
              <a:rPr lang="en-US" sz="2400" baseline="300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2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 mod 11 = 9</a:t>
            </a:r>
          </a:p>
          <a:p>
            <a:pPr lvl="2" eaLnBrk="1" hangingPunct="1">
              <a:lnSpc>
                <a:spcPct val="120000"/>
              </a:lnSpc>
              <a:spcBef>
                <a:spcPts val="600"/>
              </a:spcBef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7</a:t>
            </a:r>
            <a:r>
              <a:rPr lang="en-US" sz="2400" baseline="300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16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 mod 11 = 9</a:t>
            </a:r>
            <a:r>
              <a:rPr lang="en-US" sz="2400" baseline="300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2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 mod 11 = 4</a:t>
            </a: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84AAE9-F023-47C1-9E93-57CDC96DC508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22532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533" name="Rectangle 42"/>
          <p:cNvSpPr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3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535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152400" y="152400"/>
            <a:ext cx="8534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1200150" indent="-7429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3716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20000"/>
              </a:lnSpc>
              <a:buFont typeface="Calibri" pitchFamily="34" charset="0"/>
              <a:buAutoNum type="arabicParenR" startAt="2"/>
            </a:pPr>
            <a:r>
              <a:rPr lang="en-US" sz="2800" b="1">
                <a:solidFill>
                  <a:schemeClr val="bg1"/>
                </a:solidFill>
                <a:latin typeface="Tahoma" pitchFamily="34" charset="0"/>
                <a:ea typeface="Arial-Rounded" pitchFamily="34" charset="0"/>
                <a:cs typeface="Tahoma" pitchFamily="34" charset="0"/>
              </a:rPr>
              <a:t>Độ phức tạp tính toán của RSA</a:t>
            </a:r>
          </a:p>
        </p:txBody>
      </p:sp>
    </p:spTree>
    <p:extLst>
      <p:ext uri="{BB962C8B-B14F-4D97-AF65-F5344CB8AC3E}">
        <p14:creationId xmlns:p14="http://schemas.microsoft.com/office/powerpoint/2010/main" val="147278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 txBox="1">
            <a:spLocks noChangeArrowheads="1"/>
          </p:cNvSpPr>
          <p:nvPr/>
        </p:nvSpPr>
        <p:spPr bwMode="auto">
          <a:xfrm>
            <a:off x="762000" y="1524000"/>
            <a:ext cx="82296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1200150" indent="-7429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3716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Ví dụ: cần tính 7</a:t>
            </a:r>
            <a:r>
              <a:rPr lang="en-US" sz="2400" baseline="30000">
                <a:latin typeface="Tahoma" pitchFamily="34" charset="0"/>
                <a:ea typeface="Arial-Rounded" pitchFamily="34" charset="0"/>
                <a:cs typeface="Tahoma" pitchFamily="34" charset="0"/>
              </a:rPr>
              <a:t>21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mod 11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	Vì	21 = 16 + 4 + 1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itchFamily="2" charset="2"/>
              <a:buChar char="à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7</a:t>
            </a:r>
            <a:r>
              <a:rPr lang="en-US" sz="2400" baseline="30000">
                <a:latin typeface="Tahoma" pitchFamily="34" charset="0"/>
                <a:ea typeface="Arial-Rounded" pitchFamily="34" charset="0"/>
                <a:cs typeface="Tahoma" pitchFamily="34" charset="0"/>
              </a:rPr>
              <a:t>21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mod 11 = 7</a:t>
            </a:r>
            <a:r>
              <a:rPr lang="en-US" sz="2400" baseline="30000">
                <a:latin typeface="Tahoma" pitchFamily="34" charset="0"/>
                <a:ea typeface="Arial-Rounded" pitchFamily="34" charset="0"/>
                <a:cs typeface="Tahoma" pitchFamily="34" charset="0"/>
              </a:rPr>
              <a:t>16 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. 7</a:t>
            </a:r>
            <a:r>
              <a:rPr lang="en-US" sz="2400" baseline="30000">
                <a:latin typeface="Tahoma" pitchFamily="34" charset="0"/>
                <a:ea typeface="Arial-Rounded" pitchFamily="34" charset="0"/>
                <a:cs typeface="Tahoma" pitchFamily="34" charset="0"/>
              </a:rPr>
              <a:t>4 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. 7</a:t>
            </a:r>
            <a:r>
              <a:rPr lang="en-US" sz="2400" baseline="30000">
                <a:latin typeface="Tahoma" pitchFamily="34" charset="0"/>
                <a:ea typeface="Arial-Rounded" pitchFamily="34" charset="0"/>
                <a:cs typeface="Tahoma" pitchFamily="34" charset="0"/>
              </a:rPr>
              <a:t>1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mod 11</a:t>
            </a:r>
          </a:p>
          <a:p>
            <a:pPr lvl="2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		   = 4.3.7 mod 11 </a:t>
            </a:r>
          </a:p>
          <a:p>
            <a:pPr lvl="2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		   = 84 mod 11 </a:t>
            </a:r>
          </a:p>
          <a:p>
            <a:pPr lvl="2"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		   = 7</a:t>
            </a:r>
          </a:p>
          <a:p>
            <a:pPr lvl="2" eaLnBrk="1" hangingPunct="1">
              <a:lnSpc>
                <a:spcPct val="120000"/>
              </a:lnSpc>
              <a:spcBef>
                <a:spcPts val="600"/>
              </a:spcBef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Ví dụ: tính 6</a:t>
            </a:r>
            <a:r>
              <a:rPr lang="en-US" sz="2400" baseline="30000">
                <a:latin typeface="Tahoma" pitchFamily="34" charset="0"/>
                <a:ea typeface="Arial-Rounded" pitchFamily="34" charset="0"/>
                <a:cs typeface="Tahoma" pitchFamily="34" charset="0"/>
              </a:rPr>
              <a:t>35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mod 13</a:t>
            </a:r>
          </a:p>
          <a:p>
            <a:pPr lvl="1" eaLnBrk="1" hangingPunct="1">
              <a:lnSpc>
                <a:spcPct val="110000"/>
              </a:lnSpc>
              <a:buFont typeface="Arial" charset="0"/>
              <a:buChar char="•"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	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00254E-BD96-4E4C-BEFC-87271EE6ED5D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23556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557" name="Rectangle 42"/>
          <p:cNvSpPr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5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55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59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 txBox="1">
            <a:spLocks noChangeArrowheads="1"/>
          </p:cNvSpPr>
          <p:nvPr/>
        </p:nvSpPr>
        <p:spPr bwMode="auto">
          <a:xfrm>
            <a:off x="204716" y="1143000"/>
            <a:ext cx="88392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1200150" indent="-7429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3716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sz="2800" u="sng">
                <a:latin typeface="Tahoma" pitchFamily="34" charset="0"/>
                <a:ea typeface="Arial-Rounded" pitchFamily="34" charset="0"/>
                <a:cs typeface="Tahoma" pitchFamily="34" charset="0"/>
              </a:rPr>
              <a:t>Phép tính sinh khóa:</a:t>
            </a:r>
          </a:p>
          <a:p>
            <a:pPr eaLnBrk="1" hangingPunct="1">
              <a:lnSpc>
                <a:spcPct val="120000"/>
              </a:lnSpc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Cần tìm p, q là 2 số nguyên tố lớn. </a:t>
            </a:r>
          </a:p>
          <a:p>
            <a:pPr eaLnBrk="1" hangingPunct="1">
              <a:lnSpc>
                <a:spcPct val="120000"/>
              </a:lnSpc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Phương pháp tìm số nguyên tố: chọn một số lẻ lớn, sau đó dùng thuật toán Miller-Rabin để kiểm tra tính nguyên tố.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6800CF-78F5-4A12-82C5-9BF730BAF113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24580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581" name="Rectangle 42"/>
          <p:cNvSpPr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583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70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 txBox="1">
            <a:spLocks noChangeArrowheads="1"/>
          </p:cNvSpPr>
          <p:nvPr/>
        </p:nvSpPr>
        <p:spPr bwMode="auto">
          <a:xfrm>
            <a:off x="304800" y="1143000"/>
            <a:ext cx="85344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lnSpc>
                <a:spcPct val="120000"/>
              </a:lnSpc>
              <a:defRPr/>
            </a:pPr>
            <a:r>
              <a:rPr lang="en-US" sz="2800">
                <a:latin typeface="Tahoma" pitchFamily="34" charset="0"/>
                <a:ea typeface="Arial-Rounded" pitchFamily="34" charset="0"/>
                <a:cs typeface="Tahoma" pitchFamily="34" charset="0"/>
              </a:rPr>
              <a:t>	3 cách phá mã RSA: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Vét cạn khóa: thử hết các trường hợp của d 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 với N lớn thì không khả thi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Phân tích N thành thừa số nguyên tố p, q</a:t>
            </a:r>
          </a:p>
          <a:p>
            <a:pPr marL="1371600" lvl="2" indent="-457200">
              <a:lnSpc>
                <a:spcPct val="120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endParaRPr lang="en-US" sz="2400">
              <a:latin typeface="Cambria" pitchFamily="18" charset="0"/>
              <a:ea typeface="Arial-Rounded" pitchFamily="34" charset="0"/>
              <a:cs typeface="Tahoma" pitchFamily="34" charset="0"/>
              <a:sym typeface="Wingdings" pitchFamily="2" charset="2"/>
            </a:endParaRPr>
          </a:p>
          <a:p>
            <a:pPr marL="1200150" lvl="1" indent="-742950">
              <a:lnSpc>
                <a:spcPct val="110000"/>
              </a:lnSpc>
              <a:buFont typeface="Arial" charset="0"/>
              <a:buChar char="•"/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1200150" lvl="1" indent="-742950">
              <a:lnSpc>
                <a:spcPct val="110000"/>
              </a:lnSpc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	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E26F85-8649-4B5B-88D4-564E268F0607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28676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677" name="Rectangle 42"/>
          <p:cNvSpPr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67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67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0" y="3429000"/>
          <a:ext cx="5638800" cy="1262064"/>
        </p:xfrm>
        <a:graphic>
          <a:graphicData uri="http://schemas.openxmlformats.org/drawingml/2006/table">
            <a:tbl>
              <a:tblPr/>
              <a:tblGrid>
                <a:gridCol w="1668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5516">
                <a:tc>
                  <a:txBody>
                    <a:bodyPr/>
                    <a:lstStyle/>
                    <a:p>
                      <a:pPr marL="0" marR="0" lvl="0" indent="20638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Số chữ số của 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0638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Số bít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0638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Năm phá mã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0638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Thuật toán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7780" marR="177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516">
                <a:tc>
                  <a:txBody>
                    <a:bodyPr/>
                    <a:lstStyle/>
                    <a:p>
                      <a:pPr marL="0" marR="0" lvl="0" indent="20638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100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7780" marR="177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0638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322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7780" marR="177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0638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1991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7780" marR="177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0638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Quadratic sieve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7780" marR="177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516">
                <a:tc>
                  <a:txBody>
                    <a:bodyPr/>
                    <a:lstStyle/>
                    <a:p>
                      <a:pPr marL="0" marR="0" lvl="0" indent="20638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130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7780" marR="177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0638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431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7780" marR="177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0638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1996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7780" marR="177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0638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GNFS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7780" marR="177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516">
                <a:tc>
                  <a:txBody>
                    <a:bodyPr/>
                    <a:lstStyle/>
                    <a:p>
                      <a:pPr marL="0" marR="0" lvl="0" indent="20638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200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7780" marR="177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0638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633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7780" marR="177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0638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2005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7780" marR="177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0638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Lattice sieve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7780" marR="177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304800" y="5181600"/>
            <a:ext cx="8534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914400" lvl="1" indent="-457200">
              <a:lnSpc>
                <a:spcPct val="120000"/>
              </a:lnSpc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 Cần sử dụng N hơn 300 chữ số (1024 bít)</a:t>
            </a: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1371600" lvl="2" indent="-457200">
              <a:lnSpc>
                <a:spcPct val="120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endParaRPr lang="en-US" sz="2400">
              <a:latin typeface="Cambria" pitchFamily="18" charset="0"/>
              <a:ea typeface="Arial-Rounded" pitchFamily="34" charset="0"/>
              <a:cs typeface="Tahoma" pitchFamily="34" charset="0"/>
              <a:sym typeface="Wingdings" pitchFamily="2" charset="2"/>
            </a:endParaRPr>
          </a:p>
          <a:p>
            <a:pPr marL="1200150" lvl="1" indent="-742950">
              <a:lnSpc>
                <a:spcPct val="110000"/>
              </a:lnSpc>
              <a:buFont typeface="Arial" charset="0"/>
              <a:buChar char="•"/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1200150" lvl="1" indent="-742950">
              <a:lnSpc>
                <a:spcPct val="110000"/>
              </a:lnSpc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	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386687" y="152400"/>
            <a:ext cx="8534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lnSpc>
                <a:spcPct val="120000"/>
              </a:lnSpc>
              <a:buFont typeface="+mj-lt"/>
              <a:buAutoNum type="arabicParenR" startAt="2"/>
              <a:defRPr/>
            </a:pPr>
            <a:r>
              <a:rPr lang="en-US" sz="2800" b="1">
                <a:solidFill>
                  <a:schemeClr val="bg1"/>
                </a:solidFill>
                <a:latin typeface="Tahoma" pitchFamily="34" charset="0"/>
                <a:ea typeface="Arial-Rounded" pitchFamily="34" charset="0"/>
                <a:cs typeface="Tahoma" pitchFamily="34" charset="0"/>
              </a:rPr>
              <a:t>Độ an toàn của RSA</a:t>
            </a:r>
          </a:p>
        </p:txBody>
      </p:sp>
    </p:spTree>
    <p:extLst>
      <p:ext uri="{BB962C8B-B14F-4D97-AF65-F5344CB8AC3E}">
        <p14:creationId xmlns:p14="http://schemas.microsoft.com/office/powerpoint/2010/main" val="3610129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 txBox="1">
            <a:spLocks noChangeArrowheads="1"/>
          </p:cNvSpPr>
          <p:nvPr/>
        </p:nvSpPr>
        <p:spPr bwMode="auto">
          <a:xfrm>
            <a:off x="152400" y="1447800"/>
            <a:ext cx="85344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914400" lvl="1" indent="-457200">
              <a:lnSpc>
                <a:spcPct val="120000"/>
              </a:lnSpc>
              <a:buFont typeface="+mj-lt"/>
              <a:buAutoNum type="arabicPeriod" startAt="3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Sử dụng hiệu ứng lề để tính d bằng cách đo thời gian thực hiện thuật toán bình phương liên tiếp. Áp dụng trong phép thử chosen-plainttext</a:t>
            </a:r>
            <a:endParaRPr lang="en-US" sz="2400">
              <a:latin typeface="Cambria" pitchFamily="18" charset="0"/>
              <a:ea typeface="Arial-Rounded" pitchFamily="34" charset="0"/>
              <a:cs typeface="Tahoma" pitchFamily="34" charset="0"/>
              <a:sym typeface="Wingdings" pitchFamily="2" charset="2"/>
            </a:endParaRPr>
          </a:p>
          <a:p>
            <a:pPr marL="1200150" lvl="1" indent="-742950">
              <a:lnSpc>
                <a:spcPct val="110000"/>
              </a:lnSpc>
              <a:buFont typeface="Arial" charset="0"/>
              <a:buChar char="•"/>
              <a:defRPr/>
            </a:pP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1200150" lvl="1" indent="-742950">
              <a:lnSpc>
                <a:spcPct val="110000"/>
              </a:lnSpc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	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FE7771-CA6C-46CB-A31E-3A8557F86B6D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29700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701" name="Rectangle 42"/>
          <p:cNvSpPr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703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7779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 txBox="1">
            <a:spLocks noChangeArrowheads="1"/>
          </p:cNvSpPr>
          <p:nvPr/>
        </p:nvSpPr>
        <p:spPr bwMode="auto">
          <a:xfrm>
            <a:off x="304800" y="1295400"/>
            <a:ext cx="8534400" cy="3651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514350" indent="-514350" eaLnBrk="1" hangingPunct="1">
              <a:lnSpc>
                <a:spcPct val="120000"/>
              </a:lnSpc>
              <a:spcBef>
                <a:spcPts val="1200"/>
              </a:spcBef>
              <a:buAutoNum type="alphaUcPeriod"/>
            </a:pPr>
            <a:r>
              <a:rPr lang="en-US" sz="2800" b="1">
                <a:latin typeface="Tahoma" pitchFamily="34" charset="0"/>
                <a:ea typeface="Arial-Rounded" pitchFamily="34" charset="0"/>
                <a:cs typeface="Tahoma" pitchFamily="34" charset="0"/>
              </a:rPr>
              <a:t>Mã hóa chứng thực</a:t>
            </a:r>
          </a:p>
          <a:p>
            <a:pPr marL="342900" indent="-342900" eaLnBrk="1" hangingPunct="1">
              <a:lnSpc>
                <a:spcPct val="120000"/>
              </a:lnSpc>
              <a:spcBef>
                <a:spcPts val="1200"/>
              </a:spcBef>
              <a:buFontTx/>
              <a:buChar char="-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Alice chọn cặp khóa riêng - công khai  K</a:t>
            </a:r>
            <a:r>
              <a:rPr lang="en-US" sz="2400" baseline="-25000">
                <a:latin typeface="Tahoma" pitchFamily="34" charset="0"/>
                <a:ea typeface="Arial-Rounded" pitchFamily="34" charset="0"/>
                <a:cs typeface="Tahoma" pitchFamily="34" charset="0"/>
              </a:rPr>
              <a:t>R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– K</a:t>
            </a:r>
            <a:r>
              <a:rPr lang="en-US" sz="2400" baseline="-25000">
                <a:latin typeface="Tahoma" pitchFamily="34" charset="0"/>
                <a:ea typeface="Arial-Rounded" pitchFamily="34" charset="0"/>
                <a:cs typeface="Tahoma" pitchFamily="34" charset="0"/>
              </a:rPr>
              <a:t>U</a:t>
            </a: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ts val="1200"/>
              </a:spcBef>
              <a:buFontTx/>
              <a:buChar char="-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Alice mã hóa dùng khóa riêng: </a:t>
            </a:r>
          </a:p>
          <a:p>
            <a:pPr marL="342900" indent="-342900" eaLnBrk="1" hangingPunct="1">
              <a:lnSpc>
                <a:spcPct val="120000"/>
              </a:lnSpc>
              <a:spcBef>
                <a:spcPts val="1200"/>
              </a:spcBef>
              <a:buFontTx/>
              <a:buChar char="-"/>
            </a:pPr>
            <a:endParaRPr lang="en-US" sz="2400" baseline="-250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ts val="1200"/>
              </a:spcBef>
              <a:buFontTx/>
              <a:buChar char="-"/>
            </a:pPr>
            <a:endParaRPr lang="en-US" sz="2400" baseline="-250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ts val="1200"/>
              </a:spcBef>
              <a:buFontTx/>
              <a:buChar char="-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Bob giải mã dùng khóa công khai của Alice: </a:t>
            </a:r>
            <a:endParaRPr lang="en-US" sz="2400" baseline="-250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ts val="1200"/>
              </a:spcBef>
              <a:buFontTx/>
              <a:buChar char="-"/>
            </a:pPr>
            <a:endParaRPr lang="en-US" sz="2400" baseline="-250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48588A-B47C-4B50-BFC5-F6E9BC2C244D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30725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26" name="Rectangle 42"/>
          <p:cNvSpPr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2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28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29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31" name="Rectangle 6"/>
          <p:cNvSpPr>
            <a:spLocks noChangeArrowheads="1"/>
          </p:cNvSpPr>
          <p:nvPr/>
        </p:nvSpPr>
        <p:spPr bwMode="auto">
          <a:xfrm>
            <a:off x="3200400" y="3200400"/>
            <a:ext cx="18421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i="1">
                <a:latin typeface="Cambria" pitchFamily="18" charset="0"/>
              </a:rPr>
              <a:t>C </a:t>
            </a:r>
            <a:r>
              <a:rPr lang="en-US" sz="2400">
                <a:latin typeface="Cambria" pitchFamily="18" charset="0"/>
              </a:rPr>
              <a:t>=</a:t>
            </a:r>
            <a:r>
              <a:rPr lang="en-US" sz="2400" i="1">
                <a:latin typeface="Cambria" pitchFamily="18" charset="0"/>
              </a:rPr>
              <a:t> E</a:t>
            </a:r>
            <a:r>
              <a:rPr lang="en-US" sz="240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(</a:t>
            </a:r>
            <a:r>
              <a:rPr lang="en-US" sz="2400" i="1">
                <a:latin typeface="Cambria" pitchFamily="18" charset="0"/>
              </a:rPr>
              <a:t>M</a:t>
            </a:r>
            <a:r>
              <a:rPr lang="en-US" sz="2400">
                <a:latin typeface="Cambria" pitchFamily="18" charset="0"/>
              </a:rPr>
              <a:t>, </a:t>
            </a:r>
            <a:r>
              <a:rPr lang="en-US" sz="2400" i="1">
                <a:latin typeface="Cambria" pitchFamily="18" charset="0"/>
              </a:rPr>
              <a:t>K</a:t>
            </a:r>
            <a:r>
              <a:rPr lang="en-US" sz="2400" baseline="-25000">
                <a:latin typeface="Cambria" pitchFamily="18" charset="0"/>
              </a:rPr>
              <a:t>R</a:t>
            </a:r>
            <a:r>
              <a:rPr lang="en-US" sz="240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)</a:t>
            </a:r>
            <a:r>
              <a:rPr lang="en-US" sz="2400">
                <a:latin typeface="Cambria" pitchFamily="18" charset="0"/>
              </a:rPr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723096"/>
          </a:xfrm>
        </p:spPr>
        <p:txBody>
          <a:bodyPr/>
          <a:lstStyle/>
          <a:p>
            <a:r>
              <a:rPr lang="en-US" sz="2800"/>
              <a:t>IV. Ứng dụng của mã hóa khóa công khai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E668E66E-1E0C-8E24-C231-855A8E7C8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7" y="4578350"/>
            <a:ext cx="18036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400" i="1">
                <a:latin typeface="Cambria" pitchFamily="18" charset="0"/>
              </a:rPr>
              <a:t>M</a:t>
            </a:r>
            <a:r>
              <a:rPr lang="en-US" sz="2400">
                <a:latin typeface="Cambria" pitchFamily="18" charset="0"/>
              </a:rPr>
              <a:t> = </a:t>
            </a:r>
            <a:r>
              <a:rPr lang="en-US" sz="2400" i="1">
                <a:latin typeface="Cambria" pitchFamily="18" charset="0"/>
              </a:rPr>
              <a:t>D</a:t>
            </a:r>
            <a:r>
              <a:rPr lang="en-US" sz="240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(</a:t>
            </a:r>
            <a:r>
              <a:rPr lang="en-US" sz="2400" i="1">
                <a:latin typeface="Cambria" pitchFamily="18" charset="0"/>
              </a:rPr>
              <a:t>C</a:t>
            </a:r>
            <a:r>
              <a:rPr lang="en-US" sz="2400">
                <a:latin typeface="Cambria" pitchFamily="18" charset="0"/>
              </a:rPr>
              <a:t>, </a:t>
            </a:r>
            <a:r>
              <a:rPr lang="en-US" sz="2400" i="1">
                <a:latin typeface="Cambria" pitchFamily="18" charset="0"/>
              </a:rPr>
              <a:t>K</a:t>
            </a:r>
            <a:r>
              <a:rPr lang="en-US" sz="2400" baseline="-25000">
                <a:latin typeface="Cambria" pitchFamily="18" charset="0"/>
              </a:rPr>
              <a:t>U</a:t>
            </a:r>
            <a:r>
              <a:rPr lang="en-US" sz="240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)</a:t>
            </a:r>
            <a:endParaRPr lang="en-US" sz="2400">
              <a:latin typeface="Cambria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9D3DD6-EC9D-4157-960D-5B5092442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245246"/>
            <a:ext cx="8534400" cy="1063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lnSpc>
                <a:spcPct val="120000"/>
              </a:lnSpc>
              <a:spcBef>
                <a:spcPts val="1200"/>
              </a:spcBef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=&gt; Mục tiêu không phải là bảo mật dữ liệu, mà là chứng thực người gửi chính là Alice =&gt; sử dụng trong chữ ký số</a:t>
            </a:r>
            <a:endParaRPr lang="en-US" sz="2400" baseline="-250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ts val="1200"/>
              </a:spcBef>
              <a:buFontTx/>
              <a:buChar char="-"/>
            </a:pPr>
            <a:endParaRPr lang="en-US" sz="2400" baseline="-250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6964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9CC2C-7CD1-AD09-2F48-B72A7C9AB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>
            <a:extLst>
              <a:ext uri="{FF2B5EF4-FFF2-40B4-BE49-F238E27FC236}">
                <a16:creationId xmlns:a16="http://schemas.microsoft.com/office/drawing/2014/main" id="{C475D0DF-EF86-D36B-946D-7DA2F909B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95400"/>
            <a:ext cx="8534400" cy="3651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514350" indent="-514350" eaLnBrk="1" hangingPunct="1">
              <a:lnSpc>
                <a:spcPct val="120000"/>
              </a:lnSpc>
              <a:spcBef>
                <a:spcPts val="1200"/>
              </a:spcBef>
              <a:buFont typeface="+mj-lt"/>
              <a:buAutoNum type="alphaUcPeriod" startAt="2"/>
            </a:pPr>
            <a:r>
              <a:rPr lang="en-US" sz="2800" b="1">
                <a:latin typeface="Tahoma" pitchFamily="34" charset="0"/>
                <a:ea typeface="Arial-Rounded" pitchFamily="34" charset="0"/>
                <a:cs typeface="Tahoma" pitchFamily="34" charset="0"/>
              </a:rPr>
              <a:t>Mã hóa bảo mật</a:t>
            </a:r>
          </a:p>
          <a:p>
            <a:pPr marL="342900" indent="-342900" eaLnBrk="1" hangingPunct="1">
              <a:lnSpc>
                <a:spcPct val="120000"/>
              </a:lnSpc>
              <a:spcBef>
                <a:spcPts val="1200"/>
              </a:spcBef>
              <a:buFontTx/>
              <a:buChar char="-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Bob chọn cặp khóa riêng - công khai  K</a:t>
            </a:r>
            <a:r>
              <a:rPr lang="en-US" sz="2400" baseline="-25000">
                <a:latin typeface="Tahoma" pitchFamily="34" charset="0"/>
                <a:ea typeface="Arial-Rounded" pitchFamily="34" charset="0"/>
                <a:cs typeface="Tahoma" pitchFamily="34" charset="0"/>
              </a:rPr>
              <a:t>R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– K</a:t>
            </a:r>
            <a:r>
              <a:rPr lang="en-US" sz="2400" baseline="-25000">
                <a:latin typeface="Tahoma" pitchFamily="34" charset="0"/>
                <a:ea typeface="Arial-Rounded" pitchFamily="34" charset="0"/>
                <a:cs typeface="Tahoma" pitchFamily="34" charset="0"/>
              </a:rPr>
              <a:t>U</a:t>
            </a: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ts val="1200"/>
              </a:spcBef>
              <a:buFontTx/>
              <a:buChar char="-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Alice mã hóa dùng khóa công khai của Bob: </a:t>
            </a:r>
          </a:p>
          <a:p>
            <a:pPr marL="342900" indent="-342900" eaLnBrk="1" hangingPunct="1">
              <a:lnSpc>
                <a:spcPct val="120000"/>
              </a:lnSpc>
              <a:spcBef>
                <a:spcPts val="1200"/>
              </a:spcBef>
              <a:buFontTx/>
              <a:buChar char="-"/>
            </a:pPr>
            <a:endParaRPr lang="en-US" sz="2400" baseline="-250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ts val="1200"/>
              </a:spcBef>
              <a:buFontTx/>
              <a:buChar char="-"/>
            </a:pPr>
            <a:endParaRPr lang="en-US" sz="2400" baseline="-250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ts val="1200"/>
              </a:spcBef>
              <a:buFontTx/>
              <a:buChar char="-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Bob giải mã dùng khóa riêng: </a:t>
            </a:r>
            <a:endParaRPr lang="en-US" sz="2400" baseline="-250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ts val="1200"/>
              </a:spcBef>
              <a:buFontTx/>
              <a:buChar char="-"/>
            </a:pPr>
            <a:endParaRPr lang="en-US" sz="2400" baseline="-250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0A2FE05-94B5-9322-2676-00AE79FF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48588A-B47C-4B50-BFC5-F6E9BC2C244D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30725" name="Rectangle 34">
            <a:extLst>
              <a:ext uri="{FF2B5EF4-FFF2-40B4-BE49-F238E27FC236}">
                <a16:creationId xmlns:a16="http://schemas.microsoft.com/office/drawing/2014/main" id="{0EA8D6B9-89F7-7E21-89E5-224B4C557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26" name="Rectangle 42">
            <a:extLst>
              <a:ext uri="{FF2B5EF4-FFF2-40B4-BE49-F238E27FC236}">
                <a16:creationId xmlns:a16="http://schemas.microsoft.com/office/drawing/2014/main" id="{516860DD-1A3D-46F3-4D16-FD0659C5B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27" name="Rectangle 8">
            <a:extLst>
              <a:ext uri="{FF2B5EF4-FFF2-40B4-BE49-F238E27FC236}">
                <a16:creationId xmlns:a16="http://schemas.microsoft.com/office/drawing/2014/main" id="{6D914F2A-EC67-2742-2299-BE6A70955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28" name="Rectangle 10">
            <a:extLst>
              <a:ext uri="{FF2B5EF4-FFF2-40B4-BE49-F238E27FC236}">
                <a16:creationId xmlns:a16="http://schemas.microsoft.com/office/drawing/2014/main" id="{856AB1E0-9010-5977-572E-E784B4E18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29" name="Rectangle 28">
            <a:extLst>
              <a:ext uri="{FF2B5EF4-FFF2-40B4-BE49-F238E27FC236}">
                <a16:creationId xmlns:a16="http://schemas.microsoft.com/office/drawing/2014/main" id="{5E58A521-3503-467F-5E3E-E39822934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31" name="Rectangle 6">
            <a:extLst>
              <a:ext uri="{FF2B5EF4-FFF2-40B4-BE49-F238E27FC236}">
                <a16:creationId xmlns:a16="http://schemas.microsoft.com/office/drawing/2014/main" id="{EAB2BD8E-1C8D-D5F5-E223-6B874D4AE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200400"/>
            <a:ext cx="18469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i="1">
                <a:latin typeface="Cambria" pitchFamily="18" charset="0"/>
              </a:rPr>
              <a:t>C </a:t>
            </a:r>
            <a:r>
              <a:rPr lang="en-US" sz="2400">
                <a:latin typeface="Cambria" pitchFamily="18" charset="0"/>
              </a:rPr>
              <a:t>=</a:t>
            </a:r>
            <a:r>
              <a:rPr lang="en-US" sz="2400" i="1">
                <a:latin typeface="Cambria" pitchFamily="18" charset="0"/>
              </a:rPr>
              <a:t> E</a:t>
            </a:r>
            <a:r>
              <a:rPr lang="en-US" sz="240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(</a:t>
            </a:r>
            <a:r>
              <a:rPr lang="en-US" sz="2400" i="1">
                <a:latin typeface="Cambria" pitchFamily="18" charset="0"/>
              </a:rPr>
              <a:t>M</a:t>
            </a:r>
            <a:r>
              <a:rPr lang="en-US" sz="2400">
                <a:latin typeface="Cambria" pitchFamily="18" charset="0"/>
              </a:rPr>
              <a:t>, </a:t>
            </a:r>
            <a:r>
              <a:rPr lang="en-US" sz="2400" i="1">
                <a:latin typeface="Cambria" pitchFamily="18" charset="0"/>
              </a:rPr>
              <a:t>K</a:t>
            </a:r>
            <a:r>
              <a:rPr lang="en-US" sz="2400" baseline="-25000">
                <a:latin typeface="Cambria" pitchFamily="18" charset="0"/>
              </a:rPr>
              <a:t>U</a:t>
            </a:r>
            <a:r>
              <a:rPr lang="en-US" sz="240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)</a:t>
            </a:r>
            <a:r>
              <a:rPr lang="en-US" sz="2400">
                <a:latin typeface="Cambria" pitchFamily="18" charset="0"/>
              </a:rPr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2BE2E8-5EA1-69EB-2EF2-C80412E13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723096"/>
          </a:xfrm>
        </p:spPr>
        <p:txBody>
          <a:bodyPr/>
          <a:lstStyle/>
          <a:p>
            <a:r>
              <a:rPr lang="en-US" sz="2800"/>
              <a:t>IV. Ứng dụng của mã hóa khóa công khai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48F563FC-DA04-A518-F000-FB61EC232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7" y="4578350"/>
            <a:ext cx="17988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400" i="1">
                <a:latin typeface="Cambria" pitchFamily="18" charset="0"/>
              </a:rPr>
              <a:t>M</a:t>
            </a:r>
            <a:r>
              <a:rPr lang="en-US" sz="2400">
                <a:latin typeface="Cambria" pitchFamily="18" charset="0"/>
              </a:rPr>
              <a:t> = </a:t>
            </a:r>
            <a:r>
              <a:rPr lang="en-US" sz="2400" i="1">
                <a:latin typeface="Cambria" pitchFamily="18" charset="0"/>
              </a:rPr>
              <a:t>D</a:t>
            </a:r>
            <a:r>
              <a:rPr lang="en-US" sz="240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(</a:t>
            </a:r>
            <a:r>
              <a:rPr lang="en-US" sz="2400" i="1">
                <a:latin typeface="Cambria" pitchFamily="18" charset="0"/>
              </a:rPr>
              <a:t>C</a:t>
            </a:r>
            <a:r>
              <a:rPr lang="en-US" sz="2400">
                <a:latin typeface="Cambria" pitchFamily="18" charset="0"/>
              </a:rPr>
              <a:t>, </a:t>
            </a:r>
            <a:r>
              <a:rPr lang="en-US" sz="2400" i="1">
                <a:latin typeface="Cambria" pitchFamily="18" charset="0"/>
              </a:rPr>
              <a:t>K</a:t>
            </a:r>
            <a:r>
              <a:rPr lang="en-US" sz="2400" baseline="-25000">
                <a:latin typeface="Cambria" pitchFamily="18" charset="0"/>
              </a:rPr>
              <a:t>R</a:t>
            </a:r>
            <a:r>
              <a:rPr lang="en-US" sz="240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)</a:t>
            </a:r>
            <a:endParaRPr lang="en-US" sz="2400">
              <a:latin typeface="Cambria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47987F-07C4-40E0-A8FB-76EC3F0FA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245246"/>
            <a:ext cx="8915400" cy="1063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lnSpc>
                <a:spcPct val="120000"/>
              </a:lnSpc>
              <a:spcBef>
                <a:spcPts val="1200"/>
              </a:spcBef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=&gt; Mục tiêu là bảo mật dữ liệu, chỉ có Bob mới có thể giải mã. </a:t>
            </a:r>
            <a:endParaRPr lang="en-US" sz="2400" baseline="-250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ts val="1200"/>
              </a:spcBef>
              <a:buFontTx/>
              <a:buChar char="-"/>
            </a:pPr>
            <a:endParaRPr lang="en-US" sz="2400" baseline="-250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3595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E7F33-24B0-B59F-FA9C-FF25FA846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>
            <a:extLst>
              <a:ext uri="{FF2B5EF4-FFF2-40B4-BE49-F238E27FC236}">
                <a16:creationId xmlns:a16="http://schemas.microsoft.com/office/drawing/2014/main" id="{B1008CB9-3A23-8FBA-7E9F-351B93DB8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95400"/>
            <a:ext cx="8534400" cy="3651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514350" indent="-514350" eaLnBrk="1" hangingPunct="1">
              <a:lnSpc>
                <a:spcPct val="120000"/>
              </a:lnSpc>
              <a:spcBef>
                <a:spcPts val="1200"/>
              </a:spcBef>
              <a:buFont typeface="+mj-lt"/>
              <a:buAutoNum type="alphaUcPeriod" startAt="2"/>
            </a:pPr>
            <a:r>
              <a:rPr lang="en-US" sz="2800" b="1">
                <a:latin typeface="Tahoma" pitchFamily="34" charset="0"/>
                <a:ea typeface="Arial-Rounded" pitchFamily="34" charset="0"/>
                <a:cs typeface="Tahoma" pitchFamily="34" charset="0"/>
              </a:rPr>
              <a:t>Mã hóa bảo mật</a:t>
            </a:r>
          </a:p>
          <a:p>
            <a:pPr marL="342900" indent="-342900" eaLnBrk="1" hangingPunct="1">
              <a:lnSpc>
                <a:spcPct val="120000"/>
              </a:lnSpc>
              <a:spcBef>
                <a:spcPts val="1200"/>
              </a:spcBef>
              <a:buFontTx/>
              <a:buChar char="-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Bob chọn cặp khóa riêng - công khai  K</a:t>
            </a:r>
            <a:r>
              <a:rPr lang="en-US" sz="2400" baseline="-25000">
                <a:latin typeface="Tahoma" pitchFamily="34" charset="0"/>
                <a:ea typeface="Arial-Rounded" pitchFamily="34" charset="0"/>
                <a:cs typeface="Tahoma" pitchFamily="34" charset="0"/>
              </a:rPr>
              <a:t>R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 – K</a:t>
            </a:r>
            <a:r>
              <a:rPr lang="en-US" sz="2400" baseline="-25000">
                <a:latin typeface="Tahoma" pitchFamily="34" charset="0"/>
                <a:ea typeface="Arial-Rounded" pitchFamily="34" charset="0"/>
                <a:cs typeface="Tahoma" pitchFamily="34" charset="0"/>
              </a:rPr>
              <a:t>U</a:t>
            </a: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ts val="1200"/>
              </a:spcBef>
              <a:buFontTx/>
              <a:buChar char="-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Alice mã hóa dùng khóa công khai của Bob: </a:t>
            </a:r>
          </a:p>
          <a:p>
            <a:pPr marL="342900" indent="-342900" eaLnBrk="1" hangingPunct="1">
              <a:lnSpc>
                <a:spcPct val="120000"/>
              </a:lnSpc>
              <a:spcBef>
                <a:spcPts val="1200"/>
              </a:spcBef>
              <a:buFontTx/>
              <a:buChar char="-"/>
            </a:pPr>
            <a:endParaRPr lang="en-US" sz="2400" baseline="-250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ts val="1200"/>
              </a:spcBef>
              <a:buFontTx/>
              <a:buChar char="-"/>
            </a:pPr>
            <a:endParaRPr lang="en-US" sz="2400" baseline="-250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ts val="1200"/>
              </a:spcBef>
              <a:buFontTx/>
              <a:buChar char="-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Bob giải mã dùng khóa riêng: </a:t>
            </a:r>
            <a:endParaRPr lang="en-US" sz="2400" baseline="-250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ts val="1200"/>
              </a:spcBef>
              <a:buFontTx/>
              <a:buChar char="-"/>
            </a:pPr>
            <a:endParaRPr lang="en-US" sz="2400" baseline="-250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4BCDA43-B2D2-69AF-7EAA-262E8A5E4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48588A-B47C-4B50-BFC5-F6E9BC2C244D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30725" name="Rectangle 34">
            <a:extLst>
              <a:ext uri="{FF2B5EF4-FFF2-40B4-BE49-F238E27FC236}">
                <a16:creationId xmlns:a16="http://schemas.microsoft.com/office/drawing/2014/main" id="{5088F05E-4182-A242-595C-B19EEC5CF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26" name="Rectangle 42">
            <a:extLst>
              <a:ext uri="{FF2B5EF4-FFF2-40B4-BE49-F238E27FC236}">
                <a16:creationId xmlns:a16="http://schemas.microsoft.com/office/drawing/2014/main" id="{BEAAB9B2-DF04-C23C-C257-DEFADD792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27" name="Rectangle 8">
            <a:extLst>
              <a:ext uri="{FF2B5EF4-FFF2-40B4-BE49-F238E27FC236}">
                <a16:creationId xmlns:a16="http://schemas.microsoft.com/office/drawing/2014/main" id="{70C260EA-3541-FA74-0BE8-006018A1E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28" name="Rectangle 10">
            <a:extLst>
              <a:ext uri="{FF2B5EF4-FFF2-40B4-BE49-F238E27FC236}">
                <a16:creationId xmlns:a16="http://schemas.microsoft.com/office/drawing/2014/main" id="{811AB838-084C-B13C-CAB4-A003DBB74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29" name="Rectangle 28">
            <a:extLst>
              <a:ext uri="{FF2B5EF4-FFF2-40B4-BE49-F238E27FC236}">
                <a16:creationId xmlns:a16="http://schemas.microsoft.com/office/drawing/2014/main" id="{0805864C-6D83-4023-78D6-F5BDF937F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31" name="Rectangle 6">
            <a:extLst>
              <a:ext uri="{FF2B5EF4-FFF2-40B4-BE49-F238E27FC236}">
                <a16:creationId xmlns:a16="http://schemas.microsoft.com/office/drawing/2014/main" id="{676E862E-17E9-B611-E037-923BACB5F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200400"/>
            <a:ext cx="18469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i="1">
                <a:latin typeface="Cambria" pitchFamily="18" charset="0"/>
              </a:rPr>
              <a:t>C </a:t>
            </a:r>
            <a:r>
              <a:rPr lang="en-US" sz="2400">
                <a:latin typeface="Cambria" pitchFamily="18" charset="0"/>
              </a:rPr>
              <a:t>=</a:t>
            </a:r>
            <a:r>
              <a:rPr lang="en-US" sz="2400" i="1">
                <a:latin typeface="Cambria" pitchFamily="18" charset="0"/>
              </a:rPr>
              <a:t> E</a:t>
            </a:r>
            <a:r>
              <a:rPr lang="en-US" sz="240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(</a:t>
            </a:r>
            <a:r>
              <a:rPr lang="en-US" sz="2400" i="1">
                <a:latin typeface="Cambria" pitchFamily="18" charset="0"/>
              </a:rPr>
              <a:t>M</a:t>
            </a:r>
            <a:r>
              <a:rPr lang="en-US" sz="2400">
                <a:latin typeface="Cambria" pitchFamily="18" charset="0"/>
              </a:rPr>
              <a:t>, </a:t>
            </a:r>
            <a:r>
              <a:rPr lang="en-US" sz="2400" i="1">
                <a:latin typeface="Cambria" pitchFamily="18" charset="0"/>
              </a:rPr>
              <a:t>K</a:t>
            </a:r>
            <a:r>
              <a:rPr lang="en-US" sz="2400" baseline="-25000">
                <a:latin typeface="Cambria" pitchFamily="18" charset="0"/>
              </a:rPr>
              <a:t>U</a:t>
            </a:r>
            <a:r>
              <a:rPr lang="en-US" sz="240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)</a:t>
            </a:r>
            <a:r>
              <a:rPr lang="en-US" sz="2400">
                <a:latin typeface="Cambria" pitchFamily="18" charset="0"/>
              </a:rPr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F3B5D8-4263-8107-43E5-B4C5316EC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723096"/>
          </a:xfrm>
        </p:spPr>
        <p:txBody>
          <a:bodyPr/>
          <a:lstStyle/>
          <a:p>
            <a:r>
              <a:rPr lang="en-US" sz="2800"/>
              <a:t>IV. Ứng dụng của mã hóa khóa công khai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19308177-ED63-72B1-7FB0-1D3DA1052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7" y="4578350"/>
            <a:ext cx="17988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400" i="1">
                <a:latin typeface="Cambria" pitchFamily="18" charset="0"/>
              </a:rPr>
              <a:t>M</a:t>
            </a:r>
            <a:r>
              <a:rPr lang="en-US" sz="2400">
                <a:latin typeface="Cambria" pitchFamily="18" charset="0"/>
              </a:rPr>
              <a:t> = </a:t>
            </a:r>
            <a:r>
              <a:rPr lang="en-US" sz="2400" i="1">
                <a:latin typeface="Cambria" pitchFamily="18" charset="0"/>
              </a:rPr>
              <a:t>D</a:t>
            </a:r>
            <a:r>
              <a:rPr lang="en-US" sz="240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(</a:t>
            </a:r>
            <a:r>
              <a:rPr lang="en-US" sz="2400" i="1">
                <a:latin typeface="Cambria" pitchFamily="18" charset="0"/>
              </a:rPr>
              <a:t>C</a:t>
            </a:r>
            <a:r>
              <a:rPr lang="en-US" sz="2400">
                <a:latin typeface="Cambria" pitchFamily="18" charset="0"/>
              </a:rPr>
              <a:t>, </a:t>
            </a:r>
            <a:r>
              <a:rPr lang="en-US" sz="2400" i="1">
                <a:latin typeface="Cambria" pitchFamily="18" charset="0"/>
              </a:rPr>
              <a:t>K</a:t>
            </a:r>
            <a:r>
              <a:rPr lang="en-US" sz="2400" baseline="-25000">
                <a:latin typeface="Cambria" pitchFamily="18" charset="0"/>
              </a:rPr>
              <a:t>R</a:t>
            </a:r>
            <a:r>
              <a:rPr lang="en-US" sz="2400">
                <a:latin typeface="Cambria Math" pitchFamily="18" charset="0"/>
                <a:ea typeface="Cambria Math" pitchFamily="18" charset="0"/>
                <a:cs typeface="Cambria Math" pitchFamily="18" charset="0"/>
              </a:rPr>
              <a:t>)</a:t>
            </a:r>
            <a:endParaRPr lang="en-US" sz="2400">
              <a:latin typeface="Cambria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E4FD98-33B8-2FDE-8562-C8D656509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245246"/>
            <a:ext cx="8915400" cy="1063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lnSpc>
                <a:spcPct val="120000"/>
              </a:lnSpc>
              <a:spcBef>
                <a:spcPts val="1200"/>
              </a:spcBef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=&gt; Mục tiêu là bảo mật dữ liệu, chỉ có Bob mới có thể giải mã. =&gt; Sử dụng trong truyền dữ liệu </a:t>
            </a:r>
            <a:endParaRPr lang="en-US" sz="2400" baseline="-25000">
              <a:latin typeface="Tahoma" pitchFamily="34" charset="0"/>
              <a:ea typeface="Arial-Rounded" pitchFamily="34" charset="0"/>
              <a:cs typeface="Tahoma" pitchFamily="34" charset="0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ts val="1200"/>
              </a:spcBef>
              <a:buFontTx/>
              <a:buChar char="-"/>
            </a:pPr>
            <a:endParaRPr lang="en-US" sz="2400" baseline="-250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588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42586-FF69-0BF5-754B-F01ED131B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>
            <a:extLst>
              <a:ext uri="{FF2B5EF4-FFF2-40B4-BE49-F238E27FC236}">
                <a16:creationId xmlns:a16="http://schemas.microsoft.com/office/drawing/2014/main" id="{9AA42EA3-52C4-B08A-A0A7-8E7817032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95401"/>
            <a:ext cx="8534400" cy="296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514350" indent="-514350" eaLnBrk="1" hangingPunct="1">
              <a:lnSpc>
                <a:spcPct val="120000"/>
              </a:lnSpc>
              <a:spcBef>
                <a:spcPts val="1200"/>
              </a:spcBef>
              <a:buFont typeface="+mj-lt"/>
              <a:buAutoNum type="alphaUcPeriod" startAt="3"/>
            </a:pPr>
            <a:r>
              <a:rPr lang="en-US" sz="2800" b="1">
                <a:latin typeface="Tahoma" pitchFamily="34" charset="0"/>
                <a:ea typeface="Arial-Rounded" pitchFamily="34" charset="0"/>
                <a:cs typeface="Tahoma" pitchFamily="34" charset="0"/>
              </a:rPr>
              <a:t>Dùng mã hóa khóa công khai làm kênh an toàn trao đổi khóa phiên bí mật của mã hóa đối xứng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Mã hóa khóa công khai: tốc độ chậm 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 để mã hóa dữ liệu lớn, vẫn phải sử dụng mã hóa đối xứng.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Mã hóa khóa công khai dùng để trao đổi khóa bí mật: khắc phục điểm yếu dùng kênh an toàn để truyền khóa.</a:t>
            </a:r>
            <a:endParaRPr lang="en-US" sz="2400" baseline="-250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B5D5EF-AF26-7B8D-06A0-B5F97611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48588A-B47C-4B50-BFC5-F6E9BC2C244D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30725" name="Rectangle 34">
            <a:extLst>
              <a:ext uri="{FF2B5EF4-FFF2-40B4-BE49-F238E27FC236}">
                <a16:creationId xmlns:a16="http://schemas.microsoft.com/office/drawing/2014/main" id="{641F3548-EC61-1C0F-3D7B-1D990D598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26" name="Rectangle 42">
            <a:extLst>
              <a:ext uri="{FF2B5EF4-FFF2-40B4-BE49-F238E27FC236}">
                <a16:creationId xmlns:a16="http://schemas.microsoft.com/office/drawing/2014/main" id="{8EFAA027-FEE9-FFD3-AD5A-16FEF2C0A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27" name="Rectangle 8">
            <a:extLst>
              <a:ext uri="{FF2B5EF4-FFF2-40B4-BE49-F238E27FC236}">
                <a16:creationId xmlns:a16="http://schemas.microsoft.com/office/drawing/2014/main" id="{EEA38780-7146-B6A5-19C5-2AE15F9AC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28" name="Rectangle 10">
            <a:extLst>
              <a:ext uri="{FF2B5EF4-FFF2-40B4-BE49-F238E27FC236}">
                <a16:creationId xmlns:a16="http://schemas.microsoft.com/office/drawing/2014/main" id="{E02AE349-0B8E-9D77-A6A7-25FCE6A93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29" name="Rectangle 28">
            <a:extLst>
              <a:ext uri="{FF2B5EF4-FFF2-40B4-BE49-F238E27FC236}">
                <a16:creationId xmlns:a16="http://schemas.microsoft.com/office/drawing/2014/main" id="{4F216091-1758-FF4B-6CEE-86E5C2C37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F91074-FF43-A92C-8D8D-6ECC01EA4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723096"/>
          </a:xfrm>
        </p:spPr>
        <p:txBody>
          <a:bodyPr/>
          <a:lstStyle/>
          <a:p>
            <a:r>
              <a:rPr lang="en-US" sz="2800"/>
              <a:t>IV. Ứng dụng của mã hóa khóa công khai</a:t>
            </a:r>
          </a:p>
        </p:txBody>
      </p:sp>
    </p:spTree>
    <p:extLst>
      <p:ext uri="{BB962C8B-B14F-4D97-AF65-F5344CB8AC3E}">
        <p14:creationId xmlns:p14="http://schemas.microsoft.com/office/powerpoint/2010/main" val="12861791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 txBox="1">
            <a:spLocks noChangeArrowheads="1"/>
          </p:cNvSpPr>
          <p:nvPr/>
        </p:nvSpPr>
        <p:spPr bwMode="auto">
          <a:xfrm>
            <a:off x="304800" y="3733800"/>
            <a:ext cx="88392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Bob gửi khóa công khai K</a:t>
            </a:r>
            <a:r>
              <a:rPr lang="en-US" sz="2400" baseline="-250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U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 cho Alice</a:t>
            </a:r>
            <a:endParaRPr lang="en-US" sz="2400" baseline="-25000">
              <a:latin typeface="Tahoma" pitchFamily="34" charset="0"/>
              <a:ea typeface="Arial-Rounded" pitchFamily="34" charset="0"/>
              <a:cs typeface="Tahoma" pitchFamily="34" charset="0"/>
              <a:sym typeface="Wingdings" pitchFamily="2" charset="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Alice tạo khóa phiên K</a:t>
            </a:r>
            <a:r>
              <a:rPr lang="en-US" sz="2400" baseline="-250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S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 , gửi cho Bob bằng mã hóa khóa công khai (kênh anh toàn)</a:t>
            </a:r>
            <a:endParaRPr lang="en-US" sz="2400" baseline="-25000">
              <a:latin typeface="Tahoma" pitchFamily="34" charset="0"/>
              <a:ea typeface="Arial-Rounded" pitchFamily="34" charset="0"/>
              <a:cs typeface="Tahoma" pitchFamily="34" charset="0"/>
              <a:sym typeface="Wingdings" pitchFamily="2" charset="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Arial" charset="0"/>
              <a:buChar char="•"/>
            </a:pP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</a:rPr>
              <a:t>Alice mã hóa dữ liệu gửi cho Bob bằng mã hóa đối xứng sử dụng khóa phiên 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K</a:t>
            </a:r>
            <a:r>
              <a:rPr lang="en-US" sz="2400" baseline="-250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S</a:t>
            </a:r>
            <a:r>
              <a:rPr lang="en-US" sz="2400">
                <a:latin typeface="Tahoma" pitchFamily="34" charset="0"/>
                <a:ea typeface="Arial-Rounded" pitchFamily="34" charset="0"/>
                <a:cs typeface="Tahoma" pitchFamily="34" charset="0"/>
                <a:sym typeface="Wingdings" pitchFamily="2" charset="2"/>
              </a:rPr>
              <a:t> </a:t>
            </a:r>
            <a:endParaRPr lang="en-US" sz="2400">
              <a:latin typeface="Tahoma" pitchFamily="34" charset="0"/>
              <a:ea typeface="Arial-Rounded" pitchFamily="34" charset="0"/>
              <a:cs typeface="Tahoma" pitchFamily="34" charset="0"/>
            </a:endParaRPr>
          </a:p>
        </p:txBody>
      </p:sp>
      <p:sp>
        <p:nvSpPr>
          <p:cNvPr id="38915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916" name="Rectangle 42"/>
          <p:cNvSpPr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891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918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919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920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921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38922" name="Group 1"/>
          <p:cNvGrpSpPr>
            <a:grpSpLocks/>
          </p:cNvGrpSpPr>
          <p:nvPr/>
        </p:nvGrpSpPr>
        <p:grpSpPr bwMode="auto">
          <a:xfrm>
            <a:off x="1981200" y="1686068"/>
            <a:ext cx="4953000" cy="1742931"/>
            <a:chOff x="4584" y="1616"/>
            <a:chExt cx="4327" cy="1364"/>
          </a:xfrm>
        </p:grpSpPr>
        <p:sp>
          <p:nvSpPr>
            <p:cNvPr id="38924" name="Freeform 10"/>
            <p:cNvSpPr>
              <a:spLocks/>
            </p:cNvSpPr>
            <p:nvPr/>
          </p:nvSpPr>
          <p:spPr bwMode="auto">
            <a:xfrm rot="-10393346">
              <a:off x="4805" y="2110"/>
              <a:ext cx="3526" cy="781"/>
            </a:xfrm>
            <a:custGeom>
              <a:avLst/>
              <a:gdLst>
                <a:gd name="T0" fmla="*/ 0 w 3385"/>
                <a:gd name="T1" fmla="*/ 1590188 h 523"/>
                <a:gd name="T2" fmla="*/ 3958 w 3385"/>
                <a:gd name="T3" fmla="*/ 87781 h 523"/>
                <a:gd name="T4" fmla="*/ 7657 w 3385"/>
                <a:gd name="T5" fmla="*/ 1066381 h 523"/>
                <a:gd name="T6" fmla="*/ 0 60000 65536"/>
                <a:gd name="T7" fmla="*/ 0 60000 65536"/>
                <a:gd name="T8" fmla="*/ 0 60000 65536"/>
                <a:gd name="T9" fmla="*/ 0 w 3385"/>
                <a:gd name="T10" fmla="*/ 0 h 523"/>
                <a:gd name="T11" fmla="*/ 3385 w 3385"/>
                <a:gd name="T12" fmla="*/ 523 h 5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85" h="523">
                  <a:moveTo>
                    <a:pt x="0" y="523"/>
                  </a:moveTo>
                  <a:cubicBezTo>
                    <a:pt x="593" y="290"/>
                    <a:pt x="1187" y="58"/>
                    <a:pt x="1751" y="29"/>
                  </a:cubicBezTo>
                  <a:cubicBezTo>
                    <a:pt x="2315" y="0"/>
                    <a:pt x="2850" y="175"/>
                    <a:pt x="3385" y="351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5" name="Freeform 9"/>
            <p:cNvSpPr>
              <a:spLocks/>
            </p:cNvSpPr>
            <p:nvPr/>
          </p:nvSpPr>
          <p:spPr bwMode="auto">
            <a:xfrm rot="10800000">
              <a:off x="5220" y="2189"/>
              <a:ext cx="3029" cy="234"/>
            </a:xfrm>
            <a:custGeom>
              <a:avLst/>
              <a:gdLst>
                <a:gd name="T0" fmla="*/ 0 w 3385"/>
                <a:gd name="T1" fmla="*/ 0 h 523"/>
                <a:gd name="T2" fmla="*/ 190 w 3385"/>
                <a:gd name="T3" fmla="*/ 0 h 523"/>
                <a:gd name="T4" fmla="*/ 367 w 3385"/>
                <a:gd name="T5" fmla="*/ 0 h 523"/>
                <a:gd name="T6" fmla="*/ 0 60000 65536"/>
                <a:gd name="T7" fmla="*/ 0 60000 65536"/>
                <a:gd name="T8" fmla="*/ 0 60000 65536"/>
                <a:gd name="T9" fmla="*/ 0 w 3385"/>
                <a:gd name="T10" fmla="*/ 0 h 523"/>
                <a:gd name="T11" fmla="*/ 3385 w 3385"/>
                <a:gd name="T12" fmla="*/ 523 h 5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85" h="523">
                  <a:moveTo>
                    <a:pt x="0" y="523"/>
                  </a:moveTo>
                  <a:cubicBezTo>
                    <a:pt x="593" y="290"/>
                    <a:pt x="1187" y="58"/>
                    <a:pt x="1751" y="29"/>
                  </a:cubicBezTo>
                  <a:cubicBezTo>
                    <a:pt x="2315" y="0"/>
                    <a:pt x="2850" y="175"/>
                    <a:pt x="3385" y="351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6" name="Freeform 8"/>
            <p:cNvSpPr>
              <a:spLocks/>
            </p:cNvSpPr>
            <p:nvPr/>
          </p:nvSpPr>
          <p:spPr bwMode="auto">
            <a:xfrm rot="222917">
              <a:off x="5220" y="1776"/>
              <a:ext cx="3108" cy="308"/>
            </a:xfrm>
            <a:custGeom>
              <a:avLst/>
              <a:gdLst>
                <a:gd name="T0" fmla="*/ 0 w 3385"/>
                <a:gd name="T1" fmla="*/ 1 h 523"/>
                <a:gd name="T2" fmla="*/ 318 w 3385"/>
                <a:gd name="T3" fmla="*/ 1 h 523"/>
                <a:gd name="T4" fmla="*/ 613 w 3385"/>
                <a:gd name="T5" fmla="*/ 1 h 523"/>
                <a:gd name="T6" fmla="*/ 0 60000 65536"/>
                <a:gd name="T7" fmla="*/ 0 60000 65536"/>
                <a:gd name="T8" fmla="*/ 0 60000 65536"/>
                <a:gd name="T9" fmla="*/ 0 w 3385"/>
                <a:gd name="T10" fmla="*/ 0 h 523"/>
                <a:gd name="T11" fmla="*/ 3385 w 3385"/>
                <a:gd name="T12" fmla="*/ 523 h 5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85" h="523">
                  <a:moveTo>
                    <a:pt x="0" y="523"/>
                  </a:moveTo>
                  <a:cubicBezTo>
                    <a:pt x="593" y="290"/>
                    <a:pt x="1187" y="58"/>
                    <a:pt x="1751" y="29"/>
                  </a:cubicBezTo>
                  <a:cubicBezTo>
                    <a:pt x="2315" y="0"/>
                    <a:pt x="2850" y="175"/>
                    <a:pt x="3385" y="351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7" name="Oval 7"/>
            <p:cNvSpPr>
              <a:spLocks noChangeArrowheads="1"/>
            </p:cNvSpPr>
            <p:nvPr/>
          </p:nvSpPr>
          <p:spPr bwMode="auto">
            <a:xfrm>
              <a:off x="4584" y="1885"/>
              <a:ext cx="688" cy="47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18000" tIns="18000" rIns="18000" bIns="18000"/>
            <a:lstStyle/>
            <a:p>
              <a:pPr algn="ctr" eaLnBrk="0" hangingPunct="0"/>
              <a:r>
                <a:rPr lang="en-US" sz="2000">
                  <a:latin typeface="Cambria" pitchFamily="18" charset="0"/>
                  <a:cs typeface="Times New Roman" pitchFamily="18" charset="0"/>
                </a:rPr>
                <a:t>A</a:t>
              </a:r>
              <a:endParaRPr lang="en-US" sz="2000"/>
            </a:p>
          </p:txBody>
        </p:sp>
        <p:sp>
          <p:nvSpPr>
            <p:cNvPr id="38928" name="Oval 6"/>
            <p:cNvSpPr>
              <a:spLocks noChangeArrowheads="1"/>
            </p:cNvSpPr>
            <p:nvPr/>
          </p:nvSpPr>
          <p:spPr bwMode="auto">
            <a:xfrm>
              <a:off x="8223" y="1885"/>
              <a:ext cx="688" cy="47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18000" tIns="18000" rIns="18000" bIns="18000"/>
            <a:lstStyle/>
            <a:p>
              <a:pPr algn="ctr" eaLnBrk="0" hangingPunct="0"/>
              <a:r>
                <a:rPr lang="en-US" sz="2000">
                  <a:latin typeface="Cambria" pitchFamily="18" charset="0"/>
                  <a:cs typeface="Times New Roman" pitchFamily="18" charset="0"/>
                </a:rPr>
                <a:t>B</a:t>
              </a:r>
              <a:endParaRPr lang="en-US" sz="2000"/>
            </a:p>
          </p:txBody>
        </p:sp>
        <p:sp>
          <p:nvSpPr>
            <p:cNvPr id="38930" name="Text Box 4"/>
            <p:cNvSpPr txBox="1">
              <a:spLocks noChangeArrowheads="1"/>
            </p:cNvSpPr>
            <p:nvPr/>
          </p:nvSpPr>
          <p:spPr bwMode="auto">
            <a:xfrm>
              <a:off x="5704" y="2124"/>
              <a:ext cx="2107" cy="3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000">
                  <a:latin typeface="Cambria" pitchFamily="18" charset="0"/>
                  <a:cs typeface="Times New Roman" pitchFamily="18" charset="0"/>
                </a:rPr>
                <a:t>2. </a:t>
              </a:r>
              <a:r>
                <a:rPr lang="en-US" sz="2000" i="1">
                  <a:latin typeface="Cambria" pitchFamily="18" charset="0"/>
                  <a:cs typeface="Times New Roman" pitchFamily="18" charset="0"/>
                </a:rPr>
                <a:t>E</a:t>
              </a:r>
              <a:r>
                <a:rPr lang="en-US" sz="2000">
                  <a:latin typeface="Cambria Math" pitchFamily="18" charset="0"/>
                  <a:cs typeface="Times New Roman" pitchFamily="18" charset="0"/>
                </a:rPr>
                <a:t>(</a:t>
              </a:r>
              <a:r>
                <a:rPr lang="en-US" sz="2000" i="1">
                  <a:latin typeface="Cambria" pitchFamily="18" charset="0"/>
                  <a:cs typeface="Times New Roman" pitchFamily="18" charset="0"/>
                </a:rPr>
                <a:t>K</a:t>
              </a:r>
              <a:r>
                <a:rPr lang="en-US" sz="2000" baseline="-30000">
                  <a:latin typeface="Cambria Math" pitchFamily="18" charset="0"/>
                  <a:cs typeface="Times New Roman" pitchFamily="18" charset="0"/>
                </a:rPr>
                <a:t>S </a:t>
              </a:r>
              <a:r>
                <a:rPr lang="en-US" sz="2000">
                  <a:latin typeface="Cambria Math" pitchFamily="18" charset="0"/>
                  <a:cs typeface="Times New Roman" pitchFamily="18" charset="0"/>
                </a:rPr>
                <a:t>, </a:t>
              </a:r>
              <a:r>
                <a:rPr lang="en-US" sz="2000" i="1">
                  <a:latin typeface="Cambria" pitchFamily="18" charset="0"/>
                  <a:cs typeface="Times New Roman" pitchFamily="18" charset="0"/>
                </a:rPr>
                <a:t>K</a:t>
              </a:r>
              <a:r>
                <a:rPr lang="en-US" sz="2000" baseline="-30000">
                  <a:latin typeface="Cambria Math" pitchFamily="18" charset="0"/>
                  <a:cs typeface="Times New Roman" pitchFamily="18" charset="0"/>
                </a:rPr>
                <a:t>U</a:t>
              </a:r>
              <a:r>
                <a:rPr lang="en-US" sz="2000">
                  <a:latin typeface="Cambria Math" pitchFamily="18" charset="0"/>
                  <a:cs typeface="Times New Roman" pitchFamily="18" charset="0"/>
                </a:rPr>
                <a:t>)</a:t>
              </a:r>
              <a:endParaRPr lang="en-US" sz="2000"/>
            </a:p>
          </p:txBody>
        </p:sp>
        <p:sp>
          <p:nvSpPr>
            <p:cNvPr id="38931" name="Text Box 3"/>
            <p:cNvSpPr txBox="1">
              <a:spLocks noChangeArrowheads="1"/>
            </p:cNvSpPr>
            <p:nvPr/>
          </p:nvSpPr>
          <p:spPr bwMode="auto">
            <a:xfrm>
              <a:off x="6286" y="1616"/>
              <a:ext cx="593" cy="3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000">
                  <a:latin typeface="Cambria" pitchFamily="18" charset="0"/>
                  <a:cs typeface="Times New Roman" pitchFamily="18" charset="0"/>
                </a:rPr>
                <a:t>1. </a:t>
              </a:r>
              <a:r>
                <a:rPr lang="en-US" sz="2000" i="1">
                  <a:latin typeface="Cambria" pitchFamily="18" charset="0"/>
                  <a:cs typeface="Times New Roman" pitchFamily="18" charset="0"/>
                </a:rPr>
                <a:t>K</a:t>
              </a:r>
              <a:r>
                <a:rPr lang="en-US" sz="2000" baseline="-30000">
                  <a:latin typeface="Cambria" pitchFamily="18" charset="0"/>
                  <a:cs typeface="Times New Roman" pitchFamily="18" charset="0"/>
                </a:rPr>
                <a:t>U</a:t>
              </a:r>
              <a:endParaRPr lang="en-US" sz="2000"/>
            </a:p>
          </p:txBody>
        </p:sp>
        <p:sp>
          <p:nvSpPr>
            <p:cNvPr id="38932" name="Text Box 2"/>
            <p:cNvSpPr txBox="1">
              <a:spLocks noChangeArrowheads="1"/>
            </p:cNvSpPr>
            <p:nvPr/>
          </p:nvSpPr>
          <p:spPr bwMode="auto">
            <a:xfrm>
              <a:off x="6186" y="2633"/>
              <a:ext cx="1394" cy="3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8000" rIns="18000" bIns="18000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000">
                  <a:latin typeface="Cambria" pitchFamily="18" charset="0"/>
                  <a:cs typeface="Times New Roman" pitchFamily="18" charset="0"/>
                </a:rPr>
                <a:t>3.</a:t>
              </a:r>
              <a:r>
                <a:rPr lang="en-US" sz="2000" i="1">
                  <a:latin typeface="Cambria" pitchFamily="18" charset="0"/>
                  <a:cs typeface="Times New Roman" pitchFamily="18" charset="0"/>
                </a:rPr>
                <a:t> DES</a:t>
              </a:r>
              <a:r>
                <a:rPr lang="en-US" sz="2000">
                  <a:latin typeface="Cambria Math" pitchFamily="18" charset="0"/>
                  <a:cs typeface="Times New Roman" pitchFamily="18" charset="0"/>
                </a:rPr>
                <a:t>(</a:t>
              </a:r>
              <a:r>
                <a:rPr lang="en-US" sz="2000" i="1">
                  <a:latin typeface="Cambria" pitchFamily="18" charset="0"/>
                  <a:cs typeface="Times New Roman" pitchFamily="18" charset="0"/>
                </a:rPr>
                <a:t>P</a:t>
              </a:r>
              <a:r>
                <a:rPr lang="en-US" sz="2000">
                  <a:latin typeface="Cambria Math" pitchFamily="18" charset="0"/>
                  <a:cs typeface="Times New Roman" pitchFamily="18" charset="0"/>
                </a:rPr>
                <a:t>, </a:t>
              </a:r>
              <a:r>
                <a:rPr lang="en-US" sz="2000" i="1">
                  <a:latin typeface="Cambria" pitchFamily="18" charset="0"/>
                  <a:cs typeface="Times New Roman" pitchFamily="18" charset="0"/>
                </a:rPr>
                <a:t>K</a:t>
              </a:r>
              <a:r>
                <a:rPr lang="en-US" sz="2000" baseline="-30000">
                  <a:latin typeface="Cambria Math" pitchFamily="18" charset="0"/>
                  <a:cs typeface="Times New Roman" pitchFamily="18" charset="0"/>
                </a:rPr>
                <a:t>S</a:t>
              </a:r>
              <a:r>
                <a:rPr lang="en-US" sz="2000">
                  <a:latin typeface="Cambria Math" pitchFamily="18" charset="0"/>
                  <a:cs typeface="Times New Roman" pitchFamily="18" charset="0"/>
                </a:rPr>
                <a:t>)</a:t>
              </a:r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57647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 - &amp;quot;MÃ HÓA KHÓA CÔNG KHAI (Public Key Cryptography)&amp;quot;&quot;/&gt;&lt;property id=&quot;20307&quot; value=&quot;256&quot;/&gt;&lt;/object&gt;&lt;object type=&quot;3&quot; unique_id=&quot;10004&quot;&gt;&lt;property id=&quot;20148&quot; value=&quot;5&quot;/&gt;&lt;property id=&quot;20300&quot; value=&quot;Slide 2 - &amp;quot;Nội Dung&amp;quot;&quot;/&gt;&lt;property id=&quot;20307&quot; value=&quot;297&quot;/&gt;&lt;/object&gt;&lt;object type=&quot;3&quot; unique_id=&quot;10005&quot;&gt;&lt;property id=&quot;20148&quot; value=&quot;5&quot;/&gt;&lt;property id=&quot;20300&quot; value=&quot;Slide 3 - &amp;quot;I. Giới thiệu&amp;quot;&quot;/&gt;&lt;property id=&quot;20307&quot; value=&quot;258&quot;/&gt;&lt;/object&gt;&lt;object type=&quot;3&quot; unique_id=&quot;10006&quot;&gt;&lt;property id=&quot;20148&quot; value=&quot;5&quot;/&gt;&lt;property id=&quot;20300&quot; value=&quot;Slide 4&quot;/&gt;&lt;property id=&quot;20307&quot; value=&quot;259&quot;/&gt;&lt;/object&gt;&lt;object type=&quot;3&quot; unique_id=&quot;10008&quot;&gt;&lt;property id=&quot;20148&quot; value=&quot;5&quot;/&gt;&lt;property id=&quot;20300&quot; value=&quot;Slide 5&quot;/&gt;&lt;property id=&quot;20307&quot; value=&quot;294&quot;/&gt;&lt;/object&gt;&lt;object type=&quot;3&quot; unique_id=&quot;10009&quot;&gt;&lt;property id=&quot;20148&quot; value=&quot;5&quot;/&gt;&lt;property id=&quot;20300&quot; value=&quot;Slide 6 - &amp;quot;Ký hiệu&amp;quot;&quot;/&gt;&lt;property id=&quot;20307&quot; value=&quot;299&quot;/&gt;&lt;/object&gt;&lt;object type=&quot;3&quot; unique_id=&quot;10010&quot;&gt;&lt;property id=&quot;20148&quot; value=&quot;5&quot;/&gt;&lt;property id=&quot;20300&quot; value=&quot;Slide 7 - &amp;quot;II. Lý thuyết số&amp;quot;&quot;/&gt;&lt;property id=&quot;20307&quot; value=&quot;265&quot;/&gt;&lt;/object&gt;&lt;object type=&quot;3&quot; unique_id=&quot;10011&quot;&gt;&lt;property id=&quot;20148&quot; value=&quot;5&quot;/&gt;&lt;property id=&quot;20300&quot; value=&quot;Slide 8&quot;/&gt;&lt;property id=&quot;20307&quot; value=&quot;266&quot;/&gt;&lt;/object&gt;&lt;object type=&quot;3&quot; unique_id=&quot;10012&quot;&gt;&lt;property id=&quot;20148&quot; value=&quot;5&quot;/&gt;&lt;property id=&quot;20300&quot; value=&quot;Slide 9 - &amp;quot;Thuật toán Euclid tìm gcd (a, b)&amp;quot;&quot;/&gt;&lt;property id=&quot;20307&quot; value=&quot;295&quot;/&gt;&lt;/object&gt;&lt;object type=&quot;3&quot; unique_id=&quot;10013&quot;&gt;&lt;property id=&quot;20148&quot; value=&quot;5&quot;/&gt;&lt;property id=&quot;20300&quot; value=&quot;Slide 10 - &amp;quot;Thuật toán Euclid mở rộng tìm phần tử nghịch đảo&amp;quot;&quot;/&gt;&lt;property id=&quot;20307&quot; value=&quot;296&quot;/&gt;&lt;/object&gt;&lt;object type=&quot;3&quot; unique_id=&quot;10014&quot;&gt;&lt;property id=&quot;20148&quot; value=&quot;5&quot;/&gt;&lt;property id=&quot;20300&quot; value=&quot;Slide 11 - &amp;quot;III. Mã hóa RSA&amp;quot;&quot;/&gt;&lt;property id=&quot;20307&quot; value=&quot;269&quot;/&gt;&lt;/object&gt;&lt;object type=&quot;3&quot; unique_id=&quot;10015&quot;&gt;&lt;property id=&quot;20148&quot; value=&quot;5&quot;/&gt;&lt;property id=&quot;20300&quot; value=&quot;Slide 12&quot;/&gt;&lt;property id=&quot;20307&quot; value=&quot;270&quot;/&gt;&lt;/object&gt;&lt;object type=&quot;3&quot; unique_id=&quot;10017&quot;&gt;&lt;property id=&quot;20148&quot; value=&quot;5&quot;/&gt;&lt;property id=&quot;20300&quot; value=&quot;Slide 13&quot;/&gt;&lt;property id=&quot;20307&quot; value=&quot;301&quot;/&gt;&lt;/object&gt;&lt;object type=&quot;3&quot; unique_id=&quot;10018&quot;&gt;&lt;property id=&quot;20148&quot; value=&quot;5&quot;/&gt;&lt;property id=&quot;20300&quot; value=&quot;Slide 14&quot;/&gt;&lt;property id=&quot;20307&quot; value=&quot;272&quot;/&gt;&lt;/object&gt;&lt;object type=&quot;3&quot; unique_id=&quot;10019&quot;&gt;&lt;property id=&quot;20148&quot; value=&quot;5&quot;/&gt;&lt;property id=&quot;20300&quot; value=&quot;Slide 15&quot;/&gt;&lt;property id=&quot;20307&quot; value=&quot;302&quot;/&gt;&lt;/object&gt;&lt;object type=&quot;3&quot; unique_id=&quot;10020&quot;&gt;&lt;property id=&quot;20148&quot; value=&quot;5&quot;/&gt;&lt;property id=&quot;20300&quot; value=&quot;Slide 16&quot;/&gt;&lt;property id=&quot;20307&quot; value=&quot;275&quot;/&gt;&lt;/object&gt;&lt;object type=&quot;3&quot; unique_id=&quot;10021&quot;&gt;&lt;property id=&quot;20148&quot; value=&quot;5&quot;/&gt;&lt;property id=&quot;20300&quot; value=&quot;Slide 17&quot;/&gt;&lt;property id=&quot;20307&quot; value=&quot;276&quot;/&gt;&lt;/object&gt;&lt;object type=&quot;3&quot; unique_id=&quot;10022&quot;&gt;&lt;property id=&quot;20148&quot; value=&quot;5&quot;/&gt;&lt;property id=&quot;20300&quot; value=&quot;Slide 18&quot;/&gt;&lt;property id=&quot;20307&quot; value=&quot;277&quot;/&gt;&lt;/object&gt;&lt;object type=&quot;3&quot; unique_id=&quot;10023&quot;&gt;&lt;property id=&quot;20148&quot; value=&quot;5&quot;/&gt;&lt;property id=&quot;20300&quot; value=&quot;Slide 19&quot;/&gt;&lt;property id=&quot;20307&quot; value=&quot;282&quot;/&gt;&lt;/object&gt;&lt;object type=&quot;3&quot; unique_id=&quot;10024&quot;&gt;&lt;property id=&quot;20148&quot; value=&quot;5&quot;/&gt;&lt;property id=&quot;20300&quot; value=&quot;Slide 20&quot;/&gt;&lt;property id=&quot;20307&quot; value=&quot;283&quot;/&gt;&lt;/object&gt;&lt;object type=&quot;3&quot; unique_id=&quot;10025&quot;&gt;&lt;property id=&quot;20148&quot; value=&quot;5&quot;/&gt;&lt;property id=&quot;20300&quot; value=&quot;Slide 21 - &amp;quot;IV. Bảo mật và không từ chối&amp;quot;&quot;/&gt;&lt;property id=&quot;20307&quot; value=&quot;284&quot;/&gt;&lt;/object&gt;&lt;object type=&quot;3&quot; unique_id=&quot;10026&quot;&gt;&lt;property id=&quot;20148&quot; value=&quot;5&quot;/&gt;&lt;property id=&quot;20300&quot; value=&quot;Slide 22&quot;/&gt;&lt;property id=&quot;20307&quot; value=&quot;285&quot;/&gt;&lt;/object&gt;&lt;object type=&quot;3&quot; unique_id=&quot;10027&quot;&gt;&lt;property id=&quot;20148&quot; value=&quot;5&quot;/&gt;&lt;property id=&quot;20300&quot; value=&quot;Slide 23&quot;/&gt;&lt;property id=&quot;20307&quot; value=&quot;286&quot;/&gt;&lt;/object&gt;&lt;object type=&quot;3&quot; unique_id=&quot;10028&quot;&gt;&lt;property id=&quot;20148&quot; value=&quot;5&quot;/&gt;&lt;property id=&quot;20300&quot; value=&quot;Slide 24 - &amp;quot;V. Trao đổi khóa&amp;quot;&quot;/&gt;&lt;property id=&quot;20307&quot; value=&quot;287&quot;/&gt;&lt;/object&gt;&lt;object type=&quot;3&quot; unique_id=&quot;10029&quot;&gt;&lt;property id=&quot;20148&quot; value=&quot;5&quot;/&gt;&lt;property id=&quot;20300&quot; value=&quot;Slide 25&quot;/&gt;&lt;property id=&quot;20307&quot; value=&quot;288&quot;/&gt;&lt;/object&gt;&lt;object type=&quot;3&quot; unique_id=&quot;10030&quot;&gt;&lt;property id=&quot;20148&quot; value=&quot;5&quot;/&gt;&lt;property id=&quot;20300&quot; value=&quot;Slide 26&quot;/&gt;&lt;property id=&quot;20307&quot; value=&quot;289&quot;/&gt;&lt;/object&gt;&lt;object type=&quot;3&quot; unique_id=&quot;10031&quot;&gt;&lt;property id=&quot;20148&quot; value=&quot;5&quot;/&gt;&lt;property id=&quot;20300&quot; value=&quot;Slide 27&quot;/&gt;&lt;property id=&quot;20307&quot; value=&quot;290&quot;/&gt;&lt;/object&gt;&lt;object type=&quot;3&quot; unique_id=&quot;10032&quot;&gt;&lt;property id=&quot;20148&quot; value=&quot;5&quot;/&gt;&lt;property id=&quot;20300&quot; value=&quot;Slide 28&quot;/&gt;&lt;property id=&quot;20307&quot; value=&quot;291&quot;/&gt;&lt;/object&gt;&lt;object type=&quot;3&quot; unique_id=&quot;10033&quot;&gt;&lt;property id=&quot;20148&quot; value=&quot;5&quot;/&gt;&lt;property id=&quot;20300&quot; value=&quot;Slide 29&quot;/&gt;&lt;property id=&quot;20307&quot; value=&quot;292&quot;/&gt;&lt;/object&gt;&lt;/object&gt;&lt;object type=&quot;8&quot; unique_id=&quot;1006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cdb2004123l">
  <a:themeElements>
    <a:clrScheme name="sample 2">
      <a:dk1>
        <a:srgbClr val="19426B"/>
      </a:dk1>
      <a:lt1>
        <a:srgbClr val="FFFFFF"/>
      </a:lt1>
      <a:dk2>
        <a:srgbClr val="008080"/>
      </a:dk2>
      <a:lt2>
        <a:srgbClr val="B2B2B2"/>
      </a:lt2>
      <a:accent1>
        <a:srgbClr val="35C9C2"/>
      </a:accent1>
      <a:accent2>
        <a:srgbClr val="398AC7"/>
      </a:accent2>
      <a:accent3>
        <a:srgbClr val="FFFFFF"/>
      </a:accent3>
      <a:accent4>
        <a:srgbClr val="14375A"/>
      </a:accent4>
      <a:accent5>
        <a:srgbClr val="AEE1DD"/>
      </a:accent5>
      <a:accent6>
        <a:srgbClr val="337DB4"/>
      </a:accent6>
      <a:hlink>
        <a:srgbClr val="8BBC00"/>
      </a:hlink>
      <a:folHlink>
        <a:srgbClr val="6D50CA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000000"/>
        </a:dk1>
        <a:lt1>
          <a:srgbClr val="FFFFFF"/>
        </a:lt1>
        <a:dk2>
          <a:srgbClr val="1640B6"/>
        </a:dk2>
        <a:lt2>
          <a:srgbClr val="B2B2B2"/>
        </a:lt2>
        <a:accent1>
          <a:srgbClr val="48BDEC"/>
        </a:accent1>
        <a:accent2>
          <a:srgbClr val="E68402"/>
        </a:accent2>
        <a:accent3>
          <a:srgbClr val="FFFFFF"/>
        </a:accent3>
        <a:accent4>
          <a:srgbClr val="000000"/>
        </a:accent4>
        <a:accent5>
          <a:srgbClr val="B1DBF4"/>
        </a:accent5>
        <a:accent6>
          <a:srgbClr val="D07702"/>
        </a:accent6>
        <a:hlink>
          <a:srgbClr val="339966"/>
        </a:hlink>
        <a:folHlink>
          <a:srgbClr val="7E88E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9426B"/>
        </a:dk1>
        <a:lt1>
          <a:srgbClr val="FFFFFF"/>
        </a:lt1>
        <a:dk2>
          <a:srgbClr val="008080"/>
        </a:dk2>
        <a:lt2>
          <a:srgbClr val="B2B2B2"/>
        </a:lt2>
        <a:accent1>
          <a:srgbClr val="35C9C2"/>
        </a:accent1>
        <a:accent2>
          <a:srgbClr val="398AC7"/>
        </a:accent2>
        <a:accent3>
          <a:srgbClr val="FFFFFF"/>
        </a:accent3>
        <a:accent4>
          <a:srgbClr val="14375A"/>
        </a:accent4>
        <a:accent5>
          <a:srgbClr val="AEE1DD"/>
        </a:accent5>
        <a:accent6>
          <a:srgbClr val="337DB4"/>
        </a:accent6>
        <a:hlink>
          <a:srgbClr val="8BBC00"/>
        </a:hlink>
        <a:folHlink>
          <a:srgbClr val="6D50C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25095D"/>
        </a:dk1>
        <a:lt1>
          <a:srgbClr val="FFFFFF"/>
        </a:lt1>
        <a:dk2>
          <a:srgbClr val="235752"/>
        </a:dk2>
        <a:lt2>
          <a:srgbClr val="B2B2B2"/>
        </a:lt2>
        <a:accent1>
          <a:srgbClr val="DAAF34"/>
        </a:accent1>
        <a:accent2>
          <a:srgbClr val="6F9A3C"/>
        </a:accent2>
        <a:accent3>
          <a:srgbClr val="FFFFFF"/>
        </a:accent3>
        <a:accent4>
          <a:srgbClr val="1E064E"/>
        </a:accent4>
        <a:accent5>
          <a:srgbClr val="EAD4AE"/>
        </a:accent5>
        <a:accent6>
          <a:srgbClr val="648B35"/>
        </a:accent6>
        <a:hlink>
          <a:srgbClr val="8DAED9"/>
        </a:hlink>
        <a:folHlink>
          <a:srgbClr val="A8CB7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cdb2004123l</Template>
  <TotalTime>1353</TotalTime>
  <Words>2613</Words>
  <Application>Microsoft Office PowerPoint</Application>
  <PresentationFormat>On-screen Show (4:3)</PresentationFormat>
  <Paragraphs>366</Paragraphs>
  <Slides>25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8" baseType="lpstr">
      <vt:lpstr>Arial</vt:lpstr>
      <vt:lpstr>Arial-Rounded</vt:lpstr>
      <vt:lpstr>Calibri</vt:lpstr>
      <vt:lpstr>Cambria</vt:lpstr>
      <vt:lpstr>Cambria Math</vt:lpstr>
      <vt:lpstr>Chelthm</vt:lpstr>
      <vt:lpstr>Courier New</vt:lpstr>
      <vt:lpstr>Fujiyama</vt:lpstr>
      <vt:lpstr>Tahoma</vt:lpstr>
      <vt:lpstr>Times New Roman</vt:lpstr>
      <vt:lpstr>Verdana</vt:lpstr>
      <vt:lpstr>Wingdings</vt:lpstr>
      <vt:lpstr>cdb2004123l</vt:lpstr>
      <vt:lpstr>MÃ HÓA KHÓA CÔNG KHAI (Public Key Cryptography)</vt:lpstr>
      <vt:lpstr>Nội Dung</vt:lpstr>
      <vt:lpstr>I. Giới thiệu</vt:lpstr>
      <vt:lpstr>PowerPoint Presentation</vt:lpstr>
      <vt:lpstr>PowerPoint Presentation</vt:lpstr>
      <vt:lpstr>Ký hiệu</vt:lpstr>
      <vt:lpstr>II. Lý thuyết số</vt:lpstr>
      <vt:lpstr>PowerPoint Presentation</vt:lpstr>
      <vt:lpstr>Thuật toán Euclid tìm gcd (a, b)</vt:lpstr>
      <vt:lpstr>Thuật toán Euclid mở rộng tìm phần tử nghịch đảo</vt:lpstr>
      <vt:lpstr>III. Mã hóa RSA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IV. Ứng dụng của mã hóa khóa công khai</vt:lpstr>
      <vt:lpstr>IV. Ứng dụng của mã hóa khóa công khai</vt:lpstr>
      <vt:lpstr>IV. Ứng dụng của mã hóa khóa công khai</vt:lpstr>
      <vt:lpstr>IV. Ứng dụng của mã hóa khóa công khai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MinhVan</dc:creator>
  <cp:lastModifiedBy>Tran Minh Van</cp:lastModifiedBy>
  <cp:revision>66</cp:revision>
  <dcterms:created xsi:type="dcterms:W3CDTF">2012-08-23T07:09:20Z</dcterms:created>
  <dcterms:modified xsi:type="dcterms:W3CDTF">2025-03-19T01:49:03Z</dcterms:modified>
</cp:coreProperties>
</file>